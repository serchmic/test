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2025</c:v>
                </c:pt>
              </c:strCache>
            </c:strRef>
          </c:tx>
          <c:spPr>
            <a:solidFill>
              <a:srgbClr val="8E98A3"/>
            </a:solidFill>
            <a:effectLst/>
          </c:spPr>
          <c:invertIfNegative val="0"/>
          <c:dLbls>
            <c:numFmt formatCode="#,##0" sourceLinked="0"/>
            <c:txPr>
              <a:bodyPr/>
              <a:lstStyle/>
              <a:p>
                <a:pPr>
                  <a:defRPr b="0" i="0" strike="noStrike" sz="900" u="none">
                    <a:solidFill>
                      <a:srgbClr val="C9CED4"/>
                    </a:solidFill>
                    <a:latin typeface="Segoe UI"/>
                  </a:defRPr>
                </a:pPr>
              </a:p>
            </c:txPr>
            <c:showLegendKey val="0"/>
            <c:showVal val="1"/>
            <c:showCatName val="0"/>
            <c:showSerName val="0"/>
            <c:showPercent val="0"/>
            <c:showBubbleSize val="0"/>
            <c:showLeaderLines val="0"/>
          </c:dLbls>
          <c:cat>
            <c:multiLvlStrRef>
              <c:f>Sheet1!$A$2:$A$5</c:f>
              <c:multiLvlStrCache>
                <c:ptCount val="4"/>
                <c:lvl>
                  <c:pt idx="0">
                    <c:v>Strike / loitering</c:v>
                  </c:pt>
                  <c:pt idx="1">
                    <c:v>ISR</c:v>
                  </c:pt>
                  <c:pt idx="2">
                    <c:v>UGV</c:v>
                  </c:pt>
                  <c:pt idx="3">
                    <c:v>Interceptors</c:v>
                  </c:pt>
                </c:lvl>
              </c:multiLvlStrCache>
            </c:multiLvlStrRef>
          </c:cat>
          <c:val>
            <c:numRef>
              <c:f>Sheet1!$B$2:$B$5</c:f>
              <c:numCache>
                <c:formatCode>General</c:formatCode>
                <c:ptCount val="4"/>
                <c:pt idx="0">
                  <c:v>3000</c:v>
                </c:pt>
                <c:pt idx="1">
                  <c:v>3550</c:v>
                </c:pt>
                <c:pt idx="2">
                  <c:v>3300</c:v>
                </c:pt>
                <c:pt idx="3">
                  <c:v>0</c:v>
                </c:pt>
              </c:numCache>
            </c:numRef>
          </c:val>
        </c:ser>
        <c:ser>
          <c:idx val="1"/>
          <c:order val="1"/>
          <c:tx>
            <c:strRef>
              <c:f>Sheet1!$C$1</c:f>
              <c:strCache>
                <c:ptCount val="1"/>
                <c:pt idx="0">
                  <c:v>2030 (base)</c:v>
                </c:pt>
              </c:strCache>
            </c:strRef>
          </c:tx>
          <c:spPr>
            <a:solidFill>
              <a:srgbClr val="F05A55"/>
            </a:solidFill>
            <a:effectLst/>
          </c:spPr>
          <c:invertIfNegative val="0"/>
          <c:dLbls>
            <c:numFmt formatCode="#,##0" sourceLinked="0"/>
            <c:txPr>
              <a:bodyPr/>
              <a:lstStyle/>
              <a:p>
                <a:pPr>
                  <a:defRPr b="0" i="0" strike="noStrike" sz="900" u="none">
                    <a:solidFill>
                      <a:srgbClr val="C9CED4"/>
                    </a:solidFill>
                    <a:latin typeface="Segoe UI"/>
                  </a:defRPr>
                </a:pPr>
              </a:p>
            </c:txPr>
            <c:showLegendKey val="0"/>
            <c:showVal val="1"/>
            <c:showCatName val="0"/>
            <c:showSerName val="0"/>
            <c:showPercent val="0"/>
            <c:showBubbleSize val="0"/>
            <c:showLeaderLines val="0"/>
          </c:dLbls>
          <c:cat>
            <c:multiLvlStrRef>
              <c:f>Sheet1!$A$2:$A$5</c:f>
              <c:multiLvlStrCache>
                <c:ptCount val="4"/>
                <c:lvl>
                  <c:pt idx="0">
                    <c:v>Strike / loitering</c:v>
                  </c:pt>
                  <c:pt idx="1">
                    <c:v>ISR</c:v>
                  </c:pt>
                  <c:pt idx="2">
                    <c:v>UGV</c:v>
                  </c:pt>
                  <c:pt idx="3">
                    <c:v>Interceptors</c:v>
                  </c:pt>
                </c:lvl>
              </c:multiLvlStrCache>
            </c:multiLvlStrRef>
          </c:cat>
          <c:val>
            <c:numRef>
              <c:f>Sheet1!$C$2:$C$5</c:f>
              <c:numCache>
                <c:formatCode>General</c:formatCode>
                <c:ptCount val="4"/>
                <c:pt idx="0">
                  <c:v>21500</c:v>
                </c:pt>
                <c:pt idx="1">
                  <c:v>12000</c:v>
                </c:pt>
                <c:pt idx="2">
                  <c:v>8450</c:v>
                </c:pt>
                <c:pt idx="3">
                  <c:v>8000</c:v>
                </c:pt>
              </c:numCache>
            </c:numRef>
          </c:val>
        </c:ser>
        <c:dLbls>
          <c:numFmt formatCode="#,##0" sourceLinked="0"/>
          <c:txPr>
            <a:bodyPr/>
            <a:lstStyle/>
            <a:p>
              <a:pPr>
                <a:defRPr b="0" i="0" strike="noStrike" sz="900" u="none">
                  <a:solidFill>
                    <a:srgbClr val="C9CED4"/>
                  </a:solidFill>
                  <a:latin typeface="Segoe U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C9CED4"/>
                </a:solidFill>
                <a:latin typeface="Segoe U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C9CED4"/>
              </a:solidFill>
              <a:latin typeface="Segoe UI"/>
              <a:cs typeface="Segoe U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FIRST: "Before I start — what's the real end time? I'll cut this to fit." Then: "You asked for four things; the deck follows exactly those four, in about eight minutes."
One-line thesis: production is scaling, the radio is chosen once at design freeze, and I'd win it account by account.
Everything comes from public sources. It's a hypothesis until it meets your CRM.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They've read the CV — short and factual.
€3.5M (Airpelago): an Estonian data partner was leaving data collection with operations to finish. I built the numbers that made handing us that volume rational, took over their kilometres, rebuilt the client's inspection procedures, got the BVLOS permit, won the client's tender. [SAY THE SAME MONTH AS YOUR CV — CV says "within six months".] Contract value over [N] years; [who] signed.
90+ partners (Beyond Vision, 2023-25): integrated payloads, tethered power and third-party subsystems into our own UAVs and sold the combined system. NOT datalink selections — never say you chose radios.
If asked "you've never sold a radio?": "True. I've been the OEM a component vendor had to win — I know that integration costs the platform builder, that the engineer specifies and someone else signs, and that the socket closes at design freeze. Product depth is what the Sales Engineer partnership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Three facts, one takeaway.
€540M: Bundestag approval 25-Feb-2026, Helsing HX-2 and STARK Virtus; options beyond that.
6,000: DGA, 1,000 + 5,000 DELCO (Harmattan), Jun-2026.
5 EDPCI: EU defence ministers, 28-Sep-2026, incl. drones and counter-drones (Eastern Flank Watch context).
Trend line: autonomy raises the comms bar, not lowers it — more range, more nodes, more jamming.
If fibre comes up: fibre keeps the disposable short-range tier; RF mesh keeps reusable, multi-node, ISR, C2 and UGV. "How do you want the team to answer fibre? I'd rather use your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Units, not money.
2025: 9,850 platforms; 2030 base: 49,950; upside ~112k. The conservative line falls after 2027 on purpose: only ~13k of 2026 units are contracted, the rest is options and announced ramps.
Model: 20 accounts, 21 platforms, 53 evidence items (39 grade A — contracts, delivery rates).
Honest limit: German start-ups publish volumes and Southern primes don't — disclosure bias.
If "is 5× real?": "The signal isn't the multiple, it's where growth comes from. Tell me which account looks wrong and I'll show you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The slide that matters: four layers, never mixed.
~256k radio nodes over 2026–30; planning prices $450–1,500 by class (anchored on a public Mini OEM price) — to be replaced by your price book on day one. Ranking of accounts barely moves with price; it's driven by volume and socket status.
Open sockets = remove platforms locked by a single incumbent (e.g. Milrem, Quantum Vector, Parrot own radio, Tencore).
If "can we do $215M?": "No. That's the pool. The number that matters is the bottom one, and I can't build it without your installed base and pricing."
If "how do you go from addressable to forecast?": socket open + customer evidence at a stage + funded platform, then weighted by your stage benchmarks.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Positioning, not a product pitch — they know the product.
Independence: Silvus has been part of Motorola since Aug-2025. For a European OEM that's a supply-chain question: "is there a second source qualified?" Say it as the customer's question. Never FUD.
Captive: WB Group (Poland) and Skyfall build their own radios.
Supply resilience: US and European production sites under evaluation (Defense News, Jul-2026) — only if you have the source to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Method first — method says repeatable, a story alone says lucky.
Buying unit = a radio socket inside a platform, and who signs it.
Door 1: Airvolute (SK), Auterion (DE/CH), Evolve Dynamics (UK), LUXUAV (LU), UXV Technologies (DK) name Doodle on their own websites — NOT confirmed customers. Say "companies that name Doodle", never "your customers". UXV's public partnership proves the reference model.
Door 2: no published radio ≠ open socket. Could be chosen, NDA, or an incomplete website. Verify, don't assume.
Door 3: 15 companies (17 rows) name Silvus/StreamCaster publicly. Never say they "run" it.
Local reference = how the Portuguese grid deal happened.
Counts from my own database, 840 companies, verified 28-Sep-2026.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How Europe could be covered — not a claim on territory.
Design authority examples: STARK designs in Germany and builds in several countries; Tekever designs in Lisbon and builds in Swindon. Geography alone splits one account between several owners.
~68% German is where the contracted volume is TODAY, partly disclosure bias — never "Germany is the best market".
Poland: SAFE €43.7B, 89% to Polish industry, and WB Group builds its own radios.
If Andy: "so you want Germany?" → "No. I'm saying the account should follow the design authority. Who owns Germany is your call; I'd want the rule to be clear."
If "the role is only the South": "Then my job is to make the South worth more than it looks — France is the anchor; Iberia and Italy are build markets through the primes."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"Those are two different problems, so let me take them separately."
Data behind gate 5: 153 of 2,781 platform matches publish a band; I can date a buying trigger for 17 signals across only 10 of 840 companies. My first scoring engine counted a named competitor as urgency twice — I rebuilt it. "The why-now has to come from the call, not the crawl."
Partner types: stocking distributor vs demand-generating reseller vs engineering integrator. Resell vs white-label decides margin vs design-in.
Start with a bounded pilot: named accounts, deal registration, milestones. Exclusivity only if earned.
Only if asked: one candidate distributor lists a Russia office — settled before the first channel call.
Deal framing: MEDDPICC.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One slide, three gates.
Existing business: secure the base first — every current account gets a meeting and one question: what are you designing next? New business runs in parallel from week two.
4–6 evaluations "sized to your SE capacity, which I'd ask you for rather than invent" (you're hiring a Sales Engineer in Germany — ask how capacity is shared until then).
Design-in clock (my assumption, to calibrate with David): decision ~month 9, certification behind it, first production PO ~month 24. That's why day 90 is about decisions, not revenue.
Forecast = design-ins × platform volume × attach rate × your price, each input tagged known / assumed.
Year-one number: "With your installed base and price book I'd commit to a number in week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then stop and listen.
Growth → Amol. Ownership → Andy. Success → Andy.
Have your own answer if they turn it back: "My guess from outside is expansion inside platforms you're already on, plus a few new logos where production is ramping — but you see the baseline, I don't."
Southern Europe, if asked: "I'd be very comfortable owning Southern Europe and building it properly — France already has contracted volume. What I'd like to agree early is the rule for strategic accounts."
Follow-ups to keep: SE capacity in Europe; the typical evaluation-to-LRIP path in the US (to David); existing European customers and evaluations this role would inherit.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if asked "where do these numbers come from?" or "how did you do it in an hour?".
One-hour answer (same as September, more precise): "The first pass took about an hour — pulling European companies and matching platforms against your catalogue. That's discovery, not verification. Verifying bands, contacts and who names which radio took weeks, and I rebuilt the scoring once when I found it double-counting."
Mention ≠ customer. No published radio ≠ open socket. Band overlap ≠ validated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10"/>
        </a:solidFill>
      </p:bgPr>
    </p:bg>
    <p:spTree>
      <p:nvGrpSpPr>
        <p:cNvPr id="1" name=""/>
        <p:cNvGrpSpPr/>
        <p:nvPr/>
      </p:nvGrpSpPr>
      <p:grpSpPr>
        <a:xfrm>
          <a:off x="0" y="0"/>
          <a:ext cx="0" cy="0"/>
          <a:chOff x="0" y="0"/>
          <a:chExt cx="0" cy="0"/>
        </a:xfrm>
      </p:grpSpPr>
      <p:sp>
        <p:nvSpPr>
          <p:cNvPr id="2" name="Text 0"/>
          <p:cNvSpPr txBox="1"/>
          <p:nvPr/>
        </p:nvSpPr>
        <p:spPr>
          <a:xfrm>
            <a:off x="640080" y="384048"/>
            <a:ext cx="7863840" cy="228600"/>
          </a:xfrm>
          <a:prstGeom prst="rect">
            <a:avLst/>
          </a:prstGeom>
          <a:noFill/>
          <a:ln/>
        </p:spPr>
        <p:txBody>
          <a:bodyPr wrap="square" lIns="0" tIns="0" rIns="0" bIns="0" rtlCol="0" anchor="ctr"/>
          <a:lstStyle/>
          <a:p>
            <a:pPr indent="0" marL="0">
              <a:buNone/>
            </a:pPr>
            <a:r>
              <a:rPr lang="en-US" sz="950" spc="100" kern="0" dirty="0">
                <a:solidFill>
                  <a:srgbClr val="8E98A3"/>
                </a:solidFill>
                <a:latin typeface="Consolas" pitchFamily="34" charset="0"/>
                <a:ea typeface="Consolas" pitchFamily="34" charset="-122"/>
                <a:cs typeface="Consolas" pitchFamily="34" charset="-120"/>
              </a:rPr>
              <a:t>DOODLE LABS · DIRECTOR OF SALES, EUROPE · SERGIO BENAVIDEZ</a:t>
            </a:r>
            <a:endParaRPr lang="en-US" sz="950" dirty="0"/>
          </a:p>
        </p:txBody>
      </p:sp>
      <p:sp>
        <p:nvSpPr>
          <p:cNvPr id="3" name="Text 1"/>
          <p:cNvSpPr txBox="1"/>
          <p:nvPr/>
        </p:nvSpPr>
        <p:spPr>
          <a:xfrm>
            <a:off x="640080" y="914400"/>
            <a:ext cx="7863840" cy="1371600"/>
          </a:xfrm>
          <a:prstGeom prst="rect">
            <a:avLst/>
          </a:prstGeom>
          <a:noFill/>
          <a:ln/>
        </p:spPr>
        <p:txBody>
          <a:bodyPr wrap="square" lIns="0" tIns="0" rIns="0" bIns="0" rtlCol="0" anchor="t"/>
          <a:lstStyle/>
          <a:p>
            <a:pPr indent="0" marL="0">
              <a:buNone/>
            </a:pPr>
            <a:r>
              <a:rPr lang="en-US" sz="3600" b="1" dirty="0">
                <a:solidFill>
                  <a:srgbClr val="F2F4F6"/>
                </a:solidFill>
                <a:latin typeface="Segoe UI" pitchFamily="34" charset="0"/>
                <a:ea typeface="Segoe UI" pitchFamily="34" charset="-122"/>
                <a:cs typeface="Segoe UI" pitchFamily="34" charset="-120"/>
              </a:rPr>
              <a:t>How I would build</a:t>
            </a:r>
            <a:endParaRPr lang="en-US" sz="3600" dirty="0"/>
          </a:p>
          <a:p>
            <a:pPr indent="0" marL="0">
              <a:buNone/>
            </a:pPr>
            <a:r>
              <a:rPr lang="en-US" sz="3600" b="1" dirty="0">
                <a:solidFill>
                  <a:srgbClr val="F2F4F6"/>
                </a:solidFill>
                <a:latin typeface="Segoe UI" pitchFamily="34" charset="0"/>
                <a:ea typeface="Segoe UI" pitchFamily="34" charset="-122"/>
                <a:cs typeface="Segoe UI" pitchFamily="34" charset="-120"/>
              </a:rPr>
              <a:t>Doodle Labs Europe</a:t>
            </a:r>
            <a:endParaRPr lang="en-US" sz="3600" dirty="0"/>
          </a:p>
        </p:txBody>
      </p:sp>
      <p:sp>
        <p:nvSpPr>
          <p:cNvPr id="4" name="Text 2"/>
          <p:cNvSpPr txBox="1"/>
          <p:nvPr/>
        </p:nvSpPr>
        <p:spPr>
          <a:xfrm>
            <a:off x="640080" y="2377440"/>
            <a:ext cx="6583680" cy="685800"/>
          </a:xfrm>
          <a:prstGeom prst="rect">
            <a:avLst/>
          </a:prstGeom>
          <a:noFill/>
          <a:ln/>
        </p:spPr>
        <p:txBody>
          <a:bodyPr wrap="square" lIns="0" tIns="0" rIns="0" bIns="0" rtlCol="0" anchor="t"/>
          <a:lstStyle/>
          <a:p>
            <a:pPr indent="0" marL="0">
              <a:buNone/>
            </a:pPr>
            <a:r>
              <a:rPr lang="en-US" sz="1400" dirty="0">
                <a:solidFill>
                  <a:srgbClr val="C9CED4"/>
                </a:solidFill>
                <a:latin typeface="Segoe UI" pitchFamily="34" charset="0"/>
                <a:ea typeface="Segoe UI" pitchFamily="34" charset="-122"/>
                <a:cs typeface="Segoe UI" pitchFamily="34" charset="-120"/>
              </a:rPr>
              <a:t>Europe's unmanned production is scaling. The radio is chosen once, at design freeze. I'd win it account by account.</a:t>
            </a:r>
            <a:endParaRPr lang="en-US" sz="1400" dirty="0"/>
          </a:p>
        </p:txBody>
      </p:sp>
      <p:sp>
        <p:nvSpPr>
          <p:cNvPr id="5" name="Text 3"/>
          <p:cNvSpPr txBox="1"/>
          <p:nvPr/>
        </p:nvSpPr>
        <p:spPr>
          <a:xfrm>
            <a:off x="640080" y="3520440"/>
            <a:ext cx="320040" cy="320040"/>
          </a:xfrm>
          <a:prstGeom prst="rect">
            <a:avLst/>
          </a:prstGeom>
          <a:noFill/>
          <a:ln/>
        </p:spPr>
        <p:txBody>
          <a:bodyPr wrap="square" lIns="0" tIns="0" rIns="0" bIns="0" rtlCol="0" anchor="ctr"/>
          <a:lstStyle/>
          <a:p>
            <a:pPr indent="0" marL="0">
              <a:buNone/>
            </a:pPr>
            <a:r>
              <a:rPr lang="en-US" sz="1600" b="1" dirty="0">
                <a:solidFill>
                  <a:srgbClr val="F05A55"/>
                </a:solidFill>
                <a:latin typeface="Segoe UI" pitchFamily="34" charset="0"/>
                <a:ea typeface="Segoe UI" pitchFamily="34" charset="-122"/>
                <a:cs typeface="Segoe UI" pitchFamily="34" charset="-120"/>
              </a:rPr>
              <a:t>1</a:t>
            </a:r>
            <a:endParaRPr lang="en-US" sz="1600" dirty="0"/>
          </a:p>
        </p:txBody>
      </p:sp>
      <p:sp>
        <p:nvSpPr>
          <p:cNvPr id="6" name="Text 4"/>
          <p:cNvSpPr txBox="1"/>
          <p:nvPr/>
        </p:nvSpPr>
        <p:spPr>
          <a:xfrm>
            <a:off x="960120" y="3520440"/>
            <a:ext cx="1600200" cy="320040"/>
          </a:xfrm>
          <a:prstGeom prst="rect">
            <a:avLst/>
          </a:prstGeom>
          <a:noFill/>
          <a:ln/>
        </p:spPr>
        <p:txBody>
          <a:bodyPr wrap="square" lIns="0" tIns="0" rIns="0" bIns="0" rtlCol="0" anchor="ctr"/>
          <a:lstStyle/>
          <a:p>
            <a:pPr indent="0" marL="0">
              <a:buNone/>
            </a:pPr>
            <a:r>
              <a:rPr lang="en-US" sz="1200" dirty="0">
                <a:solidFill>
                  <a:srgbClr val="F2F4F6"/>
                </a:solidFill>
                <a:latin typeface="Segoe UI" pitchFamily="34" charset="0"/>
                <a:ea typeface="Segoe UI" pitchFamily="34" charset="-122"/>
                <a:cs typeface="Segoe UI" pitchFamily="34" charset="-120"/>
              </a:rPr>
              <a:t>UxV market &amp; fit</a:t>
            </a:r>
            <a:endParaRPr lang="en-US" sz="1200" dirty="0"/>
          </a:p>
        </p:txBody>
      </p:sp>
      <p:sp>
        <p:nvSpPr>
          <p:cNvPr id="7" name="Text 5"/>
          <p:cNvSpPr txBox="1"/>
          <p:nvPr/>
        </p:nvSpPr>
        <p:spPr>
          <a:xfrm>
            <a:off x="2606040" y="3520440"/>
            <a:ext cx="320040" cy="320040"/>
          </a:xfrm>
          <a:prstGeom prst="rect">
            <a:avLst/>
          </a:prstGeom>
          <a:noFill/>
          <a:ln/>
        </p:spPr>
        <p:txBody>
          <a:bodyPr wrap="square" lIns="0" tIns="0" rIns="0" bIns="0" rtlCol="0" anchor="ctr"/>
          <a:lstStyle/>
          <a:p>
            <a:pPr indent="0" marL="0">
              <a:buNone/>
            </a:pPr>
            <a:r>
              <a:rPr lang="en-US" sz="1600" b="1" dirty="0">
                <a:solidFill>
                  <a:srgbClr val="F05A55"/>
                </a:solidFill>
                <a:latin typeface="Segoe UI" pitchFamily="34" charset="0"/>
                <a:ea typeface="Segoe UI" pitchFamily="34" charset="-122"/>
                <a:cs typeface="Segoe UI" pitchFamily="34" charset="-120"/>
              </a:rPr>
              <a:t>2</a:t>
            </a:r>
            <a:endParaRPr lang="en-US" sz="1600" dirty="0"/>
          </a:p>
        </p:txBody>
      </p:sp>
      <p:sp>
        <p:nvSpPr>
          <p:cNvPr id="8" name="Text 6"/>
          <p:cNvSpPr txBox="1"/>
          <p:nvPr/>
        </p:nvSpPr>
        <p:spPr>
          <a:xfrm>
            <a:off x="2926080" y="3520440"/>
            <a:ext cx="1600200" cy="320040"/>
          </a:xfrm>
          <a:prstGeom prst="rect">
            <a:avLst/>
          </a:prstGeom>
          <a:noFill/>
          <a:ln/>
        </p:spPr>
        <p:txBody>
          <a:bodyPr wrap="square" lIns="0" tIns="0" rIns="0" bIns="0" rtlCol="0" anchor="ctr"/>
          <a:lstStyle/>
          <a:p>
            <a:pPr indent="0" marL="0">
              <a:buNone/>
            </a:pPr>
            <a:r>
              <a:rPr lang="en-US" sz="1200" dirty="0">
                <a:solidFill>
                  <a:srgbClr val="F2F4F6"/>
                </a:solidFill>
                <a:latin typeface="Segoe UI" pitchFamily="34" charset="0"/>
                <a:ea typeface="Segoe UI" pitchFamily="34" charset="-122"/>
                <a:cs typeface="Segoe UI" pitchFamily="34" charset="-120"/>
              </a:rPr>
              <a:t>New territory</a:t>
            </a:r>
            <a:endParaRPr lang="en-US" sz="1200" dirty="0"/>
          </a:p>
        </p:txBody>
      </p:sp>
      <p:sp>
        <p:nvSpPr>
          <p:cNvPr id="9" name="Text 7"/>
          <p:cNvSpPr txBox="1"/>
          <p:nvPr/>
        </p:nvSpPr>
        <p:spPr>
          <a:xfrm>
            <a:off x="4572000" y="3520440"/>
            <a:ext cx="320040" cy="320040"/>
          </a:xfrm>
          <a:prstGeom prst="rect">
            <a:avLst/>
          </a:prstGeom>
          <a:noFill/>
          <a:ln/>
        </p:spPr>
        <p:txBody>
          <a:bodyPr wrap="square" lIns="0" tIns="0" rIns="0" bIns="0" rtlCol="0" anchor="ctr"/>
          <a:lstStyle/>
          <a:p>
            <a:pPr indent="0" marL="0">
              <a:buNone/>
            </a:pPr>
            <a:r>
              <a:rPr lang="en-US" sz="1600" b="1" dirty="0">
                <a:solidFill>
                  <a:srgbClr val="F05A55"/>
                </a:solidFill>
                <a:latin typeface="Segoe UI" pitchFamily="34" charset="0"/>
                <a:ea typeface="Segoe UI" pitchFamily="34" charset="-122"/>
                <a:cs typeface="Segoe UI" pitchFamily="34" charset="-120"/>
              </a:rPr>
              <a:t>3</a:t>
            </a:r>
            <a:endParaRPr lang="en-US" sz="1600" dirty="0"/>
          </a:p>
        </p:txBody>
      </p:sp>
      <p:sp>
        <p:nvSpPr>
          <p:cNvPr id="10" name="Text 8"/>
          <p:cNvSpPr txBox="1"/>
          <p:nvPr/>
        </p:nvSpPr>
        <p:spPr>
          <a:xfrm>
            <a:off x="4892040" y="3520440"/>
            <a:ext cx="1600200" cy="320040"/>
          </a:xfrm>
          <a:prstGeom prst="rect">
            <a:avLst/>
          </a:prstGeom>
          <a:noFill/>
          <a:ln/>
        </p:spPr>
        <p:txBody>
          <a:bodyPr wrap="square" lIns="0" tIns="0" rIns="0" bIns="0" rtlCol="0" anchor="ctr"/>
          <a:lstStyle/>
          <a:p>
            <a:pPr indent="0" marL="0">
              <a:buNone/>
            </a:pPr>
            <a:r>
              <a:rPr lang="en-US" sz="1200" dirty="0">
                <a:solidFill>
                  <a:srgbClr val="F2F4F6"/>
                </a:solidFill>
                <a:latin typeface="Segoe UI" pitchFamily="34" charset="0"/>
                <a:ea typeface="Segoe UI" pitchFamily="34" charset="-122"/>
                <a:cs typeface="Segoe UI" pitchFamily="34" charset="-120"/>
              </a:rPr>
              <a:t>Leads &amp; resellers</a:t>
            </a:r>
            <a:endParaRPr lang="en-US" sz="1200" dirty="0"/>
          </a:p>
        </p:txBody>
      </p:sp>
      <p:sp>
        <p:nvSpPr>
          <p:cNvPr id="11" name="Text 9"/>
          <p:cNvSpPr txBox="1"/>
          <p:nvPr/>
        </p:nvSpPr>
        <p:spPr>
          <a:xfrm>
            <a:off x="6537960" y="3520440"/>
            <a:ext cx="320040" cy="320040"/>
          </a:xfrm>
          <a:prstGeom prst="rect">
            <a:avLst/>
          </a:prstGeom>
          <a:noFill/>
          <a:ln/>
        </p:spPr>
        <p:txBody>
          <a:bodyPr wrap="square" lIns="0" tIns="0" rIns="0" bIns="0" rtlCol="0" anchor="ctr"/>
          <a:lstStyle/>
          <a:p>
            <a:pPr indent="0" marL="0">
              <a:buNone/>
            </a:pPr>
            <a:r>
              <a:rPr lang="en-US" sz="1600" b="1" dirty="0">
                <a:solidFill>
                  <a:srgbClr val="F05A55"/>
                </a:solidFill>
                <a:latin typeface="Segoe UI" pitchFamily="34" charset="0"/>
                <a:ea typeface="Segoe UI" pitchFamily="34" charset="-122"/>
                <a:cs typeface="Segoe UI" pitchFamily="34" charset="-120"/>
              </a:rPr>
              <a:t>4</a:t>
            </a:r>
            <a:endParaRPr lang="en-US" sz="1600" dirty="0"/>
          </a:p>
        </p:txBody>
      </p:sp>
      <p:sp>
        <p:nvSpPr>
          <p:cNvPr id="12" name="Text 10"/>
          <p:cNvSpPr txBox="1"/>
          <p:nvPr/>
        </p:nvSpPr>
        <p:spPr>
          <a:xfrm>
            <a:off x="6858000" y="3520440"/>
            <a:ext cx="1600200" cy="320040"/>
          </a:xfrm>
          <a:prstGeom prst="rect">
            <a:avLst/>
          </a:prstGeom>
          <a:noFill/>
          <a:ln/>
        </p:spPr>
        <p:txBody>
          <a:bodyPr wrap="square" lIns="0" tIns="0" rIns="0" bIns="0" rtlCol="0" anchor="ctr"/>
          <a:lstStyle/>
          <a:p>
            <a:pPr indent="0" marL="0">
              <a:buNone/>
            </a:pPr>
            <a:r>
              <a:rPr lang="en-US" sz="1200" dirty="0">
                <a:solidFill>
                  <a:srgbClr val="F2F4F6"/>
                </a:solidFill>
                <a:latin typeface="Segoe UI" pitchFamily="34" charset="0"/>
                <a:ea typeface="Segoe UI" pitchFamily="34" charset="-122"/>
                <a:cs typeface="Segoe UI" pitchFamily="34" charset="-120"/>
              </a:rPr>
              <a:t>30-60-90</a:t>
            </a:r>
            <a:endParaRPr lang="en-US" sz="1200" dirty="0"/>
          </a:p>
        </p:txBody>
      </p:sp>
      <p:sp>
        <p:nvSpPr>
          <p:cNvPr id="13" name="Text 11"/>
          <p:cNvSpPr txBox="1"/>
          <p:nvPr/>
        </p:nvSpPr>
        <p:spPr>
          <a:xfrm>
            <a:off x="640080" y="4590288"/>
            <a:ext cx="7863840" cy="256032"/>
          </a:xfrm>
          <a:prstGeom prst="rect">
            <a:avLst/>
          </a:prstGeom>
          <a:noFill/>
          <a:ln/>
        </p:spPr>
        <p:txBody>
          <a:bodyPr wrap="square" lIns="0" tIns="0" rIns="0" bIns="0" rtlCol="0" anchor="ctr"/>
          <a:lstStyle/>
          <a:p>
            <a:pPr indent="0" marL="0">
              <a:buNone/>
            </a:pPr>
            <a:r>
              <a:rPr lang="en-US" sz="950" dirty="0">
                <a:solidFill>
                  <a:srgbClr val="8E98A3"/>
                </a:solidFill>
                <a:latin typeface="Segoe UI" pitchFamily="34" charset="0"/>
                <a:ea typeface="Segoe UI" pitchFamily="34" charset="-122"/>
                <a:cs typeface="Segoe UI" pitchFamily="34" charset="-120"/>
              </a:rPr>
              <a:t>Outside-in view from public sources — a hypothesis to test against your CRM, not your forecast.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10"/>
        </a:solidFill>
      </p:bgPr>
    </p:bg>
    <p:spTree>
      <p:nvGrpSpPr>
        <p:cNvPr id="1" name=""/>
        <p:cNvGrpSpPr/>
        <p:nvPr/>
      </p:nvGrpSpPr>
      <p:grpSpPr>
        <a:xfrm>
          <a:off x="0" y="0"/>
          <a:ext cx="0" cy="0"/>
          <a:chOff x="0" y="0"/>
          <a:chExt cx="0" cy="0"/>
        </a:xfrm>
      </p:grpSpPr>
      <p:sp>
        <p:nvSpPr>
          <p:cNvPr id="2" name="Text 0"/>
          <p:cNvSpPr txBox="1"/>
          <p:nvPr/>
        </p:nvSpPr>
        <p:spPr>
          <a:xfrm>
            <a:off x="640080" y="384048"/>
            <a:ext cx="7863840" cy="228600"/>
          </a:xfrm>
          <a:prstGeom prst="rect">
            <a:avLst/>
          </a:prstGeom>
          <a:noFill/>
          <a:ln/>
        </p:spPr>
        <p:txBody>
          <a:bodyPr wrap="square" lIns="0" tIns="0" rIns="0" bIns="0" rtlCol="0" anchor="ctr"/>
          <a:lstStyle/>
          <a:p>
            <a:pPr indent="0" marL="0">
              <a:buNone/>
            </a:pPr>
            <a:r>
              <a:rPr lang="en-US" sz="950" spc="100" kern="0" dirty="0">
                <a:solidFill>
                  <a:srgbClr val="8E98A3"/>
                </a:solidFill>
                <a:latin typeface="Consolas" pitchFamily="34" charset="0"/>
                <a:ea typeface="Consolas" pitchFamily="34" charset="-122"/>
                <a:cs typeface="Consolas" pitchFamily="34" charset="-120"/>
              </a:rPr>
              <a:t>WHO IS PRESENTING</a:t>
            </a:r>
            <a:endParaRPr lang="en-US" sz="950" dirty="0"/>
          </a:p>
        </p:txBody>
      </p:sp>
      <p:sp>
        <p:nvSpPr>
          <p:cNvPr id="3" name="Text 1"/>
          <p:cNvSpPr txBox="1"/>
          <p:nvPr/>
        </p:nvSpPr>
        <p:spPr>
          <a:xfrm>
            <a:off x="640080" y="658368"/>
            <a:ext cx="7863840" cy="566928"/>
          </a:xfrm>
          <a:prstGeom prst="rect">
            <a:avLst/>
          </a:prstGeom>
          <a:noFill/>
          <a:ln/>
        </p:spPr>
        <p:txBody>
          <a:bodyPr wrap="square" lIns="0" tIns="0" rIns="0" bIns="0" rtlCol="0" anchor="t"/>
          <a:lstStyle/>
          <a:p>
            <a:pPr indent="0" marL="0">
              <a:buNone/>
            </a:pPr>
            <a:r>
              <a:rPr lang="en-US" sz="2200" b="1" dirty="0">
                <a:solidFill>
                  <a:srgbClr val="F2F4F6"/>
                </a:solidFill>
                <a:latin typeface="Segoe UI" pitchFamily="34" charset="0"/>
                <a:ea typeface="Segoe UI" pitchFamily="34" charset="-122"/>
                <a:cs typeface="Segoe UI" pitchFamily="34" charset="-120"/>
              </a:rPr>
              <a:t>I've sat on the OEM side of this sale</a:t>
            </a:r>
            <a:endParaRPr lang="en-US" sz="2200" dirty="0"/>
          </a:p>
        </p:txBody>
      </p:sp>
      <p:sp>
        <p:nvSpPr>
          <p:cNvPr id="4" name="Text 2"/>
          <p:cNvSpPr txBox="1"/>
          <p:nvPr/>
        </p:nvSpPr>
        <p:spPr>
          <a:xfrm>
            <a:off x="640080" y="4590288"/>
            <a:ext cx="7863840" cy="256032"/>
          </a:xfrm>
          <a:prstGeom prst="rect">
            <a:avLst/>
          </a:prstGeom>
          <a:noFill/>
          <a:ln/>
        </p:spPr>
        <p:txBody>
          <a:bodyPr wrap="square" lIns="0" tIns="0" rIns="0" bIns="0" rtlCol="0" anchor="ctr"/>
          <a:lstStyle/>
          <a:p>
            <a:pPr indent="0" marL="0">
              <a:buNone/>
            </a:pPr>
            <a:r>
              <a:rPr lang="en-US" sz="950" dirty="0">
                <a:solidFill>
                  <a:srgbClr val="F05A55"/>
                </a:solidFill>
                <a:latin typeface="Segoe UI" pitchFamily="34" charset="0"/>
                <a:ea typeface="Segoe UI" pitchFamily="34" charset="-122"/>
                <a:cs typeface="Segoe UI" pitchFamily="34" charset="-120"/>
              </a:rPr>
              <a:t>The gap, stated upfront: I have not sold a radio as the component vendor. I know the seat your customers sit in.</a:t>
            </a:r>
            <a:endParaRPr lang="en-US" sz="950" dirty="0"/>
          </a:p>
        </p:txBody>
      </p:sp>
      <p:sp>
        <p:nvSpPr>
          <p:cNvPr id="5" name="Text 3"/>
          <p:cNvSpPr txBox="1"/>
          <p:nvPr/>
        </p:nvSpPr>
        <p:spPr>
          <a:xfrm>
            <a:off x="640080" y="1600200"/>
            <a:ext cx="2377440" cy="685800"/>
          </a:xfrm>
          <a:prstGeom prst="rect">
            <a:avLst/>
          </a:prstGeom>
          <a:noFill/>
          <a:ln/>
        </p:spPr>
        <p:txBody>
          <a:bodyPr wrap="square" lIns="0" tIns="0" rIns="0" bIns="0" rtlCol="0" anchor="ctr"/>
          <a:lstStyle/>
          <a:p>
            <a:pPr indent="0" marL="0">
              <a:buNone/>
            </a:pPr>
            <a:r>
              <a:rPr lang="en-US" sz="4000" b="1" dirty="0">
                <a:solidFill>
                  <a:srgbClr val="F05A55"/>
                </a:solidFill>
                <a:latin typeface="Segoe UI" pitchFamily="34" charset="0"/>
                <a:ea typeface="Segoe UI" pitchFamily="34" charset="-122"/>
                <a:cs typeface="Segoe UI" pitchFamily="34" charset="-120"/>
              </a:rPr>
              <a:t>€3.5M</a:t>
            </a:r>
            <a:endParaRPr lang="en-US" sz="4000" dirty="0"/>
          </a:p>
        </p:txBody>
      </p:sp>
      <p:sp>
        <p:nvSpPr>
          <p:cNvPr id="6" name="Text 4"/>
          <p:cNvSpPr txBox="1"/>
          <p:nvPr/>
        </p:nvSpPr>
        <p:spPr>
          <a:xfrm>
            <a:off x="640080" y="2331720"/>
            <a:ext cx="2377440" cy="822960"/>
          </a:xfrm>
          <a:prstGeom prst="rect">
            <a:avLst/>
          </a:prstGeom>
          <a:noFill/>
          <a:ln/>
        </p:spPr>
        <p:txBody>
          <a:bodyPr wrap="square" lIns="0" tIns="0" rIns="0" bIns="0" rtlCol="0" anchor="t"/>
          <a:lstStyle/>
          <a:p>
            <a:pPr indent="0" marL="0">
              <a:buNone/>
            </a:pPr>
            <a:r>
              <a:rPr lang="en-US" sz="1200" dirty="0">
                <a:solidFill>
                  <a:srgbClr val="C9CED4"/>
                </a:solidFill>
                <a:latin typeface="Segoe UI" pitchFamily="34" charset="0"/>
                <a:ea typeface="Segoe UI" pitchFamily="34" charset="-122"/>
                <a:cs typeface="Segoe UI" pitchFamily="34" charset="-120"/>
              </a:rPr>
              <a:t>Multi-year programme with Portugal's grid operator. Opened from zero, through a partner who held the relationship.</a:t>
            </a:r>
            <a:endParaRPr lang="en-US" sz="1200" dirty="0"/>
          </a:p>
        </p:txBody>
      </p:sp>
      <p:sp>
        <p:nvSpPr>
          <p:cNvPr id="7" name="Text 5"/>
          <p:cNvSpPr txBox="1"/>
          <p:nvPr/>
        </p:nvSpPr>
        <p:spPr>
          <a:xfrm>
            <a:off x="3337560" y="1600200"/>
            <a:ext cx="2377440" cy="685800"/>
          </a:xfrm>
          <a:prstGeom prst="rect">
            <a:avLst/>
          </a:prstGeom>
          <a:noFill/>
          <a:ln/>
        </p:spPr>
        <p:txBody>
          <a:bodyPr wrap="square" lIns="0" tIns="0" rIns="0" bIns="0" rtlCol="0" anchor="ctr"/>
          <a:lstStyle/>
          <a:p>
            <a:pPr indent="0" marL="0">
              <a:buNone/>
            </a:pPr>
            <a:r>
              <a:rPr lang="en-US" sz="4000" b="1" dirty="0">
                <a:solidFill>
                  <a:srgbClr val="F2F4F6"/>
                </a:solidFill>
                <a:latin typeface="Segoe UI" pitchFamily="34" charset="0"/>
                <a:ea typeface="Segoe UI" pitchFamily="34" charset="-122"/>
                <a:cs typeface="Segoe UI" pitchFamily="34" charset="-120"/>
              </a:rPr>
              <a:t>2</a:t>
            </a:r>
            <a:endParaRPr lang="en-US" sz="4000" dirty="0"/>
          </a:p>
        </p:txBody>
      </p:sp>
      <p:sp>
        <p:nvSpPr>
          <p:cNvPr id="8" name="Text 6"/>
          <p:cNvSpPr txBox="1"/>
          <p:nvPr/>
        </p:nvSpPr>
        <p:spPr>
          <a:xfrm>
            <a:off x="3337560" y="2331720"/>
            <a:ext cx="2377440" cy="822960"/>
          </a:xfrm>
          <a:prstGeom prst="rect">
            <a:avLst/>
          </a:prstGeom>
          <a:noFill/>
          <a:ln/>
        </p:spPr>
        <p:txBody>
          <a:bodyPr wrap="square" lIns="0" tIns="0" rIns="0" bIns="0" rtlCol="0" anchor="t"/>
          <a:lstStyle/>
          <a:p>
            <a:pPr indent="0" marL="0">
              <a:buNone/>
            </a:pPr>
            <a:r>
              <a:rPr lang="en-US" sz="1200" dirty="0">
                <a:solidFill>
                  <a:srgbClr val="C9CED4"/>
                </a:solidFill>
                <a:latin typeface="Segoe UI" pitchFamily="34" charset="0"/>
                <a:ea typeface="Segoe UI" pitchFamily="34" charset="-122"/>
                <a:cs typeface="Segoe UI" pitchFamily="34" charset="-120"/>
              </a:rPr>
              <a:t>Regions opened from zero — Iberia and LATAM — as the sole commercial resource, including a BVLOS permit over critical infrastructure.</a:t>
            </a:r>
            <a:endParaRPr lang="en-US" sz="1200" dirty="0"/>
          </a:p>
        </p:txBody>
      </p:sp>
      <p:sp>
        <p:nvSpPr>
          <p:cNvPr id="9" name="Text 7"/>
          <p:cNvSpPr txBox="1"/>
          <p:nvPr/>
        </p:nvSpPr>
        <p:spPr>
          <a:xfrm>
            <a:off x="6035040" y="1600200"/>
            <a:ext cx="2377440" cy="685800"/>
          </a:xfrm>
          <a:prstGeom prst="rect">
            <a:avLst/>
          </a:prstGeom>
          <a:noFill/>
          <a:ln/>
        </p:spPr>
        <p:txBody>
          <a:bodyPr wrap="square" lIns="0" tIns="0" rIns="0" bIns="0" rtlCol="0" anchor="ctr"/>
          <a:lstStyle/>
          <a:p>
            <a:pPr indent="0" marL="0">
              <a:buNone/>
            </a:pPr>
            <a:r>
              <a:rPr lang="en-US" sz="4000" b="1" dirty="0">
                <a:solidFill>
                  <a:srgbClr val="F2F4F6"/>
                </a:solidFill>
                <a:latin typeface="Segoe UI" pitchFamily="34" charset="0"/>
                <a:ea typeface="Segoe UI" pitchFamily="34" charset="-122"/>
                <a:cs typeface="Segoe UI" pitchFamily="34" charset="-120"/>
              </a:rPr>
              <a:t>90+</a:t>
            </a:r>
            <a:endParaRPr lang="en-US" sz="4000" dirty="0"/>
          </a:p>
        </p:txBody>
      </p:sp>
      <p:sp>
        <p:nvSpPr>
          <p:cNvPr id="10" name="Text 8"/>
          <p:cNvSpPr txBox="1"/>
          <p:nvPr/>
        </p:nvSpPr>
        <p:spPr>
          <a:xfrm>
            <a:off x="6035040" y="2331720"/>
            <a:ext cx="2377440" cy="822960"/>
          </a:xfrm>
          <a:prstGeom prst="rect">
            <a:avLst/>
          </a:prstGeom>
          <a:noFill/>
          <a:ln/>
        </p:spPr>
        <p:txBody>
          <a:bodyPr wrap="square" lIns="0" tIns="0" rIns="0" bIns="0" rtlCol="0" anchor="t"/>
          <a:lstStyle/>
          <a:p>
            <a:pPr indent="0" marL="0">
              <a:buNone/>
            </a:pPr>
            <a:r>
              <a:rPr lang="en-US" sz="1200" dirty="0">
                <a:solidFill>
                  <a:srgbClr val="C9CED4"/>
                </a:solidFill>
                <a:latin typeface="Segoe UI" pitchFamily="34" charset="0"/>
                <a:ea typeface="Segoe UI" pitchFamily="34" charset="-122"/>
                <a:cs typeface="Segoe UI" pitchFamily="34" charset="-120"/>
              </a:rPr>
              <a:t>Distribution and integration partners built at an industrial UAV OEM, where I integrated third-party subsystems.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10"/>
        </a:solidFill>
      </p:bgPr>
    </p:bg>
    <p:spTree>
      <p:nvGrpSpPr>
        <p:cNvPr id="1" name=""/>
        <p:cNvGrpSpPr/>
        <p:nvPr/>
      </p:nvGrpSpPr>
      <p:grpSpPr>
        <a:xfrm>
          <a:off x="0" y="0"/>
          <a:ext cx="0" cy="0"/>
          <a:chOff x="0" y="0"/>
          <a:chExt cx="0" cy="0"/>
        </a:xfrm>
      </p:grpSpPr>
      <p:sp>
        <p:nvSpPr>
          <p:cNvPr id="2" name="Text 0"/>
          <p:cNvSpPr txBox="1"/>
          <p:nvPr/>
        </p:nvSpPr>
        <p:spPr>
          <a:xfrm>
            <a:off x="640080" y="384048"/>
            <a:ext cx="7863840" cy="228600"/>
          </a:xfrm>
          <a:prstGeom prst="rect">
            <a:avLst/>
          </a:prstGeom>
          <a:noFill/>
          <a:ln/>
        </p:spPr>
        <p:txBody>
          <a:bodyPr wrap="square" lIns="0" tIns="0" rIns="0" bIns="0" rtlCol="0" anchor="ctr"/>
          <a:lstStyle/>
          <a:p>
            <a:pPr indent="0" marL="0">
              <a:buNone/>
            </a:pPr>
            <a:r>
              <a:rPr lang="en-US" sz="950" spc="100" kern="0" dirty="0">
                <a:solidFill>
                  <a:srgbClr val="8E98A3"/>
                </a:solidFill>
                <a:latin typeface="Consolas" pitchFamily="34" charset="0"/>
                <a:ea typeface="Consolas" pitchFamily="34" charset="-122"/>
                <a:cs typeface="Consolas" pitchFamily="34" charset="-120"/>
              </a:rPr>
              <a:t>1 · UXV MARKET</a:t>
            </a:r>
            <a:endParaRPr lang="en-US" sz="950" dirty="0"/>
          </a:p>
        </p:txBody>
      </p:sp>
      <p:sp>
        <p:nvSpPr>
          <p:cNvPr id="3" name="Text 1"/>
          <p:cNvSpPr txBox="1"/>
          <p:nvPr/>
        </p:nvSpPr>
        <p:spPr>
          <a:xfrm>
            <a:off x="640080" y="658368"/>
            <a:ext cx="7863840" cy="566928"/>
          </a:xfrm>
          <a:prstGeom prst="rect">
            <a:avLst/>
          </a:prstGeom>
          <a:noFill/>
          <a:ln/>
        </p:spPr>
        <p:txBody>
          <a:bodyPr wrap="square" lIns="0" tIns="0" rIns="0" bIns="0" rtlCol="0" anchor="t"/>
          <a:lstStyle/>
          <a:p>
            <a:pPr indent="0" marL="0">
              <a:buNone/>
            </a:pPr>
            <a:r>
              <a:rPr lang="en-US" sz="2200" b="1" dirty="0">
                <a:solidFill>
                  <a:srgbClr val="F2F4F6"/>
                </a:solidFill>
                <a:latin typeface="Segoe UI" pitchFamily="34" charset="0"/>
                <a:ea typeface="Segoe UI" pitchFamily="34" charset="-122"/>
                <a:cs typeface="Segoe UI" pitchFamily="34" charset="-120"/>
              </a:rPr>
              <a:t>Europe is buying unmanned systems at scale — and the money lands with the OEM</a:t>
            </a:r>
            <a:endParaRPr lang="en-US" sz="2200" dirty="0"/>
          </a:p>
        </p:txBody>
      </p:sp>
      <p:sp>
        <p:nvSpPr>
          <p:cNvPr id="4" name="Text 2"/>
          <p:cNvSpPr txBox="1"/>
          <p:nvPr/>
        </p:nvSpPr>
        <p:spPr>
          <a:xfrm>
            <a:off x="640080" y="4590288"/>
            <a:ext cx="7863840" cy="256032"/>
          </a:xfrm>
          <a:prstGeom prst="rect">
            <a:avLst/>
          </a:prstGeom>
          <a:noFill/>
          <a:ln/>
        </p:spPr>
        <p:txBody>
          <a:bodyPr wrap="square" lIns="0" tIns="0" rIns="0" bIns="0" rtlCol="0" anchor="ctr"/>
          <a:lstStyle/>
          <a:p>
            <a:pPr indent="0" marL="0">
              <a:buNone/>
            </a:pPr>
            <a:r>
              <a:rPr lang="en-US" sz="950" dirty="0">
                <a:solidFill>
                  <a:srgbClr val="F05A55"/>
                </a:solidFill>
                <a:latin typeface="Segoe UI" pitchFamily="34" charset="0"/>
                <a:ea typeface="Segoe UI" pitchFamily="34" charset="-122"/>
                <a:cs typeface="Segoe UI" pitchFamily="34" charset="-120"/>
              </a:rPr>
              <a:t>Budgets become platforms; every platform needs a link. I call the OEM, not the ministry.</a:t>
            </a:r>
            <a:endParaRPr lang="en-US" sz="950" dirty="0"/>
          </a:p>
        </p:txBody>
      </p:sp>
      <p:sp>
        <p:nvSpPr>
          <p:cNvPr id="5" name="Text 3"/>
          <p:cNvSpPr txBox="1"/>
          <p:nvPr/>
        </p:nvSpPr>
        <p:spPr>
          <a:xfrm>
            <a:off x="640080" y="1600200"/>
            <a:ext cx="2377440" cy="685800"/>
          </a:xfrm>
          <a:prstGeom prst="rect">
            <a:avLst/>
          </a:prstGeom>
          <a:noFill/>
          <a:ln/>
        </p:spPr>
        <p:txBody>
          <a:bodyPr wrap="square" lIns="0" tIns="0" rIns="0" bIns="0" rtlCol="0" anchor="ctr"/>
          <a:lstStyle/>
          <a:p>
            <a:pPr indent="0" marL="0">
              <a:buNone/>
            </a:pPr>
            <a:r>
              <a:rPr lang="en-US" sz="4000" b="1" dirty="0">
                <a:solidFill>
                  <a:srgbClr val="F2F4F6"/>
                </a:solidFill>
                <a:latin typeface="Segoe UI" pitchFamily="34" charset="0"/>
                <a:ea typeface="Segoe UI" pitchFamily="34" charset="-122"/>
                <a:cs typeface="Segoe UI" pitchFamily="34" charset="-120"/>
              </a:rPr>
              <a:t>€540M</a:t>
            </a:r>
            <a:endParaRPr lang="en-US" sz="4000" dirty="0"/>
          </a:p>
        </p:txBody>
      </p:sp>
      <p:sp>
        <p:nvSpPr>
          <p:cNvPr id="6" name="Text 4"/>
          <p:cNvSpPr txBox="1"/>
          <p:nvPr/>
        </p:nvSpPr>
        <p:spPr>
          <a:xfrm>
            <a:off x="640080" y="2331720"/>
            <a:ext cx="2377440" cy="822960"/>
          </a:xfrm>
          <a:prstGeom prst="rect">
            <a:avLst/>
          </a:prstGeom>
          <a:noFill/>
          <a:ln/>
        </p:spPr>
        <p:txBody>
          <a:bodyPr wrap="square" lIns="0" tIns="0" rIns="0" bIns="0" rtlCol="0" anchor="t"/>
          <a:lstStyle/>
          <a:p>
            <a:pPr indent="0" marL="0">
              <a:buNone/>
            </a:pPr>
            <a:r>
              <a:rPr lang="en-US" sz="1200" dirty="0">
                <a:solidFill>
                  <a:srgbClr val="C9CED4"/>
                </a:solidFill>
                <a:latin typeface="Segoe UI" pitchFamily="34" charset="0"/>
                <a:ea typeface="Segoe UI" pitchFamily="34" charset="-122"/>
                <a:cs typeface="Segoe UI" pitchFamily="34" charset="-120"/>
              </a:rPr>
              <a:t>Bundeswehr loitering munitions, Helsing and STARK. Approved Feb 2026.</a:t>
            </a:r>
            <a:endParaRPr lang="en-US" sz="1200" dirty="0"/>
          </a:p>
        </p:txBody>
      </p:sp>
      <p:sp>
        <p:nvSpPr>
          <p:cNvPr id="7" name="Text 5"/>
          <p:cNvSpPr txBox="1"/>
          <p:nvPr/>
        </p:nvSpPr>
        <p:spPr>
          <a:xfrm>
            <a:off x="3337560" y="1600200"/>
            <a:ext cx="2377440" cy="685800"/>
          </a:xfrm>
          <a:prstGeom prst="rect">
            <a:avLst/>
          </a:prstGeom>
          <a:noFill/>
          <a:ln/>
        </p:spPr>
        <p:txBody>
          <a:bodyPr wrap="square" lIns="0" tIns="0" rIns="0" bIns="0" rtlCol="0" anchor="ctr"/>
          <a:lstStyle/>
          <a:p>
            <a:pPr indent="0" marL="0">
              <a:buNone/>
            </a:pPr>
            <a:r>
              <a:rPr lang="en-US" sz="4000" b="1" dirty="0">
                <a:solidFill>
                  <a:srgbClr val="F2F4F6"/>
                </a:solidFill>
                <a:latin typeface="Segoe UI" pitchFamily="34" charset="0"/>
                <a:ea typeface="Segoe UI" pitchFamily="34" charset="-122"/>
                <a:cs typeface="Segoe UI" pitchFamily="34" charset="-120"/>
              </a:rPr>
              <a:t>6,000</a:t>
            </a:r>
            <a:endParaRPr lang="en-US" sz="4000" dirty="0"/>
          </a:p>
        </p:txBody>
      </p:sp>
      <p:sp>
        <p:nvSpPr>
          <p:cNvPr id="8" name="Text 6"/>
          <p:cNvSpPr txBox="1"/>
          <p:nvPr/>
        </p:nvSpPr>
        <p:spPr>
          <a:xfrm>
            <a:off x="3337560" y="2331720"/>
            <a:ext cx="2377440" cy="822960"/>
          </a:xfrm>
          <a:prstGeom prst="rect">
            <a:avLst/>
          </a:prstGeom>
          <a:noFill/>
          <a:ln/>
        </p:spPr>
        <p:txBody>
          <a:bodyPr wrap="square" lIns="0" tIns="0" rIns="0" bIns="0" rtlCol="0" anchor="t"/>
          <a:lstStyle/>
          <a:p>
            <a:pPr indent="0" marL="0">
              <a:buNone/>
            </a:pPr>
            <a:r>
              <a:rPr lang="en-US" sz="1200" dirty="0">
                <a:solidFill>
                  <a:srgbClr val="C9CED4"/>
                </a:solidFill>
                <a:latin typeface="Segoe UI" pitchFamily="34" charset="0"/>
                <a:ea typeface="Segoe UI" pitchFamily="34" charset="-122"/>
                <a:cs typeface="Segoe UI" pitchFamily="34" charset="-120"/>
              </a:rPr>
              <a:t>Soldier drones ordered by France (DGA, DELCO programme), 2026.</a:t>
            </a:r>
            <a:endParaRPr lang="en-US" sz="1200" dirty="0"/>
          </a:p>
        </p:txBody>
      </p:sp>
      <p:sp>
        <p:nvSpPr>
          <p:cNvPr id="9" name="Text 7"/>
          <p:cNvSpPr txBox="1"/>
          <p:nvPr/>
        </p:nvSpPr>
        <p:spPr>
          <a:xfrm>
            <a:off x="6035040" y="1600200"/>
            <a:ext cx="2377440" cy="685800"/>
          </a:xfrm>
          <a:prstGeom prst="rect">
            <a:avLst/>
          </a:prstGeom>
          <a:noFill/>
          <a:ln/>
        </p:spPr>
        <p:txBody>
          <a:bodyPr wrap="square" lIns="0" tIns="0" rIns="0" bIns="0" rtlCol="0" anchor="ctr"/>
          <a:lstStyle/>
          <a:p>
            <a:pPr indent="0" marL="0">
              <a:buNone/>
            </a:pPr>
            <a:r>
              <a:rPr lang="en-US" sz="4000" b="1" dirty="0">
                <a:solidFill>
                  <a:srgbClr val="F2F4F6"/>
                </a:solidFill>
                <a:latin typeface="Segoe UI" pitchFamily="34" charset="0"/>
                <a:ea typeface="Segoe UI" pitchFamily="34" charset="-122"/>
                <a:cs typeface="Segoe UI" pitchFamily="34" charset="-120"/>
              </a:rPr>
              <a:t>5</a:t>
            </a:r>
            <a:endParaRPr lang="en-US" sz="4000" dirty="0"/>
          </a:p>
        </p:txBody>
      </p:sp>
      <p:sp>
        <p:nvSpPr>
          <p:cNvPr id="10" name="Text 8"/>
          <p:cNvSpPr txBox="1"/>
          <p:nvPr/>
        </p:nvSpPr>
        <p:spPr>
          <a:xfrm>
            <a:off x="6035040" y="2331720"/>
            <a:ext cx="2377440" cy="822960"/>
          </a:xfrm>
          <a:prstGeom prst="rect">
            <a:avLst/>
          </a:prstGeom>
          <a:noFill/>
          <a:ln/>
        </p:spPr>
        <p:txBody>
          <a:bodyPr wrap="square" lIns="0" tIns="0" rIns="0" bIns="0" rtlCol="0" anchor="t"/>
          <a:lstStyle/>
          <a:p>
            <a:pPr indent="0" marL="0">
              <a:buNone/>
            </a:pPr>
            <a:r>
              <a:rPr lang="en-US" sz="1200" dirty="0">
                <a:solidFill>
                  <a:srgbClr val="C9CED4"/>
                </a:solidFill>
                <a:latin typeface="Segoe UI" pitchFamily="34" charset="0"/>
                <a:ea typeface="Segoe UI" pitchFamily="34" charset="-122"/>
                <a:cs typeface="Segoe UI" pitchFamily="34" charset="-120"/>
              </a:rPr>
              <a:t>EU defence projects approved 28 Sep 2026, including drones and counter-drone.</a:t>
            </a:r>
            <a:endParaRPr lang="en-US" sz="1200" dirty="0"/>
          </a:p>
        </p:txBody>
      </p:sp>
      <p:sp>
        <p:nvSpPr>
          <p:cNvPr id="11" name="Text 9"/>
          <p:cNvSpPr txBox="1"/>
          <p:nvPr/>
        </p:nvSpPr>
        <p:spPr>
          <a:xfrm>
            <a:off x="640080" y="3611880"/>
            <a:ext cx="7863840" cy="365760"/>
          </a:xfrm>
          <a:prstGeom prst="rect">
            <a:avLst/>
          </a:prstGeom>
          <a:noFill/>
          <a:ln/>
        </p:spPr>
        <p:txBody>
          <a:bodyPr wrap="square" lIns="0" tIns="0" rIns="0" bIns="0" rtlCol="0" anchor="ctr"/>
          <a:lstStyle/>
          <a:p>
            <a:pPr indent="0" marL="0">
              <a:buNone/>
            </a:pPr>
            <a:r>
              <a:rPr lang="en-US" sz="1200" i="1" dirty="0">
                <a:solidFill>
                  <a:srgbClr val="8E98A3"/>
                </a:solidFill>
                <a:latin typeface="Segoe UI" pitchFamily="34" charset="0"/>
                <a:ea typeface="Segoe UI" pitchFamily="34" charset="-122"/>
                <a:cs typeface="Segoe UI" pitchFamily="34" charset="-120"/>
              </a:rPr>
              <a:t>Air, ground and sea: every scaled platform adds range, EW exposure and nodes to a network.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10"/>
        </a:solidFill>
      </p:bgPr>
    </p:bg>
    <p:spTree>
      <p:nvGrpSpPr>
        <p:cNvPr id="1" name=""/>
        <p:cNvGrpSpPr/>
        <p:nvPr/>
      </p:nvGrpSpPr>
      <p:grpSpPr>
        <a:xfrm>
          <a:off x="0" y="0"/>
          <a:ext cx="0" cy="0"/>
          <a:chOff x="0" y="0"/>
          <a:chExt cx="0" cy="0"/>
        </a:xfrm>
      </p:grpSpPr>
      <p:sp>
        <p:nvSpPr>
          <p:cNvPr id="2" name="Text 0"/>
          <p:cNvSpPr txBox="1"/>
          <p:nvPr/>
        </p:nvSpPr>
        <p:spPr>
          <a:xfrm>
            <a:off x="640080" y="384048"/>
            <a:ext cx="7863840" cy="228600"/>
          </a:xfrm>
          <a:prstGeom prst="rect">
            <a:avLst/>
          </a:prstGeom>
          <a:noFill/>
          <a:ln/>
        </p:spPr>
        <p:txBody>
          <a:bodyPr wrap="square" lIns="0" tIns="0" rIns="0" bIns="0" rtlCol="0" anchor="ctr"/>
          <a:lstStyle/>
          <a:p>
            <a:pPr indent="0" marL="0">
              <a:buNone/>
            </a:pPr>
            <a:r>
              <a:rPr lang="en-US" sz="950" spc="100" kern="0" dirty="0">
                <a:solidFill>
                  <a:srgbClr val="8E98A3"/>
                </a:solidFill>
                <a:latin typeface="Consolas" pitchFamily="34" charset="0"/>
                <a:ea typeface="Consolas" pitchFamily="34" charset="-122"/>
                <a:cs typeface="Consolas" pitchFamily="34" charset="-120"/>
              </a:rPr>
              <a:t>1 · UXV MARKET</a:t>
            </a:r>
            <a:endParaRPr lang="en-US" sz="950" dirty="0"/>
          </a:p>
        </p:txBody>
      </p:sp>
      <p:sp>
        <p:nvSpPr>
          <p:cNvPr id="3" name="Text 1"/>
          <p:cNvSpPr txBox="1"/>
          <p:nvPr/>
        </p:nvSpPr>
        <p:spPr>
          <a:xfrm>
            <a:off x="640080" y="658368"/>
            <a:ext cx="7863840" cy="566928"/>
          </a:xfrm>
          <a:prstGeom prst="rect">
            <a:avLst/>
          </a:prstGeom>
          <a:noFill/>
          <a:ln/>
        </p:spPr>
        <p:txBody>
          <a:bodyPr wrap="square" lIns="0" tIns="0" rIns="0" bIns="0" rtlCol="0" anchor="t"/>
          <a:lstStyle/>
          <a:p>
            <a:pPr indent="0" marL="0">
              <a:buNone/>
            </a:pPr>
            <a:r>
              <a:rPr lang="en-US" sz="2200" b="1" dirty="0">
                <a:solidFill>
                  <a:srgbClr val="F2F4F6"/>
                </a:solidFill>
                <a:latin typeface="Segoe UI" pitchFamily="34" charset="0"/>
                <a:ea typeface="Segoe UI" pitchFamily="34" charset="-122"/>
                <a:cs typeface="Segoe UI" pitchFamily="34" charset="-120"/>
              </a:rPr>
              <a:t>Output at the top 20 European OEMs could grow ~5× by 2030</a:t>
            </a:r>
            <a:endParaRPr lang="en-US" sz="2200" dirty="0"/>
          </a:p>
        </p:txBody>
      </p:sp>
      <p:sp>
        <p:nvSpPr>
          <p:cNvPr id="4" name="Text 2"/>
          <p:cNvSpPr txBox="1"/>
          <p:nvPr/>
        </p:nvSpPr>
        <p:spPr>
          <a:xfrm>
            <a:off x="640080" y="4590288"/>
            <a:ext cx="7863840" cy="256032"/>
          </a:xfrm>
          <a:prstGeom prst="rect">
            <a:avLst/>
          </a:prstGeom>
          <a:noFill/>
          <a:ln/>
        </p:spPr>
        <p:txBody>
          <a:bodyPr wrap="square" lIns="0" tIns="0" rIns="0" bIns="0" rtlCol="0" anchor="ctr"/>
          <a:lstStyle/>
          <a:p>
            <a:pPr indent="0" marL="0">
              <a:buNone/>
            </a:pPr>
            <a:r>
              <a:rPr lang="en-US" sz="950" dirty="0">
                <a:solidFill>
                  <a:srgbClr val="F05A55"/>
                </a:solidFill>
                <a:latin typeface="Segoe UI" pitchFamily="34" charset="0"/>
                <a:ea typeface="Segoe UI" pitchFamily="34" charset="-122"/>
                <a:cs typeface="Segoe UI" pitchFamily="34" charset="-120"/>
              </a:rPr>
              <a:t>External model, base case — not a Doodle Labs forecast. ~13k of 2026 units rest on visible contracts; the rest is ramp.</a:t>
            </a:r>
            <a:endParaRPr lang="en-US" sz="950" dirty="0"/>
          </a:p>
        </p:txBody>
      </p:sp>
      <p:graphicFrame>
        <p:nvGraphicFramePr>
          <p:cNvPr id="5" name="Chart 0" descr=""/>
          <p:cNvGraphicFramePr/>
          <p:nvPr/>
        </p:nvGraphicFramePr>
        <p:xfrm>
          <a:off x="640080" y="1325880"/>
          <a:ext cx="5120640" cy="31089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172200" y="1600200"/>
            <a:ext cx="2331720" cy="685800"/>
          </a:xfrm>
          <a:prstGeom prst="rect">
            <a:avLst/>
          </a:prstGeom>
          <a:noFill/>
          <a:ln/>
        </p:spPr>
        <p:txBody>
          <a:bodyPr wrap="square" lIns="0" tIns="0" rIns="0" bIns="0" rtlCol="0" anchor="ctr"/>
          <a:lstStyle/>
          <a:p>
            <a:pPr indent="0" marL="0">
              <a:buNone/>
            </a:pPr>
            <a:r>
              <a:rPr lang="en-US" sz="2600" b="1" dirty="0">
                <a:solidFill>
                  <a:srgbClr val="F2F4F6"/>
                </a:solidFill>
                <a:latin typeface="Segoe UI" pitchFamily="34" charset="0"/>
                <a:ea typeface="Segoe UI" pitchFamily="34" charset="-122"/>
                <a:cs typeface="Segoe UI" pitchFamily="34" charset="-120"/>
              </a:rPr>
              <a:t>~10k → 50k</a:t>
            </a:r>
            <a:endParaRPr lang="en-US" sz="2600" dirty="0"/>
          </a:p>
        </p:txBody>
      </p:sp>
      <p:sp>
        <p:nvSpPr>
          <p:cNvPr id="7" name="Text 4"/>
          <p:cNvSpPr txBox="1"/>
          <p:nvPr/>
        </p:nvSpPr>
        <p:spPr>
          <a:xfrm>
            <a:off x="6172200" y="2331720"/>
            <a:ext cx="2331720" cy="822960"/>
          </a:xfrm>
          <a:prstGeom prst="rect">
            <a:avLst/>
          </a:prstGeom>
          <a:noFill/>
          <a:ln/>
        </p:spPr>
        <p:txBody>
          <a:bodyPr wrap="square" lIns="0" tIns="0" rIns="0" bIns="0" rtlCol="0" anchor="t"/>
          <a:lstStyle/>
          <a:p>
            <a:pPr indent="0" marL="0">
              <a:buNone/>
            </a:pPr>
            <a:r>
              <a:rPr lang="en-US" sz="1200" dirty="0">
                <a:solidFill>
                  <a:srgbClr val="C9CED4"/>
                </a:solidFill>
                <a:latin typeface="Segoe UI" pitchFamily="34" charset="0"/>
                <a:ea typeface="Segoe UI" pitchFamily="34" charset="-122"/>
                <a:cs typeface="Segoe UI" pitchFamily="34" charset="-120"/>
              </a:rPr>
              <a:t>platforms a year, 2025 → 2030, across 20 accounts with published volumes.</a:t>
            </a:r>
            <a:endParaRPr lang="en-US" sz="1200" dirty="0"/>
          </a:p>
        </p:txBody>
      </p:sp>
      <p:sp>
        <p:nvSpPr>
          <p:cNvPr id="8" name="Text 5"/>
          <p:cNvSpPr txBox="1"/>
          <p:nvPr/>
        </p:nvSpPr>
        <p:spPr>
          <a:xfrm>
            <a:off x="6172200" y="3063240"/>
            <a:ext cx="2331720" cy="1188720"/>
          </a:xfrm>
          <a:prstGeom prst="rect">
            <a:avLst/>
          </a:prstGeom>
          <a:noFill/>
          <a:ln/>
        </p:spPr>
        <p:txBody>
          <a:bodyPr wrap="square" lIns="0" tIns="0" rIns="0" bIns="0" rtlCol="0" anchor="t"/>
          <a:lstStyle/>
          <a:p>
            <a:pPr indent="0" marL="0">
              <a:buNone/>
            </a:pPr>
            <a:r>
              <a:rPr lang="en-US" sz="1200" dirty="0">
                <a:solidFill>
                  <a:srgbClr val="F05A55"/>
                </a:solidFill>
                <a:latin typeface="Segoe UI" pitchFamily="34" charset="0"/>
                <a:ea typeface="Segoe UI" pitchFamily="34" charset="-122"/>
                <a:cs typeface="Segoe UI" pitchFamily="34" charset="-120"/>
              </a:rPr>
              <a:t>Growth comes from new volume — strike, interceptors, UGVs — where the radio socket is least likely to be locked.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D10"/>
        </a:solidFill>
      </p:bgPr>
    </p:bg>
    <p:spTree>
      <p:nvGrpSpPr>
        <p:cNvPr id="1" name=""/>
        <p:cNvGrpSpPr/>
        <p:nvPr/>
      </p:nvGrpSpPr>
      <p:grpSpPr>
        <a:xfrm>
          <a:off x="0" y="0"/>
          <a:ext cx="0" cy="0"/>
          <a:chOff x="0" y="0"/>
          <a:chExt cx="0" cy="0"/>
        </a:xfrm>
      </p:grpSpPr>
      <p:sp>
        <p:nvSpPr>
          <p:cNvPr id="2" name="Text 0"/>
          <p:cNvSpPr txBox="1"/>
          <p:nvPr/>
        </p:nvSpPr>
        <p:spPr>
          <a:xfrm>
            <a:off x="640080" y="384048"/>
            <a:ext cx="7863840" cy="228600"/>
          </a:xfrm>
          <a:prstGeom prst="rect">
            <a:avLst/>
          </a:prstGeom>
          <a:noFill/>
          <a:ln/>
        </p:spPr>
        <p:txBody>
          <a:bodyPr wrap="square" lIns="0" tIns="0" rIns="0" bIns="0" rtlCol="0" anchor="ctr"/>
          <a:lstStyle/>
          <a:p>
            <a:pPr indent="0" marL="0">
              <a:buNone/>
            </a:pPr>
            <a:r>
              <a:rPr lang="en-US" sz="950" spc="100" kern="0" dirty="0">
                <a:solidFill>
                  <a:srgbClr val="8E98A3"/>
                </a:solidFill>
                <a:latin typeface="Consolas" pitchFamily="34" charset="0"/>
                <a:ea typeface="Consolas" pitchFamily="34" charset="-122"/>
                <a:cs typeface="Consolas" pitchFamily="34" charset="-120"/>
              </a:rPr>
              <a:t>1 · WHERE DOODLE FITS</a:t>
            </a:r>
            <a:endParaRPr lang="en-US" sz="950" dirty="0"/>
          </a:p>
        </p:txBody>
      </p:sp>
      <p:sp>
        <p:nvSpPr>
          <p:cNvPr id="3" name="Text 1"/>
          <p:cNvSpPr txBox="1"/>
          <p:nvPr/>
        </p:nvSpPr>
        <p:spPr>
          <a:xfrm>
            <a:off x="640080" y="658368"/>
            <a:ext cx="7863840" cy="566928"/>
          </a:xfrm>
          <a:prstGeom prst="rect">
            <a:avLst/>
          </a:prstGeom>
          <a:noFill/>
          <a:ln/>
        </p:spPr>
        <p:txBody>
          <a:bodyPr wrap="square" lIns="0" tIns="0" rIns="0" bIns="0" rtlCol="0" anchor="t"/>
          <a:lstStyle/>
          <a:p>
            <a:pPr indent="0" marL="0">
              <a:buNone/>
            </a:pPr>
            <a:r>
              <a:rPr lang="en-US" sz="2200" b="1" dirty="0">
                <a:solidFill>
                  <a:srgbClr val="F2F4F6"/>
                </a:solidFill>
                <a:latin typeface="Segoe UI" pitchFamily="34" charset="0"/>
                <a:ea typeface="Segoe UI" pitchFamily="34" charset="-122"/>
                <a:cs typeface="Segoe UI" pitchFamily="34" charset="-120"/>
              </a:rPr>
              <a:t>Addressable is not forecastable</a:t>
            </a:r>
            <a:endParaRPr lang="en-US" sz="2200" dirty="0"/>
          </a:p>
        </p:txBody>
      </p:sp>
      <p:sp>
        <p:nvSpPr>
          <p:cNvPr id="4" name="Text 2"/>
          <p:cNvSpPr txBox="1"/>
          <p:nvPr/>
        </p:nvSpPr>
        <p:spPr>
          <a:xfrm>
            <a:off x="640080" y="4590288"/>
            <a:ext cx="7863840" cy="256032"/>
          </a:xfrm>
          <a:prstGeom prst="rect">
            <a:avLst/>
          </a:prstGeom>
          <a:noFill/>
          <a:ln/>
        </p:spPr>
        <p:txBody>
          <a:bodyPr wrap="square" lIns="0" tIns="0" rIns="0" bIns="0" rtlCol="0" anchor="ctr"/>
          <a:lstStyle/>
          <a:p>
            <a:pPr indent="0" marL="0">
              <a:buNone/>
            </a:pPr>
            <a:r>
              <a:rPr lang="en-US" sz="950" dirty="0">
                <a:solidFill>
                  <a:srgbClr val="F05A55"/>
                </a:solidFill>
                <a:latin typeface="Segoe UI" pitchFamily="34" charset="0"/>
                <a:ea typeface="Segoe UI" pitchFamily="34" charset="-122"/>
                <a:cs typeface="Segoe UI" pitchFamily="34" charset="-120"/>
              </a:rPr>
              <a:t>Platforms × radios per platform × planning price. 2026–30, base case. Range $18M–$648M.</a:t>
            </a:r>
            <a:endParaRPr lang="en-US" sz="950" dirty="0"/>
          </a:p>
        </p:txBody>
      </p:sp>
      <p:sp>
        <p:nvSpPr>
          <p:cNvPr id="5" name="Shape 3"/>
          <p:cNvSpPr/>
          <p:nvPr/>
        </p:nvSpPr>
        <p:spPr>
          <a:xfrm>
            <a:off x="640080" y="1417320"/>
            <a:ext cx="3302813" cy="603504"/>
          </a:xfrm>
          <a:prstGeom prst="rect">
            <a:avLst/>
          </a:prstGeom>
          <a:solidFill>
            <a:srgbClr val="171B20"/>
          </a:solidFill>
          <a:ln w="9525">
            <a:solidFill>
              <a:srgbClr val="2A3139"/>
            </a:solidFill>
            <a:prstDash val="solid"/>
          </a:ln>
        </p:spPr>
      </p:sp>
      <p:sp>
        <p:nvSpPr>
          <p:cNvPr id="6" name="Text 4"/>
          <p:cNvSpPr txBox="1"/>
          <p:nvPr/>
        </p:nvSpPr>
        <p:spPr>
          <a:xfrm>
            <a:off x="777240" y="1417320"/>
            <a:ext cx="1463040" cy="603504"/>
          </a:xfrm>
          <a:prstGeom prst="rect">
            <a:avLst/>
          </a:prstGeom>
          <a:noFill/>
          <a:ln/>
        </p:spPr>
        <p:txBody>
          <a:bodyPr wrap="square" lIns="0" tIns="0" rIns="0" bIns="0" rtlCol="0" anchor="ctr"/>
          <a:lstStyle/>
          <a:p>
            <a:pPr indent="0" marL="0">
              <a:buNone/>
            </a:pPr>
            <a:r>
              <a:rPr lang="en-US" sz="2000" b="1" dirty="0">
                <a:solidFill>
                  <a:srgbClr val="F2F4F6"/>
                </a:solidFill>
                <a:latin typeface="Segoe UI" pitchFamily="34" charset="0"/>
                <a:ea typeface="Segoe UI" pitchFamily="34" charset="-122"/>
                <a:cs typeface="Segoe UI" pitchFamily="34" charset="-120"/>
              </a:rPr>
              <a:t>~$215M</a:t>
            </a:r>
            <a:endParaRPr lang="en-US" sz="2000" dirty="0"/>
          </a:p>
        </p:txBody>
      </p:sp>
      <p:sp>
        <p:nvSpPr>
          <p:cNvPr id="7" name="Text 5"/>
          <p:cNvSpPr txBox="1"/>
          <p:nvPr/>
        </p:nvSpPr>
        <p:spPr>
          <a:xfrm>
            <a:off x="4206240" y="1417320"/>
            <a:ext cx="4297680" cy="603504"/>
          </a:xfrm>
          <a:prstGeom prst="rect">
            <a:avLst/>
          </a:prstGeom>
          <a:noFill/>
          <a:ln/>
        </p:spPr>
        <p:txBody>
          <a:bodyPr wrap="square" lIns="0" tIns="0" rIns="0" bIns="0" rtlCol="0" anchor="ctr"/>
          <a:lstStyle/>
          <a:p>
            <a:pPr indent="0" marL="0">
              <a:buNone/>
            </a:pPr>
            <a:r>
              <a:rPr lang="en-US" sz="1100" b="1" dirty="0">
                <a:solidFill>
                  <a:srgbClr val="F2F4F6"/>
                </a:solidFill>
                <a:latin typeface="Segoe UI" pitchFamily="34" charset="0"/>
                <a:ea typeface="Segoe UI" pitchFamily="34" charset="-122"/>
                <a:cs typeface="Segoe UI" pitchFamily="34" charset="-120"/>
              </a:rPr>
              <a:t>Addressable</a:t>
            </a:r>
            <a:endParaRPr lang="en-US" sz="1100" dirty="0"/>
          </a:p>
          <a:p>
            <a:pPr indent="0" marL="0">
              <a:buNone/>
            </a:pPr>
            <a:r>
              <a:rPr lang="en-US" sz="1100" dirty="0">
                <a:solidFill>
                  <a:srgbClr val="C9CED4"/>
                </a:solidFill>
                <a:latin typeface="Segoe UI" pitchFamily="34" charset="0"/>
                <a:ea typeface="Segoe UI" pitchFamily="34" charset="-122"/>
                <a:cs typeface="Segoe UI" pitchFamily="34" charset="-120"/>
              </a:rPr>
              <a:t>Radio nodes those platforms need, where a Mesh Rider SKU fits</a:t>
            </a:r>
            <a:endParaRPr lang="en-US" sz="1100" dirty="0"/>
          </a:p>
        </p:txBody>
      </p:sp>
      <p:sp>
        <p:nvSpPr>
          <p:cNvPr id="8" name="Shape 6"/>
          <p:cNvSpPr/>
          <p:nvPr/>
        </p:nvSpPr>
        <p:spPr>
          <a:xfrm>
            <a:off x="640080" y="2176272"/>
            <a:ext cx="2534717" cy="603504"/>
          </a:xfrm>
          <a:prstGeom prst="rect">
            <a:avLst/>
          </a:prstGeom>
          <a:solidFill>
            <a:srgbClr val="171B20"/>
          </a:solidFill>
          <a:ln w="9525">
            <a:solidFill>
              <a:srgbClr val="2A3139"/>
            </a:solidFill>
            <a:prstDash val="solid"/>
          </a:ln>
        </p:spPr>
      </p:sp>
      <p:sp>
        <p:nvSpPr>
          <p:cNvPr id="9" name="Text 7"/>
          <p:cNvSpPr txBox="1"/>
          <p:nvPr/>
        </p:nvSpPr>
        <p:spPr>
          <a:xfrm>
            <a:off x="777240" y="2176272"/>
            <a:ext cx="1463040" cy="603504"/>
          </a:xfrm>
          <a:prstGeom prst="rect">
            <a:avLst/>
          </a:prstGeom>
          <a:noFill/>
          <a:ln/>
        </p:spPr>
        <p:txBody>
          <a:bodyPr wrap="square" lIns="0" tIns="0" rIns="0" bIns="0" rtlCol="0" anchor="ctr"/>
          <a:lstStyle/>
          <a:p>
            <a:pPr indent="0" marL="0">
              <a:buNone/>
            </a:pPr>
            <a:r>
              <a:rPr lang="en-US" sz="2000" b="1" dirty="0">
                <a:solidFill>
                  <a:srgbClr val="F2F4F6"/>
                </a:solidFill>
                <a:latin typeface="Segoe UI" pitchFamily="34" charset="0"/>
                <a:ea typeface="Segoe UI" pitchFamily="34" charset="-122"/>
                <a:cs typeface="Segoe UI" pitchFamily="34" charset="-120"/>
              </a:rPr>
              <a:t>~$156M</a:t>
            </a:r>
            <a:endParaRPr lang="en-US" sz="2000" dirty="0"/>
          </a:p>
        </p:txBody>
      </p:sp>
      <p:sp>
        <p:nvSpPr>
          <p:cNvPr id="10" name="Text 8"/>
          <p:cNvSpPr txBox="1"/>
          <p:nvPr/>
        </p:nvSpPr>
        <p:spPr>
          <a:xfrm>
            <a:off x="4206240" y="2176272"/>
            <a:ext cx="4297680" cy="603504"/>
          </a:xfrm>
          <a:prstGeom prst="rect">
            <a:avLst/>
          </a:prstGeom>
          <a:noFill/>
          <a:ln/>
        </p:spPr>
        <p:txBody>
          <a:bodyPr wrap="square" lIns="0" tIns="0" rIns="0" bIns="0" rtlCol="0" anchor="ctr"/>
          <a:lstStyle/>
          <a:p>
            <a:pPr indent="0" marL="0">
              <a:buNone/>
            </a:pPr>
            <a:r>
              <a:rPr lang="en-US" sz="1100" b="1" dirty="0">
                <a:solidFill>
                  <a:srgbClr val="F2F4F6"/>
                </a:solidFill>
                <a:latin typeface="Segoe UI" pitchFamily="34" charset="0"/>
                <a:ea typeface="Segoe UI" pitchFamily="34" charset="-122"/>
                <a:cs typeface="Segoe UI" pitchFamily="34" charset="-120"/>
              </a:rPr>
              <a:t>Open sockets</a:t>
            </a:r>
            <a:endParaRPr lang="en-US" sz="1100" dirty="0"/>
          </a:p>
          <a:p>
            <a:pPr indent="0" marL="0">
              <a:buNone/>
            </a:pPr>
            <a:r>
              <a:rPr lang="en-US" sz="1100" dirty="0">
                <a:solidFill>
                  <a:srgbClr val="C9CED4"/>
                </a:solidFill>
                <a:latin typeface="Segoe UI" pitchFamily="34" charset="0"/>
                <a:ea typeface="Segoe UI" pitchFamily="34" charset="-122"/>
                <a:cs typeface="Segoe UI" pitchFamily="34" charset="-120"/>
              </a:rPr>
              <a:t>Not visibly locked by a single incumbent</a:t>
            </a:r>
            <a:endParaRPr lang="en-US" sz="1100" dirty="0"/>
          </a:p>
        </p:txBody>
      </p:sp>
      <p:sp>
        <p:nvSpPr>
          <p:cNvPr id="11" name="Shape 9"/>
          <p:cNvSpPr/>
          <p:nvPr/>
        </p:nvSpPr>
        <p:spPr>
          <a:xfrm>
            <a:off x="640080" y="2935224"/>
            <a:ext cx="1766621" cy="603504"/>
          </a:xfrm>
          <a:prstGeom prst="rect">
            <a:avLst/>
          </a:prstGeom>
          <a:solidFill>
            <a:srgbClr val="3A1F21"/>
          </a:solidFill>
          <a:ln w="9525">
            <a:solidFill>
              <a:srgbClr val="F05A55"/>
            </a:solidFill>
            <a:prstDash val="solid"/>
          </a:ln>
        </p:spPr>
      </p:sp>
      <p:sp>
        <p:nvSpPr>
          <p:cNvPr id="12" name="Text 10"/>
          <p:cNvSpPr txBox="1"/>
          <p:nvPr/>
        </p:nvSpPr>
        <p:spPr>
          <a:xfrm>
            <a:off x="777240" y="2935224"/>
            <a:ext cx="1463040" cy="603504"/>
          </a:xfrm>
          <a:prstGeom prst="rect">
            <a:avLst/>
          </a:prstGeom>
          <a:noFill/>
          <a:ln/>
        </p:spPr>
        <p:txBody>
          <a:bodyPr wrap="square" lIns="0" tIns="0" rIns="0" bIns="0" rtlCol="0" anchor="ctr"/>
          <a:lstStyle/>
          <a:p>
            <a:pPr indent="0" marL="0">
              <a:buNone/>
            </a:pPr>
            <a:r>
              <a:rPr lang="en-US" sz="2000" b="1" dirty="0">
                <a:solidFill>
                  <a:srgbClr val="F05A55"/>
                </a:solidFill>
                <a:latin typeface="Segoe UI" pitchFamily="34" charset="0"/>
                <a:ea typeface="Segoe UI" pitchFamily="34" charset="-122"/>
                <a:cs typeface="Segoe UI" pitchFamily="34" charset="-120"/>
              </a:rPr>
              <a:t>~$15M</a:t>
            </a:r>
            <a:endParaRPr lang="en-US" sz="2000" dirty="0"/>
          </a:p>
        </p:txBody>
      </p:sp>
      <p:sp>
        <p:nvSpPr>
          <p:cNvPr id="13" name="Text 11"/>
          <p:cNvSpPr txBox="1"/>
          <p:nvPr/>
        </p:nvSpPr>
        <p:spPr>
          <a:xfrm>
            <a:off x="4206240" y="2935224"/>
            <a:ext cx="4297680" cy="603504"/>
          </a:xfrm>
          <a:prstGeom prst="rect">
            <a:avLst/>
          </a:prstGeom>
          <a:noFill/>
          <a:ln/>
        </p:spPr>
        <p:txBody>
          <a:bodyPr wrap="square" lIns="0" tIns="0" rIns="0" bIns="0" rtlCol="0" anchor="ctr"/>
          <a:lstStyle/>
          <a:p>
            <a:pPr indent="0" marL="0">
              <a:buNone/>
            </a:pPr>
            <a:r>
              <a:rPr lang="en-US" sz="1100" b="1" dirty="0">
                <a:solidFill>
                  <a:srgbClr val="F2F4F6"/>
                </a:solidFill>
                <a:latin typeface="Segoe UI" pitchFamily="34" charset="0"/>
                <a:ea typeface="Segoe UI" pitchFamily="34" charset="-122"/>
                <a:cs typeface="Segoe UI" pitchFamily="34" charset="-120"/>
              </a:rPr>
              <a:t>Contracted today</a:t>
            </a:r>
            <a:endParaRPr lang="en-US" sz="1100" dirty="0"/>
          </a:p>
          <a:p>
            <a:pPr indent="0" marL="0">
              <a:buNone/>
            </a:pPr>
            <a:r>
              <a:rPr lang="en-US" sz="1100" dirty="0">
                <a:solidFill>
                  <a:srgbClr val="C9CED4"/>
                </a:solidFill>
                <a:latin typeface="Segoe UI" pitchFamily="34" charset="0"/>
                <a:ea typeface="Segoe UI" pitchFamily="34" charset="-122"/>
                <a:cs typeface="Segoe UI" pitchFamily="34" charset="-120"/>
              </a:rPr>
              <a:t>Rests on contracts I can see — the design window is now</a:t>
            </a:r>
            <a:endParaRPr lang="en-US" sz="1100" dirty="0"/>
          </a:p>
        </p:txBody>
      </p:sp>
      <p:sp>
        <p:nvSpPr>
          <p:cNvPr id="14" name="Shape 12"/>
          <p:cNvSpPr/>
          <p:nvPr/>
        </p:nvSpPr>
        <p:spPr>
          <a:xfrm>
            <a:off x="640080" y="3694176"/>
            <a:ext cx="998525" cy="603504"/>
          </a:xfrm>
          <a:prstGeom prst="rect">
            <a:avLst/>
          </a:prstGeom>
          <a:solidFill>
            <a:srgbClr val="171B20"/>
          </a:solidFill>
          <a:ln w="9525">
            <a:solidFill>
              <a:srgbClr val="2A3139"/>
            </a:solidFill>
            <a:prstDash val="solid"/>
          </a:ln>
        </p:spPr>
      </p:sp>
      <p:sp>
        <p:nvSpPr>
          <p:cNvPr id="15" name="Text 13"/>
          <p:cNvSpPr txBox="1"/>
          <p:nvPr/>
        </p:nvSpPr>
        <p:spPr>
          <a:xfrm>
            <a:off x="777240" y="3694176"/>
            <a:ext cx="1463040" cy="603504"/>
          </a:xfrm>
          <a:prstGeom prst="rect">
            <a:avLst/>
          </a:prstGeom>
          <a:noFill/>
          <a:ln/>
        </p:spPr>
        <p:txBody>
          <a:bodyPr wrap="square" lIns="0" tIns="0" rIns="0" bIns="0" rtlCol="0" anchor="ctr"/>
          <a:lstStyle/>
          <a:p>
            <a:pPr indent="0" marL="0">
              <a:buNone/>
            </a:pPr>
            <a:r>
              <a:rPr lang="en-US" sz="2000" b="1" dirty="0">
                <a:solidFill>
                  <a:srgbClr val="8E98A3"/>
                </a:solidFill>
                <a:latin typeface="Segoe UI" pitchFamily="34" charset="0"/>
                <a:ea typeface="Segoe UI" pitchFamily="34" charset="-122"/>
                <a:cs typeface="Segoe UI" pitchFamily="34" charset="-120"/>
              </a:rPr>
              <a:t>?</a:t>
            </a:r>
            <a:endParaRPr lang="en-US" sz="2000" dirty="0"/>
          </a:p>
        </p:txBody>
      </p:sp>
      <p:sp>
        <p:nvSpPr>
          <p:cNvPr id="16" name="Text 14"/>
          <p:cNvSpPr txBox="1"/>
          <p:nvPr/>
        </p:nvSpPr>
        <p:spPr>
          <a:xfrm>
            <a:off x="4206240" y="3694176"/>
            <a:ext cx="4297680" cy="603504"/>
          </a:xfrm>
          <a:prstGeom prst="rect">
            <a:avLst/>
          </a:prstGeom>
          <a:noFill/>
          <a:ln/>
        </p:spPr>
        <p:txBody>
          <a:bodyPr wrap="square" lIns="0" tIns="0" rIns="0" bIns="0" rtlCol="0" anchor="ctr"/>
          <a:lstStyle/>
          <a:p>
            <a:pPr indent="0" marL="0">
              <a:buNone/>
            </a:pPr>
            <a:r>
              <a:rPr lang="en-US" sz="1100" b="1" dirty="0">
                <a:solidFill>
                  <a:srgbClr val="F2F4F6"/>
                </a:solidFill>
                <a:latin typeface="Segoe UI" pitchFamily="34" charset="0"/>
                <a:ea typeface="Segoe UI" pitchFamily="34" charset="-122"/>
                <a:cs typeface="Segoe UI" pitchFamily="34" charset="-120"/>
              </a:rPr>
              <a:t>Your forecast</a:t>
            </a:r>
            <a:endParaRPr lang="en-US" sz="1100" dirty="0"/>
          </a:p>
          <a:p>
            <a:pPr indent="0" marL="0">
              <a:buNone/>
            </a:pPr>
            <a:r>
              <a:rPr lang="en-US" sz="1100" dirty="0">
                <a:solidFill>
                  <a:srgbClr val="C9CED4"/>
                </a:solidFill>
                <a:latin typeface="Segoe UI" pitchFamily="34" charset="0"/>
                <a:ea typeface="Segoe UI" pitchFamily="34" charset="-122"/>
                <a:cs typeface="Segoe UI" pitchFamily="34" charset="-120"/>
              </a:rPr>
              <a:t>Needs your CRM, installed base and price book</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10"/>
        </a:solidFill>
      </p:bgPr>
    </p:bg>
    <p:spTree>
      <p:nvGrpSpPr>
        <p:cNvPr id="1" name=""/>
        <p:cNvGrpSpPr/>
        <p:nvPr/>
      </p:nvGrpSpPr>
      <p:grpSpPr>
        <a:xfrm>
          <a:off x="0" y="0"/>
          <a:ext cx="0" cy="0"/>
          <a:chOff x="0" y="0"/>
          <a:chExt cx="0" cy="0"/>
        </a:xfrm>
      </p:grpSpPr>
      <p:sp>
        <p:nvSpPr>
          <p:cNvPr id="2" name="Text 0"/>
          <p:cNvSpPr txBox="1"/>
          <p:nvPr/>
        </p:nvSpPr>
        <p:spPr>
          <a:xfrm>
            <a:off x="640080" y="384048"/>
            <a:ext cx="7863840" cy="228600"/>
          </a:xfrm>
          <a:prstGeom prst="rect">
            <a:avLst/>
          </a:prstGeom>
          <a:noFill/>
          <a:ln/>
        </p:spPr>
        <p:txBody>
          <a:bodyPr wrap="square" lIns="0" tIns="0" rIns="0" bIns="0" rtlCol="0" anchor="ctr"/>
          <a:lstStyle/>
          <a:p>
            <a:pPr indent="0" marL="0">
              <a:buNone/>
            </a:pPr>
            <a:r>
              <a:rPr lang="en-US" sz="950" spc="100" kern="0" dirty="0">
                <a:solidFill>
                  <a:srgbClr val="8E98A3"/>
                </a:solidFill>
                <a:latin typeface="Consolas" pitchFamily="34" charset="0"/>
                <a:ea typeface="Consolas" pitchFamily="34" charset="-122"/>
                <a:cs typeface="Consolas" pitchFamily="34" charset="-120"/>
              </a:rPr>
              <a:t>1 · WHERE DOODLE FITS</a:t>
            </a:r>
            <a:endParaRPr lang="en-US" sz="950" dirty="0"/>
          </a:p>
        </p:txBody>
      </p:sp>
      <p:sp>
        <p:nvSpPr>
          <p:cNvPr id="3" name="Text 1"/>
          <p:cNvSpPr txBox="1"/>
          <p:nvPr/>
        </p:nvSpPr>
        <p:spPr>
          <a:xfrm>
            <a:off x="640080" y="658368"/>
            <a:ext cx="7863840" cy="566928"/>
          </a:xfrm>
          <a:prstGeom prst="rect">
            <a:avLst/>
          </a:prstGeom>
          <a:noFill/>
          <a:ln/>
        </p:spPr>
        <p:txBody>
          <a:bodyPr wrap="square" lIns="0" tIns="0" rIns="0" bIns="0" rtlCol="0" anchor="t"/>
          <a:lstStyle/>
          <a:p>
            <a:pPr indent="0" marL="0">
              <a:buNone/>
            </a:pPr>
            <a:r>
              <a:rPr lang="en-US" sz="2200" b="1" dirty="0">
                <a:solidFill>
                  <a:srgbClr val="F2F4F6"/>
                </a:solidFill>
                <a:latin typeface="Segoe UI" pitchFamily="34" charset="0"/>
                <a:ea typeface="Segoe UI" pitchFamily="34" charset="-122"/>
                <a:cs typeface="Segoe UI" pitchFamily="34" charset="-120"/>
              </a:rPr>
              <a:t>Doodle wins as the independent embedded link</a:t>
            </a:r>
            <a:endParaRPr lang="en-US" sz="2200" dirty="0"/>
          </a:p>
        </p:txBody>
      </p:sp>
      <p:sp>
        <p:nvSpPr>
          <p:cNvPr id="4" name="Text 2"/>
          <p:cNvSpPr txBox="1"/>
          <p:nvPr/>
        </p:nvSpPr>
        <p:spPr>
          <a:xfrm>
            <a:off x="640080" y="4590288"/>
            <a:ext cx="7863840" cy="256032"/>
          </a:xfrm>
          <a:prstGeom prst="rect">
            <a:avLst/>
          </a:prstGeom>
          <a:noFill/>
          <a:ln/>
        </p:spPr>
        <p:txBody>
          <a:bodyPr wrap="square" lIns="0" tIns="0" rIns="0" bIns="0" rtlCol="0" anchor="ctr"/>
          <a:lstStyle/>
          <a:p>
            <a:pPr indent="0" marL="0">
              <a:buNone/>
            </a:pPr>
            <a:r>
              <a:rPr lang="en-US" sz="950" dirty="0">
                <a:solidFill>
                  <a:srgbClr val="F05A55"/>
                </a:solidFill>
                <a:latin typeface="Segoe UI" pitchFamily="34" charset="0"/>
                <a:ea typeface="Segoe UI" pitchFamily="34" charset="-122"/>
                <a:cs typeface="Segoe UI" pitchFamily="34" charset="-120"/>
              </a:rPr>
              <a:t>"We are not European. We are independent." — the pitch Doodle can make and defend.</a:t>
            </a:r>
            <a:endParaRPr lang="en-US" sz="950" dirty="0"/>
          </a:p>
        </p:txBody>
      </p:sp>
      <p:sp>
        <p:nvSpPr>
          <p:cNvPr id="5" name="Shape 3"/>
          <p:cNvSpPr/>
          <p:nvPr/>
        </p:nvSpPr>
        <p:spPr>
          <a:xfrm>
            <a:off x="640080" y="1417320"/>
            <a:ext cx="3794760" cy="2651760"/>
          </a:xfrm>
          <a:prstGeom prst="rect">
            <a:avLst/>
          </a:prstGeom>
          <a:solidFill>
            <a:srgbClr val="171B20"/>
          </a:solidFill>
          <a:ln w="9525">
            <a:solidFill>
              <a:srgbClr val="2A3139"/>
            </a:solidFill>
            <a:prstDash val="solid"/>
          </a:ln>
        </p:spPr>
      </p:sp>
      <p:sp>
        <p:nvSpPr>
          <p:cNvPr id="6" name="Shape 4"/>
          <p:cNvSpPr/>
          <p:nvPr/>
        </p:nvSpPr>
        <p:spPr>
          <a:xfrm>
            <a:off x="4709160" y="1417320"/>
            <a:ext cx="3794760" cy="2651760"/>
          </a:xfrm>
          <a:prstGeom prst="rect">
            <a:avLst/>
          </a:prstGeom>
          <a:solidFill>
            <a:srgbClr val="171B20"/>
          </a:solidFill>
          <a:ln w="9525">
            <a:solidFill>
              <a:srgbClr val="2A3139"/>
            </a:solidFill>
            <a:prstDash val="solid"/>
          </a:ln>
        </p:spPr>
      </p:sp>
      <p:sp>
        <p:nvSpPr>
          <p:cNvPr id="7" name="Text 5"/>
          <p:cNvSpPr txBox="1"/>
          <p:nvPr/>
        </p:nvSpPr>
        <p:spPr>
          <a:xfrm>
            <a:off x="868680" y="1600200"/>
            <a:ext cx="3383280" cy="274320"/>
          </a:xfrm>
          <a:prstGeom prst="rect">
            <a:avLst/>
          </a:prstGeom>
          <a:noFill/>
          <a:ln/>
        </p:spPr>
        <p:txBody>
          <a:bodyPr wrap="square" lIns="0" tIns="0" rIns="0" bIns="0" rtlCol="0" anchor="ctr"/>
          <a:lstStyle/>
          <a:p>
            <a:pPr indent="0" marL="0">
              <a:buNone/>
            </a:pPr>
            <a:r>
              <a:rPr lang="en-US" sz="1000" dirty="0">
                <a:solidFill>
                  <a:srgbClr val="F05A55"/>
                </a:solidFill>
                <a:latin typeface="Consolas" pitchFamily="34" charset="0"/>
                <a:ea typeface="Consolas" pitchFamily="34" charset="-122"/>
                <a:cs typeface="Consolas" pitchFamily="34" charset="-120"/>
              </a:rPr>
              <a:t>PLAY</a:t>
            </a:r>
            <a:endParaRPr lang="en-US" sz="1000" dirty="0"/>
          </a:p>
        </p:txBody>
      </p:sp>
      <p:sp>
        <p:nvSpPr>
          <p:cNvPr id="8" name="Text 6"/>
          <p:cNvSpPr txBox="1"/>
          <p:nvPr/>
        </p:nvSpPr>
        <p:spPr>
          <a:xfrm>
            <a:off x="4937760" y="1600200"/>
            <a:ext cx="3383280" cy="274320"/>
          </a:xfrm>
          <a:prstGeom prst="rect">
            <a:avLst/>
          </a:prstGeom>
          <a:noFill/>
          <a:ln/>
        </p:spPr>
        <p:txBody>
          <a:bodyPr wrap="square" lIns="0" tIns="0" rIns="0" bIns="0" rtlCol="0" anchor="ctr"/>
          <a:lstStyle/>
          <a:p>
            <a:pPr indent="0" marL="0">
              <a:buNone/>
            </a:pPr>
            <a:r>
              <a:rPr lang="en-US" sz="1000" dirty="0">
                <a:solidFill>
                  <a:srgbClr val="8E98A3"/>
                </a:solidFill>
                <a:latin typeface="Consolas" pitchFamily="34" charset="0"/>
                <a:ea typeface="Consolas" pitchFamily="34" charset="-122"/>
                <a:cs typeface="Consolas" pitchFamily="34" charset="-120"/>
              </a:rPr>
              <a:t>DON'T PLAY</a:t>
            </a:r>
            <a:endParaRPr lang="en-US" sz="1000" dirty="0"/>
          </a:p>
        </p:txBody>
      </p:sp>
      <p:sp>
        <p:nvSpPr>
          <p:cNvPr id="9" name="Text 7"/>
          <p:cNvSpPr txBox="1"/>
          <p:nvPr/>
        </p:nvSpPr>
        <p:spPr>
          <a:xfrm>
            <a:off x="868680" y="1965960"/>
            <a:ext cx="3383280" cy="19202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F2F4F6"/>
                </a:solidFill>
                <a:latin typeface="Segoe UI" pitchFamily="34" charset="0"/>
                <a:ea typeface="Segoe UI" pitchFamily="34" charset="-122"/>
                <a:cs typeface="Segoe UI" pitchFamily="34" charset="-120"/>
              </a:rPr>
              <a:t>Inside someone else's platform, chosen at design freeze</a:t>
            </a:r>
            <a:endParaRPr lang="en-US" sz="1250" dirty="0"/>
          </a:p>
          <a:p>
            <a:pPr marL="342900" indent="-342900">
              <a:spcAft>
                <a:spcPts val="800"/>
              </a:spcAft>
              <a:buSzPct val="100000"/>
              <a:buChar char="•"/>
            </a:pPr>
            <a:r>
              <a:rPr lang="en-US" sz="1250" dirty="0">
                <a:solidFill>
                  <a:srgbClr val="F2F4F6"/>
                </a:solidFill>
                <a:latin typeface="Segoe UI" pitchFamily="34" charset="0"/>
                <a:ea typeface="Segoe UI" pitchFamily="34" charset="-122"/>
                <a:cs typeface="Segoe UI" pitchFamily="34" charset="-120"/>
              </a:rPr>
              <a:t>New-volume sockets: strike, interceptors, UGVs</a:t>
            </a:r>
            <a:endParaRPr lang="en-US" sz="1250" dirty="0"/>
          </a:p>
          <a:p>
            <a:pPr marL="342900" indent="-342900">
              <a:spcAft>
                <a:spcPts val="800"/>
              </a:spcAft>
              <a:buSzPct val="100000"/>
              <a:buChar char="•"/>
            </a:pPr>
            <a:r>
              <a:rPr lang="en-US" sz="1250" dirty="0">
                <a:solidFill>
                  <a:srgbClr val="F2F4F6"/>
                </a:solidFill>
                <a:latin typeface="Segoe UI" pitchFamily="34" charset="0"/>
                <a:ea typeface="Segoe UI" pitchFamily="34" charset="-122"/>
                <a:cs typeface="Segoe UI" pitchFamily="34" charset="-120"/>
              </a:rPr>
              <a:t>Private-label partners who put the radio in their product</a:t>
            </a:r>
            <a:endParaRPr lang="en-US" sz="1250" dirty="0"/>
          </a:p>
        </p:txBody>
      </p:sp>
      <p:sp>
        <p:nvSpPr>
          <p:cNvPr id="10" name="Text 8"/>
          <p:cNvSpPr txBox="1"/>
          <p:nvPr/>
        </p:nvSpPr>
        <p:spPr>
          <a:xfrm>
            <a:off x="4937760" y="1965960"/>
            <a:ext cx="3383280" cy="19202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C9CED4"/>
                </a:solidFill>
                <a:latin typeface="Segoe UI" pitchFamily="34" charset="0"/>
                <a:ea typeface="Segoe UI" pitchFamily="34" charset="-122"/>
                <a:cs typeface="Segoe UI" pitchFamily="34" charset="-120"/>
              </a:rPr>
              <a:t>The tactical radio in a soldier's hand</a:t>
            </a:r>
            <a:endParaRPr lang="en-US" sz="1250" dirty="0"/>
          </a:p>
          <a:p>
            <a:pPr marL="342900" indent="-342900">
              <a:spcAft>
                <a:spcPts val="800"/>
              </a:spcAft>
              <a:buSzPct val="100000"/>
              <a:buChar char="•"/>
            </a:pPr>
            <a:r>
              <a:rPr lang="en-US" sz="1250" dirty="0">
                <a:solidFill>
                  <a:srgbClr val="C9CED4"/>
                </a:solidFill>
                <a:latin typeface="Segoe UI" pitchFamily="34" charset="0"/>
                <a:ea typeface="Segoe UI" pitchFamily="34" charset="-122"/>
                <a:cs typeface="Segoe UI" pitchFamily="34" charset="-120"/>
              </a:rPr>
              <a:t>Captive architectures — primes that build their own radios</a:t>
            </a:r>
            <a:endParaRPr lang="en-US" sz="1250" dirty="0"/>
          </a:p>
          <a:p>
            <a:pPr marL="342900" indent="-342900">
              <a:spcAft>
                <a:spcPts val="800"/>
              </a:spcAft>
              <a:buSzPct val="100000"/>
              <a:buChar char="•"/>
            </a:pPr>
            <a:r>
              <a:rPr lang="en-US" sz="1250" dirty="0">
                <a:solidFill>
                  <a:srgbClr val="C9CED4"/>
                </a:solidFill>
                <a:latin typeface="Segoe UI" pitchFamily="34" charset="0"/>
                <a:ea typeface="Segoe UI" pitchFamily="34" charset="-122"/>
                <a:cs typeface="Segoe UI" pitchFamily="34" charset="-120"/>
              </a:rPr>
              <a:t>European sovereignty — we can't sell a flag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D10"/>
        </a:solidFill>
      </p:bgPr>
    </p:bg>
    <p:spTree>
      <p:nvGrpSpPr>
        <p:cNvPr id="1" name=""/>
        <p:cNvGrpSpPr/>
        <p:nvPr/>
      </p:nvGrpSpPr>
      <p:grpSpPr>
        <a:xfrm>
          <a:off x="0" y="0"/>
          <a:ext cx="0" cy="0"/>
          <a:chOff x="0" y="0"/>
          <a:chExt cx="0" cy="0"/>
        </a:xfrm>
      </p:grpSpPr>
      <p:sp>
        <p:nvSpPr>
          <p:cNvPr id="2" name="Text 0"/>
          <p:cNvSpPr txBox="1"/>
          <p:nvPr/>
        </p:nvSpPr>
        <p:spPr>
          <a:xfrm>
            <a:off x="640080" y="384048"/>
            <a:ext cx="7863840" cy="228600"/>
          </a:xfrm>
          <a:prstGeom prst="rect">
            <a:avLst/>
          </a:prstGeom>
          <a:noFill/>
          <a:ln/>
        </p:spPr>
        <p:txBody>
          <a:bodyPr wrap="square" lIns="0" tIns="0" rIns="0" bIns="0" rtlCol="0" anchor="ctr"/>
          <a:lstStyle/>
          <a:p>
            <a:pPr indent="0" marL="0">
              <a:buNone/>
            </a:pPr>
            <a:r>
              <a:rPr lang="en-US" sz="950" spc="100" kern="0" dirty="0">
                <a:solidFill>
                  <a:srgbClr val="8E98A3"/>
                </a:solidFill>
                <a:latin typeface="Consolas" pitchFamily="34" charset="0"/>
                <a:ea typeface="Consolas" pitchFamily="34" charset="-122"/>
                <a:cs typeface="Consolas" pitchFamily="34" charset="-120"/>
              </a:rPr>
              <a:t>2 · NEW TERRITORY</a:t>
            </a:r>
            <a:endParaRPr lang="en-US" sz="950" dirty="0"/>
          </a:p>
        </p:txBody>
      </p:sp>
      <p:sp>
        <p:nvSpPr>
          <p:cNvPr id="3" name="Text 1"/>
          <p:cNvSpPr txBox="1"/>
          <p:nvPr/>
        </p:nvSpPr>
        <p:spPr>
          <a:xfrm>
            <a:off x="640080" y="658368"/>
            <a:ext cx="7863840" cy="566928"/>
          </a:xfrm>
          <a:prstGeom prst="rect">
            <a:avLst/>
          </a:prstGeom>
          <a:noFill/>
          <a:ln/>
        </p:spPr>
        <p:txBody>
          <a:bodyPr wrap="square" lIns="0" tIns="0" rIns="0" bIns="0" rtlCol="0" anchor="t"/>
          <a:lstStyle/>
          <a:p>
            <a:pPr indent="0" marL="0">
              <a:buNone/>
            </a:pPr>
            <a:r>
              <a:rPr lang="en-US" sz="2200" b="1" dirty="0">
                <a:solidFill>
                  <a:srgbClr val="F2F4F6"/>
                </a:solidFill>
                <a:latin typeface="Segoe UI" pitchFamily="34" charset="0"/>
                <a:ea typeface="Segoe UI" pitchFamily="34" charset="-122"/>
                <a:cs typeface="Segoe UI" pitchFamily="34" charset="-120"/>
              </a:rPr>
              <a:t>Sell to a socket, through the cheapest door first</a:t>
            </a:r>
            <a:endParaRPr lang="en-US" sz="2200" dirty="0"/>
          </a:p>
        </p:txBody>
      </p:sp>
      <p:sp>
        <p:nvSpPr>
          <p:cNvPr id="4" name="Text 2"/>
          <p:cNvSpPr txBox="1"/>
          <p:nvPr/>
        </p:nvSpPr>
        <p:spPr>
          <a:xfrm>
            <a:off x="640080" y="4590288"/>
            <a:ext cx="7863840" cy="256032"/>
          </a:xfrm>
          <a:prstGeom prst="rect">
            <a:avLst/>
          </a:prstGeom>
          <a:noFill/>
          <a:ln/>
        </p:spPr>
        <p:txBody>
          <a:bodyPr wrap="square" lIns="0" tIns="0" rIns="0" bIns="0" rtlCol="0" anchor="ctr"/>
          <a:lstStyle/>
          <a:p>
            <a:pPr indent="0" marL="0">
              <a:buNone/>
            </a:pPr>
            <a:r>
              <a:rPr lang="en-US" sz="950" dirty="0">
                <a:solidFill>
                  <a:srgbClr val="F05A55"/>
                </a:solidFill>
                <a:latin typeface="Segoe UI" pitchFamily="34" charset="0"/>
                <a:ea typeface="Segoe UI" pitchFamily="34" charset="-122"/>
                <a:cs typeface="Segoe UI" pitchFamily="34" charset="-120"/>
              </a:rPr>
              <a:t>Adding a fourth option to a shortlist is a smaller ask than displacing a sole source. Displacement comes last.</a:t>
            </a:r>
            <a:endParaRPr lang="en-US" sz="950" dirty="0"/>
          </a:p>
        </p:txBody>
      </p:sp>
      <p:sp>
        <p:nvSpPr>
          <p:cNvPr id="5" name="Shape 3"/>
          <p:cNvSpPr/>
          <p:nvPr/>
        </p:nvSpPr>
        <p:spPr>
          <a:xfrm>
            <a:off x="640080" y="1417320"/>
            <a:ext cx="2468880" cy="2331720"/>
          </a:xfrm>
          <a:prstGeom prst="rect">
            <a:avLst/>
          </a:prstGeom>
          <a:solidFill>
            <a:srgbClr val="171B20"/>
          </a:solidFill>
          <a:ln w="9525">
            <a:solidFill>
              <a:srgbClr val="2A3139"/>
            </a:solidFill>
            <a:prstDash val="solid"/>
          </a:ln>
        </p:spPr>
      </p:sp>
      <p:sp>
        <p:nvSpPr>
          <p:cNvPr id="6" name="Text 4"/>
          <p:cNvSpPr txBox="1"/>
          <p:nvPr/>
        </p:nvSpPr>
        <p:spPr>
          <a:xfrm>
            <a:off x="822960" y="1554480"/>
            <a:ext cx="2103120" cy="228600"/>
          </a:xfrm>
          <a:prstGeom prst="rect">
            <a:avLst/>
          </a:prstGeom>
          <a:noFill/>
          <a:ln/>
        </p:spPr>
        <p:txBody>
          <a:bodyPr wrap="square" lIns="0" tIns="0" rIns="0" bIns="0" rtlCol="0" anchor="ctr"/>
          <a:lstStyle/>
          <a:p>
            <a:pPr indent="0" marL="0">
              <a:buNone/>
            </a:pPr>
            <a:r>
              <a:rPr lang="en-US" sz="950" dirty="0">
                <a:solidFill>
                  <a:srgbClr val="8E98A3"/>
                </a:solidFill>
                <a:latin typeface="Consolas" pitchFamily="34" charset="0"/>
                <a:ea typeface="Consolas" pitchFamily="34" charset="-122"/>
                <a:cs typeface="Consolas" pitchFamily="34" charset="-120"/>
              </a:rPr>
              <a:t>DOOR 1</a:t>
            </a:r>
            <a:endParaRPr lang="en-US" sz="950" dirty="0"/>
          </a:p>
        </p:txBody>
      </p:sp>
      <p:sp>
        <p:nvSpPr>
          <p:cNvPr id="7" name="Text 5"/>
          <p:cNvSpPr txBox="1"/>
          <p:nvPr/>
        </p:nvSpPr>
        <p:spPr>
          <a:xfrm>
            <a:off x="822960" y="1783080"/>
            <a:ext cx="2103120" cy="640080"/>
          </a:xfrm>
          <a:prstGeom prst="rect">
            <a:avLst/>
          </a:prstGeom>
          <a:noFill/>
          <a:ln/>
        </p:spPr>
        <p:txBody>
          <a:bodyPr wrap="square" lIns="0" tIns="0" rIns="0" bIns="0" rtlCol="0" anchor="ctr"/>
          <a:lstStyle/>
          <a:p>
            <a:pPr indent="0" marL="0">
              <a:buNone/>
            </a:pPr>
            <a:r>
              <a:rPr lang="en-US" sz="3600" b="1" dirty="0">
                <a:solidFill>
                  <a:srgbClr val="F05A55"/>
                </a:solidFill>
                <a:latin typeface="Segoe UI" pitchFamily="34" charset="0"/>
                <a:ea typeface="Segoe UI" pitchFamily="34" charset="-122"/>
                <a:cs typeface="Segoe UI" pitchFamily="34" charset="-120"/>
              </a:rPr>
              <a:t>5</a:t>
            </a:r>
            <a:endParaRPr lang="en-US" sz="3600" dirty="0"/>
          </a:p>
        </p:txBody>
      </p:sp>
      <p:sp>
        <p:nvSpPr>
          <p:cNvPr id="8" name="Text 6"/>
          <p:cNvSpPr txBox="1"/>
          <p:nvPr/>
        </p:nvSpPr>
        <p:spPr>
          <a:xfrm>
            <a:off x="822960" y="2468880"/>
            <a:ext cx="2103120" cy="502920"/>
          </a:xfrm>
          <a:prstGeom prst="rect">
            <a:avLst/>
          </a:prstGeom>
          <a:noFill/>
          <a:ln/>
        </p:spPr>
        <p:txBody>
          <a:bodyPr wrap="square" lIns="0" tIns="0" rIns="0" bIns="0" rtlCol="0" anchor="t"/>
          <a:lstStyle/>
          <a:p>
            <a:pPr indent="0" marL="0">
              <a:buNone/>
            </a:pPr>
            <a:r>
              <a:rPr lang="en-US" sz="1150" dirty="0">
                <a:solidFill>
                  <a:srgbClr val="C9CED4"/>
                </a:solidFill>
                <a:latin typeface="Segoe UI" pitchFamily="34" charset="0"/>
                <a:ea typeface="Segoe UI" pitchFamily="34" charset="-122"/>
                <a:cs typeface="Segoe UI" pitchFamily="34" charset="-120"/>
              </a:rPr>
              <a:t>companies name Doodle on their own site</a:t>
            </a:r>
            <a:endParaRPr lang="en-US" sz="1150" dirty="0"/>
          </a:p>
        </p:txBody>
      </p:sp>
      <p:sp>
        <p:nvSpPr>
          <p:cNvPr id="9" name="Text 7"/>
          <p:cNvSpPr txBox="1"/>
          <p:nvPr/>
        </p:nvSpPr>
        <p:spPr>
          <a:xfrm>
            <a:off x="822960" y="3063240"/>
            <a:ext cx="2103120" cy="548640"/>
          </a:xfrm>
          <a:prstGeom prst="rect">
            <a:avLst/>
          </a:prstGeom>
          <a:noFill/>
          <a:ln/>
        </p:spPr>
        <p:txBody>
          <a:bodyPr wrap="square" lIns="0" tIns="0" rIns="0" bIns="0" rtlCol="0" anchor="t"/>
          <a:lstStyle/>
          <a:p>
            <a:pPr indent="0" marL="0">
              <a:buNone/>
            </a:pPr>
            <a:r>
              <a:rPr lang="en-US" sz="1150" b="1" dirty="0">
                <a:solidFill>
                  <a:srgbClr val="F2F4F6"/>
                </a:solidFill>
                <a:latin typeface="Segoe UI" pitchFamily="34" charset="0"/>
                <a:ea typeface="Segoe UI" pitchFamily="34" charset="-122"/>
                <a:cs typeface="Segoe UI" pitchFamily="34" charset="-120"/>
              </a:rPr>
              <a:t>Expand: ask what they design next</a:t>
            </a:r>
            <a:endParaRPr lang="en-US" sz="1150" dirty="0"/>
          </a:p>
        </p:txBody>
      </p:sp>
      <p:sp>
        <p:nvSpPr>
          <p:cNvPr id="10" name="Shape 8"/>
          <p:cNvSpPr/>
          <p:nvPr/>
        </p:nvSpPr>
        <p:spPr>
          <a:xfrm>
            <a:off x="3337560" y="1417320"/>
            <a:ext cx="2468880" cy="2331720"/>
          </a:xfrm>
          <a:prstGeom prst="rect">
            <a:avLst/>
          </a:prstGeom>
          <a:solidFill>
            <a:srgbClr val="171B20"/>
          </a:solidFill>
          <a:ln w="9525">
            <a:solidFill>
              <a:srgbClr val="2A3139"/>
            </a:solidFill>
            <a:prstDash val="solid"/>
          </a:ln>
        </p:spPr>
      </p:sp>
      <p:sp>
        <p:nvSpPr>
          <p:cNvPr id="11" name="Text 9"/>
          <p:cNvSpPr txBox="1"/>
          <p:nvPr/>
        </p:nvSpPr>
        <p:spPr>
          <a:xfrm>
            <a:off x="3520440" y="1554480"/>
            <a:ext cx="2103120" cy="228600"/>
          </a:xfrm>
          <a:prstGeom prst="rect">
            <a:avLst/>
          </a:prstGeom>
          <a:noFill/>
          <a:ln/>
        </p:spPr>
        <p:txBody>
          <a:bodyPr wrap="square" lIns="0" tIns="0" rIns="0" bIns="0" rtlCol="0" anchor="ctr"/>
          <a:lstStyle/>
          <a:p>
            <a:pPr indent="0" marL="0">
              <a:buNone/>
            </a:pPr>
            <a:r>
              <a:rPr lang="en-US" sz="950" dirty="0">
                <a:solidFill>
                  <a:srgbClr val="8E98A3"/>
                </a:solidFill>
                <a:latin typeface="Consolas" pitchFamily="34" charset="0"/>
                <a:ea typeface="Consolas" pitchFamily="34" charset="-122"/>
                <a:cs typeface="Consolas" pitchFamily="34" charset="-120"/>
              </a:rPr>
              <a:t>DOOR 2</a:t>
            </a:r>
            <a:endParaRPr lang="en-US" sz="950" dirty="0"/>
          </a:p>
        </p:txBody>
      </p:sp>
      <p:sp>
        <p:nvSpPr>
          <p:cNvPr id="12" name="Text 10"/>
          <p:cNvSpPr txBox="1"/>
          <p:nvPr/>
        </p:nvSpPr>
        <p:spPr>
          <a:xfrm>
            <a:off x="3520440" y="1783080"/>
            <a:ext cx="2103120" cy="640080"/>
          </a:xfrm>
          <a:prstGeom prst="rect">
            <a:avLst/>
          </a:prstGeom>
          <a:noFill/>
          <a:ln/>
        </p:spPr>
        <p:txBody>
          <a:bodyPr wrap="square" lIns="0" tIns="0" rIns="0" bIns="0" rtlCol="0" anchor="ctr"/>
          <a:lstStyle/>
          <a:p>
            <a:pPr indent="0" marL="0">
              <a:buNone/>
            </a:pPr>
            <a:r>
              <a:rPr lang="en-US" sz="3600" b="1" dirty="0">
                <a:solidFill>
                  <a:srgbClr val="F2F4F6"/>
                </a:solidFill>
                <a:latin typeface="Segoe UI" pitchFamily="34" charset="0"/>
                <a:ea typeface="Segoe UI" pitchFamily="34" charset="-122"/>
                <a:cs typeface="Segoe UI" pitchFamily="34" charset="-120"/>
              </a:rPr>
              <a:t>177</a:t>
            </a:r>
            <a:endParaRPr lang="en-US" sz="3600" dirty="0"/>
          </a:p>
        </p:txBody>
      </p:sp>
      <p:sp>
        <p:nvSpPr>
          <p:cNvPr id="13" name="Text 11"/>
          <p:cNvSpPr txBox="1"/>
          <p:nvPr/>
        </p:nvSpPr>
        <p:spPr>
          <a:xfrm>
            <a:off x="3520440" y="2468880"/>
            <a:ext cx="2103120" cy="502920"/>
          </a:xfrm>
          <a:prstGeom prst="rect">
            <a:avLst/>
          </a:prstGeom>
          <a:noFill/>
          <a:ln/>
        </p:spPr>
        <p:txBody>
          <a:bodyPr wrap="square" lIns="0" tIns="0" rIns="0" bIns="0" rtlCol="0" anchor="t"/>
          <a:lstStyle/>
          <a:p>
            <a:pPr indent="0" marL="0">
              <a:buNone/>
            </a:pPr>
            <a:r>
              <a:rPr lang="en-US" sz="1150" dirty="0">
                <a:solidFill>
                  <a:srgbClr val="C9CED4"/>
                </a:solidFill>
                <a:latin typeface="Segoe UI" pitchFamily="34" charset="0"/>
                <a:ea typeface="Segoe UI" pitchFamily="34" charset="-122"/>
                <a:cs typeface="Segoe UI" pitchFamily="34" charset="-120"/>
              </a:rPr>
              <a:t>platforms publish no radio</a:t>
            </a:r>
            <a:endParaRPr lang="en-US" sz="1150" dirty="0"/>
          </a:p>
        </p:txBody>
      </p:sp>
      <p:sp>
        <p:nvSpPr>
          <p:cNvPr id="14" name="Text 12"/>
          <p:cNvSpPr txBox="1"/>
          <p:nvPr/>
        </p:nvSpPr>
        <p:spPr>
          <a:xfrm>
            <a:off x="3520440" y="3063240"/>
            <a:ext cx="2103120" cy="548640"/>
          </a:xfrm>
          <a:prstGeom prst="rect">
            <a:avLst/>
          </a:prstGeom>
          <a:noFill/>
          <a:ln/>
        </p:spPr>
        <p:txBody>
          <a:bodyPr wrap="square" lIns="0" tIns="0" rIns="0" bIns="0" rtlCol="0" anchor="t"/>
          <a:lstStyle/>
          <a:p>
            <a:pPr indent="0" marL="0">
              <a:buNone/>
            </a:pPr>
            <a:r>
              <a:rPr lang="en-US" sz="1150" b="1" dirty="0">
                <a:solidFill>
                  <a:srgbClr val="F2F4F6"/>
                </a:solidFill>
                <a:latin typeface="Segoe UI" pitchFamily="34" charset="0"/>
                <a:ea typeface="Segoe UI" pitchFamily="34" charset="-122"/>
                <a:cs typeface="Segoe UI" pitchFamily="34" charset="-120"/>
              </a:rPr>
              <a:t>Discover: is the decision still open?</a:t>
            </a:r>
            <a:endParaRPr lang="en-US" sz="1150" dirty="0"/>
          </a:p>
        </p:txBody>
      </p:sp>
      <p:sp>
        <p:nvSpPr>
          <p:cNvPr id="15" name="Shape 13"/>
          <p:cNvSpPr/>
          <p:nvPr/>
        </p:nvSpPr>
        <p:spPr>
          <a:xfrm>
            <a:off x="6035040" y="1417320"/>
            <a:ext cx="2468880" cy="2331720"/>
          </a:xfrm>
          <a:prstGeom prst="rect">
            <a:avLst/>
          </a:prstGeom>
          <a:solidFill>
            <a:srgbClr val="171B20"/>
          </a:solidFill>
          <a:ln w="9525">
            <a:solidFill>
              <a:srgbClr val="2A3139"/>
            </a:solidFill>
            <a:prstDash val="solid"/>
          </a:ln>
        </p:spPr>
      </p:sp>
      <p:sp>
        <p:nvSpPr>
          <p:cNvPr id="16" name="Text 14"/>
          <p:cNvSpPr txBox="1"/>
          <p:nvPr/>
        </p:nvSpPr>
        <p:spPr>
          <a:xfrm>
            <a:off x="6217920" y="1554480"/>
            <a:ext cx="2103120" cy="228600"/>
          </a:xfrm>
          <a:prstGeom prst="rect">
            <a:avLst/>
          </a:prstGeom>
          <a:noFill/>
          <a:ln/>
        </p:spPr>
        <p:txBody>
          <a:bodyPr wrap="square" lIns="0" tIns="0" rIns="0" bIns="0" rtlCol="0" anchor="ctr"/>
          <a:lstStyle/>
          <a:p>
            <a:pPr indent="0" marL="0">
              <a:buNone/>
            </a:pPr>
            <a:r>
              <a:rPr lang="en-US" sz="950" dirty="0">
                <a:solidFill>
                  <a:srgbClr val="8E98A3"/>
                </a:solidFill>
                <a:latin typeface="Consolas" pitchFamily="34" charset="0"/>
                <a:ea typeface="Consolas" pitchFamily="34" charset="-122"/>
                <a:cs typeface="Consolas" pitchFamily="34" charset="-120"/>
              </a:rPr>
              <a:t>DOOR 3</a:t>
            </a:r>
            <a:endParaRPr lang="en-US" sz="950" dirty="0"/>
          </a:p>
        </p:txBody>
      </p:sp>
      <p:sp>
        <p:nvSpPr>
          <p:cNvPr id="17" name="Text 15"/>
          <p:cNvSpPr txBox="1"/>
          <p:nvPr/>
        </p:nvSpPr>
        <p:spPr>
          <a:xfrm>
            <a:off x="6217920" y="1783080"/>
            <a:ext cx="2103120" cy="640080"/>
          </a:xfrm>
          <a:prstGeom prst="rect">
            <a:avLst/>
          </a:prstGeom>
          <a:noFill/>
          <a:ln/>
        </p:spPr>
        <p:txBody>
          <a:bodyPr wrap="square" lIns="0" tIns="0" rIns="0" bIns="0" rtlCol="0" anchor="ctr"/>
          <a:lstStyle/>
          <a:p>
            <a:pPr indent="0" marL="0">
              <a:buNone/>
            </a:pPr>
            <a:r>
              <a:rPr lang="en-US" sz="3600" b="1" dirty="0">
                <a:solidFill>
                  <a:srgbClr val="F2F4F6"/>
                </a:solidFill>
                <a:latin typeface="Segoe UI" pitchFamily="34" charset="0"/>
                <a:ea typeface="Segoe UI" pitchFamily="34" charset="-122"/>
                <a:cs typeface="Segoe UI" pitchFamily="34" charset="-120"/>
              </a:rPr>
              <a:t>15</a:t>
            </a:r>
            <a:endParaRPr lang="en-US" sz="3600" dirty="0"/>
          </a:p>
        </p:txBody>
      </p:sp>
      <p:sp>
        <p:nvSpPr>
          <p:cNvPr id="18" name="Text 16"/>
          <p:cNvSpPr txBox="1"/>
          <p:nvPr/>
        </p:nvSpPr>
        <p:spPr>
          <a:xfrm>
            <a:off x="6217920" y="2468880"/>
            <a:ext cx="2103120" cy="502920"/>
          </a:xfrm>
          <a:prstGeom prst="rect">
            <a:avLst/>
          </a:prstGeom>
          <a:noFill/>
          <a:ln/>
        </p:spPr>
        <p:txBody>
          <a:bodyPr wrap="square" lIns="0" tIns="0" rIns="0" bIns="0" rtlCol="0" anchor="t"/>
          <a:lstStyle/>
          <a:p>
            <a:pPr indent="0" marL="0">
              <a:buNone/>
            </a:pPr>
            <a:r>
              <a:rPr lang="en-US" sz="1150" dirty="0">
                <a:solidFill>
                  <a:srgbClr val="C9CED4"/>
                </a:solidFill>
                <a:latin typeface="Segoe UI" pitchFamily="34" charset="0"/>
                <a:ea typeface="Segoe UI" pitchFamily="34" charset="-122"/>
                <a:cs typeface="Segoe UI" pitchFamily="34" charset="-120"/>
              </a:rPr>
              <a:t>companies name Silvus publicly</a:t>
            </a:r>
            <a:endParaRPr lang="en-US" sz="1150" dirty="0"/>
          </a:p>
        </p:txBody>
      </p:sp>
      <p:sp>
        <p:nvSpPr>
          <p:cNvPr id="19" name="Text 17"/>
          <p:cNvSpPr txBox="1"/>
          <p:nvPr/>
        </p:nvSpPr>
        <p:spPr>
          <a:xfrm>
            <a:off x="6217920" y="3063240"/>
            <a:ext cx="2103120" cy="548640"/>
          </a:xfrm>
          <a:prstGeom prst="rect">
            <a:avLst/>
          </a:prstGeom>
          <a:noFill/>
          <a:ln/>
        </p:spPr>
        <p:txBody>
          <a:bodyPr wrap="square" lIns="0" tIns="0" rIns="0" bIns="0" rtlCol="0" anchor="t"/>
          <a:lstStyle/>
          <a:p>
            <a:pPr indent="0" marL="0">
              <a:buNone/>
            </a:pPr>
            <a:r>
              <a:rPr lang="en-US" sz="1150" b="1" dirty="0">
                <a:solidFill>
                  <a:srgbClr val="F2F4F6"/>
                </a:solidFill>
                <a:latin typeface="Segoe UI" pitchFamily="34" charset="0"/>
                <a:ea typeface="Segoe UI" pitchFamily="34" charset="-122"/>
                <a:cs typeface="Segoe UI" pitchFamily="34" charset="-120"/>
              </a:rPr>
              <a:t>Second source: once we have proof</a:t>
            </a:r>
            <a:endParaRPr lang="en-US" sz="1150" dirty="0"/>
          </a:p>
        </p:txBody>
      </p:sp>
      <p:sp>
        <p:nvSpPr>
          <p:cNvPr id="20" name="Text 18"/>
          <p:cNvSpPr txBox="1"/>
          <p:nvPr/>
        </p:nvSpPr>
        <p:spPr>
          <a:xfrm>
            <a:off x="640080" y="3931920"/>
            <a:ext cx="7863840" cy="457200"/>
          </a:xfrm>
          <a:prstGeom prst="rect">
            <a:avLst/>
          </a:prstGeom>
          <a:noFill/>
          <a:ln/>
        </p:spPr>
        <p:txBody>
          <a:bodyPr wrap="square" lIns="0" tIns="0" rIns="0" bIns="0" rtlCol="0" anchor="ctr"/>
          <a:lstStyle/>
          <a:p>
            <a:pPr indent="0" marL="0">
              <a:buNone/>
            </a:pPr>
            <a:r>
              <a:rPr lang="en-US" sz="1150" i="1" dirty="0">
                <a:solidFill>
                  <a:srgbClr val="8E98A3"/>
                </a:solidFill>
                <a:latin typeface="Segoe UI" pitchFamily="34" charset="0"/>
                <a:ea typeface="Segoe UI" pitchFamily="34" charset="-122"/>
                <a:cs typeface="Segoe UI" pitchFamily="34" charset="-120"/>
              </a:rPr>
              <a:t>Proof = an eval kit in an engineer's hands and a number he measured. Credibility = a local reference who already holds the relationship.</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10"/>
        </a:solidFill>
      </p:bgPr>
    </p:bg>
    <p:spTree>
      <p:nvGrpSpPr>
        <p:cNvPr id="1" name=""/>
        <p:cNvGrpSpPr/>
        <p:nvPr/>
      </p:nvGrpSpPr>
      <p:grpSpPr>
        <a:xfrm>
          <a:off x="0" y="0"/>
          <a:ext cx="0" cy="0"/>
          <a:chOff x="0" y="0"/>
          <a:chExt cx="0" cy="0"/>
        </a:xfrm>
      </p:grpSpPr>
      <p:sp>
        <p:nvSpPr>
          <p:cNvPr id="2" name="Text 0"/>
          <p:cNvSpPr txBox="1"/>
          <p:nvPr/>
        </p:nvSpPr>
        <p:spPr>
          <a:xfrm>
            <a:off x="640080" y="384048"/>
            <a:ext cx="7863840" cy="228600"/>
          </a:xfrm>
          <a:prstGeom prst="rect">
            <a:avLst/>
          </a:prstGeom>
          <a:noFill/>
          <a:ln/>
        </p:spPr>
        <p:txBody>
          <a:bodyPr wrap="square" lIns="0" tIns="0" rIns="0" bIns="0" rtlCol="0" anchor="ctr"/>
          <a:lstStyle/>
          <a:p>
            <a:pPr indent="0" marL="0">
              <a:buNone/>
            </a:pPr>
            <a:r>
              <a:rPr lang="en-US" sz="950" spc="100" kern="0" dirty="0">
                <a:solidFill>
                  <a:srgbClr val="8E98A3"/>
                </a:solidFill>
                <a:latin typeface="Consolas" pitchFamily="34" charset="0"/>
                <a:ea typeface="Consolas" pitchFamily="34" charset="-122"/>
                <a:cs typeface="Consolas" pitchFamily="34" charset="-120"/>
              </a:rPr>
              <a:t>2 · NEW TERRITORY</a:t>
            </a:r>
            <a:endParaRPr lang="en-US" sz="950" dirty="0"/>
          </a:p>
        </p:txBody>
      </p:sp>
      <p:sp>
        <p:nvSpPr>
          <p:cNvPr id="3" name="Text 1"/>
          <p:cNvSpPr txBox="1"/>
          <p:nvPr/>
        </p:nvSpPr>
        <p:spPr>
          <a:xfrm>
            <a:off x="640080" y="658368"/>
            <a:ext cx="7863840" cy="566928"/>
          </a:xfrm>
          <a:prstGeom prst="rect">
            <a:avLst/>
          </a:prstGeom>
          <a:noFill/>
          <a:ln/>
        </p:spPr>
        <p:txBody>
          <a:bodyPr wrap="square" lIns="0" tIns="0" rIns="0" bIns="0" rtlCol="0" anchor="t"/>
          <a:lstStyle/>
          <a:p>
            <a:pPr indent="0" marL="0">
              <a:buNone/>
            </a:pPr>
            <a:r>
              <a:rPr lang="en-US" sz="2200" b="1" dirty="0">
                <a:solidFill>
                  <a:srgbClr val="F2F4F6"/>
                </a:solidFill>
                <a:latin typeface="Segoe UI" pitchFamily="34" charset="0"/>
                <a:ea typeface="Segoe UI" pitchFamily="34" charset="-122"/>
                <a:cs typeface="Segoe UI" pitchFamily="34" charset="-120"/>
              </a:rPr>
              <a:t>Cover Europe by account value, not by border</a:t>
            </a:r>
            <a:endParaRPr lang="en-US" sz="2200" dirty="0"/>
          </a:p>
        </p:txBody>
      </p:sp>
      <p:sp>
        <p:nvSpPr>
          <p:cNvPr id="4" name="Text 2"/>
          <p:cNvSpPr txBox="1"/>
          <p:nvPr/>
        </p:nvSpPr>
        <p:spPr>
          <a:xfrm>
            <a:off x="640080" y="4590288"/>
            <a:ext cx="7863840" cy="256032"/>
          </a:xfrm>
          <a:prstGeom prst="rect">
            <a:avLst/>
          </a:prstGeom>
          <a:noFill/>
          <a:ln/>
        </p:spPr>
        <p:txBody>
          <a:bodyPr wrap="square" lIns="0" tIns="0" rIns="0" bIns="0" rtlCol="0" anchor="ctr"/>
          <a:lstStyle/>
          <a:p>
            <a:pPr indent="0" marL="0">
              <a:buNone/>
            </a:pPr>
            <a:r>
              <a:rPr lang="en-US" sz="950" dirty="0">
                <a:solidFill>
                  <a:srgbClr val="F05A55"/>
                </a:solidFill>
                <a:latin typeface="Segoe UI" pitchFamily="34" charset="0"/>
                <a:ea typeface="Segoe UI" pitchFamily="34" charset="-122"/>
                <a:cs typeface="Segoe UI" pitchFamily="34" charset="-120"/>
              </a:rPr>
              <a:t>One design authority, one owner. Factories and regional support share the credit.</a:t>
            </a:r>
            <a:endParaRPr lang="en-US" sz="950" dirty="0"/>
          </a:p>
        </p:txBody>
      </p:sp>
      <p:sp>
        <p:nvSpPr>
          <p:cNvPr id="5" name="Shape 3"/>
          <p:cNvSpPr/>
          <p:nvPr/>
        </p:nvSpPr>
        <p:spPr>
          <a:xfrm>
            <a:off x="640080" y="1371600"/>
            <a:ext cx="5212080" cy="621792"/>
          </a:xfrm>
          <a:prstGeom prst="rect">
            <a:avLst/>
          </a:prstGeom>
          <a:solidFill>
            <a:srgbClr val="171B20"/>
          </a:solidFill>
          <a:ln w="9525">
            <a:solidFill>
              <a:srgbClr val="2A3139"/>
            </a:solidFill>
            <a:prstDash val="solid"/>
          </a:ln>
        </p:spPr>
      </p:sp>
      <p:sp>
        <p:nvSpPr>
          <p:cNvPr id="6" name="Text 4"/>
          <p:cNvSpPr txBox="1"/>
          <p:nvPr/>
        </p:nvSpPr>
        <p:spPr>
          <a:xfrm>
            <a:off x="822960" y="1371600"/>
            <a:ext cx="1737360" cy="621792"/>
          </a:xfrm>
          <a:prstGeom prst="rect">
            <a:avLst/>
          </a:prstGeom>
          <a:noFill/>
          <a:ln/>
        </p:spPr>
        <p:txBody>
          <a:bodyPr wrap="square" lIns="0" tIns="0" rIns="0" bIns="0" rtlCol="0" anchor="ctr"/>
          <a:lstStyle/>
          <a:p>
            <a:pPr indent="0" marL="0">
              <a:buNone/>
            </a:pPr>
            <a:r>
              <a:rPr lang="en-US" sz="900" dirty="0">
                <a:solidFill>
                  <a:srgbClr val="F05A55"/>
                </a:solidFill>
                <a:latin typeface="Consolas" pitchFamily="34" charset="0"/>
                <a:ea typeface="Consolas" pitchFamily="34" charset="-122"/>
                <a:cs typeface="Consolas" pitchFamily="34" charset="-120"/>
              </a:rPr>
              <a:t>CORE TERRITORY</a:t>
            </a:r>
            <a:endParaRPr lang="en-US" sz="900" dirty="0"/>
          </a:p>
        </p:txBody>
      </p:sp>
      <p:sp>
        <p:nvSpPr>
          <p:cNvPr id="7" name="Text 5"/>
          <p:cNvSpPr txBox="1"/>
          <p:nvPr/>
        </p:nvSpPr>
        <p:spPr>
          <a:xfrm>
            <a:off x="2560320" y="1371600"/>
            <a:ext cx="3200400" cy="621792"/>
          </a:xfrm>
          <a:prstGeom prst="rect">
            <a:avLst/>
          </a:prstGeom>
          <a:noFill/>
          <a:ln/>
        </p:spPr>
        <p:txBody>
          <a:bodyPr wrap="square" lIns="0" tIns="0" rIns="0" bIns="0" rtlCol="0" anchor="ctr"/>
          <a:lstStyle/>
          <a:p>
            <a:pPr indent="0" marL="0">
              <a:buNone/>
            </a:pPr>
            <a:r>
              <a:rPr lang="en-US" sz="1050" b="1" dirty="0">
                <a:solidFill>
                  <a:srgbClr val="F2F4F6"/>
                </a:solidFill>
                <a:latin typeface="Segoe UI" pitchFamily="34" charset="0"/>
                <a:ea typeface="Segoe UI" pitchFamily="34" charset="-122"/>
                <a:cs typeface="Segoe UI" pitchFamily="34" charset="-120"/>
              </a:rPr>
              <a:t>France · Italy · Spain · Portugal</a:t>
            </a:r>
            <a:endParaRPr lang="en-US" sz="1050" dirty="0"/>
          </a:p>
          <a:p>
            <a:pPr indent="0" marL="0">
              <a:buNone/>
            </a:pPr>
            <a:r>
              <a:rPr lang="en-US" sz="1050" dirty="0">
                <a:solidFill>
                  <a:srgbClr val="C9CED4"/>
                </a:solidFill>
                <a:latin typeface="Segoe UI" pitchFamily="34" charset="0"/>
                <a:ea typeface="Segoe UI" pitchFamily="34" charset="-122"/>
                <a:cs typeface="Segoe UI" pitchFamily="34" charset="-120"/>
              </a:rPr>
              <a:t>France anchors it: contracted volume today</a:t>
            </a:r>
            <a:endParaRPr lang="en-US" sz="1050" dirty="0"/>
          </a:p>
        </p:txBody>
      </p:sp>
      <p:sp>
        <p:nvSpPr>
          <p:cNvPr id="8" name="Shape 6"/>
          <p:cNvSpPr/>
          <p:nvPr/>
        </p:nvSpPr>
        <p:spPr>
          <a:xfrm>
            <a:off x="640080" y="2103120"/>
            <a:ext cx="5212080" cy="621792"/>
          </a:xfrm>
          <a:prstGeom prst="rect">
            <a:avLst/>
          </a:prstGeom>
          <a:solidFill>
            <a:srgbClr val="171B20"/>
          </a:solidFill>
          <a:ln w="9525">
            <a:solidFill>
              <a:srgbClr val="2A3139"/>
            </a:solidFill>
            <a:prstDash val="solid"/>
          </a:ln>
        </p:spPr>
      </p:sp>
      <p:sp>
        <p:nvSpPr>
          <p:cNvPr id="9" name="Text 7"/>
          <p:cNvSpPr txBox="1"/>
          <p:nvPr/>
        </p:nvSpPr>
        <p:spPr>
          <a:xfrm>
            <a:off x="822960" y="2103120"/>
            <a:ext cx="1737360" cy="621792"/>
          </a:xfrm>
          <a:prstGeom prst="rect">
            <a:avLst/>
          </a:prstGeom>
          <a:noFill/>
          <a:ln/>
        </p:spPr>
        <p:txBody>
          <a:bodyPr wrap="square" lIns="0" tIns="0" rIns="0" bIns="0" rtlCol="0" anchor="ctr"/>
          <a:lstStyle/>
          <a:p>
            <a:pPr indent="0" marL="0">
              <a:buNone/>
            </a:pPr>
            <a:r>
              <a:rPr lang="en-US" sz="900" dirty="0">
                <a:solidFill>
                  <a:srgbClr val="8E98A3"/>
                </a:solidFill>
                <a:latin typeface="Consolas" pitchFamily="34" charset="0"/>
                <a:ea typeface="Consolas" pitchFamily="34" charset="-122"/>
                <a:cs typeface="Consolas" pitchFamily="34" charset="-120"/>
              </a:rPr>
              <a:t>STRATEGIC ACCOUNTS</a:t>
            </a:r>
            <a:endParaRPr lang="en-US" sz="900" dirty="0"/>
          </a:p>
        </p:txBody>
      </p:sp>
      <p:sp>
        <p:nvSpPr>
          <p:cNvPr id="10" name="Text 8"/>
          <p:cNvSpPr txBox="1"/>
          <p:nvPr/>
        </p:nvSpPr>
        <p:spPr>
          <a:xfrm>
            <a:off x="2560320" y="2103120"/>
            <a:ext cx="3200400" cy="621792"/>
          </a:xfrm>
          <a:prstGeom prst="rect">
            <a:avLst/>
          </a:prstGeom>
          <a:noFill/>
          <a:ln/>
        </p:spPr>
        <p:txBody>
          <a:bodyPr wrap="square" lIns="0" tIns="0" rIns="0" bIns="0" rtlCol="0" anchor="ctr"/>
          <a:lstStyle/>
          <a:p>
            <a:pPr indent="0" marL="0">
              <a:buNone/>
            </a:pPr>
            <a:r>
              <a:rPr lang="en-US" sz="1050" b="1" dirty="0">
                <a:solidFill>
                  <a:srgbClr val="F2F4F6"/>
                </a:solidFill>
                <a:latin typeface="Segoe UI" pitchFamily="34" charset="0"/>
                <a:ea typeface="Segoe UI" pitchFamily="34" charset="-122"/>
                <a:cs typeface="Segoe UI" pitchFamily="34" charset="-120"/>
              </a:rPr>
              <a:t>Helsing · STARK · Rheinmetall · TYTAN · Quantum</a:t>
            </a:r>
            <a:endParaRPr lang="en-US" sz="1050" dirty="0"/>
          </a:p>
          <a:p>
            <a:pPr indent="0" marL="0">
              <a:buNone/>
            </a:pPr>
            <a:r>
              <a:rPr lang="en-US" sz="1050" dirty="0">
                <a:solidFill>
                  <a:srgbClr val="C9CED4"/>
                </a:solidFill>
                <a:latin typeface="Segoe UI" pitchFamily="34" charset="0"/>
                <a:ea typeface="Segoe UI" pitchFamily="34" charset="-122"/>
                <a:cs typeface="Segoe UI" pitchFamily="34" charset="-120"/>
              </a:rPr>
              <a:t>Owned where the radio is specified</a:t>
            </a:r>
            <a:endParaRPr lang="en-US" sz="1050" dirty="0"/>
          </a:p>
        </p:txBody>
      </p:sp>
      <p:sp>
        <p:nvSpPr>
          <p:cNvPr id="11" name="Shape 9"/>
          <p:cNvSpPr/>
          <p:nvPr/>
        </p:nvSpPr>
        <p:spPr>
          <a:xfrm>
            <a:off x="640080" y="2834640"/>
            <a:ext cx="5212080" cy="621792"/>
          </a:xfrm>
          <a:prstGeom prst="rect">
            <a:avLst/>
          </a:prstGeom>
          <a:solidFill>
            <a:srgbClr val="171B20"/>
          </a:solidFill>
          <a:ln w="9525">
            <a:solidFill>
              <a:srgbClr val="2A3139"/>
            </a:solidFill>
            <a:prstDash val="solid"/>
          </a:ln>
        </p:spPr>
      </p:sp>
      <p:sp>
        <p:nvSpPr>
          <p:cNvPr id="12" name="Text 10"/>
          <p:cNvSpPr txBox="1"/>
          <p:nvPr/>
        </p:nvSpPr>
        <p:spPr>
          <a:xfrm>
            <a:off x="822960" y="2834640"/>
            <a:ext cx="1737360" cy="621792"/>
          </a:xfrm>
          <a:prstGeom prst="rect">
            <a:avLst/>
          </a:prstGeom>
          <a:noFill/>
          <a:ln/>
        </p:spPr>
        <p:txBody>
          <a:bodyPr wrap="square" lIns="0" tIns="0" rIns="0" bIns="0" rtlCol="0" anchor="ctr"/>
          <a:lstStyle/>
          <a:p>
            <a:pPr indent="0" marL="0">
              <a:buNone/>
            </a:pPr>
            <a:r>
              <a:rPr lang="en-US" sz="900" dirty="0">
                <a:solidFill>
                  <a:srgbClr val="8E98A3"/>
                </a:solidFill>
                <a:latin typeface="Consolas" pitchFamily="34" charset="0"/>
                <a:ea typeface="Consolas" pitchFamily="34" charset="-122"/>
                <a:cs typeface="Consolas" pitchFamily="34" charset="-120"/>
              </a:rPr>
              <a:t>PARTNER-LED</a:t>
            </a:r>
            <a:endParaRPr lang="en-US" sz="900" dirty="0"/>
          </a:p>
        </p:txBody>
      </p:sp>
      <p:sp>
        <p:nvSpPr>
          <p:cNvPr id="13" name="Text 11"/>
          <p:cNvSpPr txBox="1"/>
          <p:nvPr/>
        </p:nvSpPr>
        <p:spPr>
          <a:xfrm>
            <a:off x="2560320" y="2834640"/>
            <a:ext cx="3200400" cy="621792"/>
          </a:xfrm>
          <a:prstGeom prst="rect">
            <a:avLst/>
          </a:prstGeom>
          <a:noFill/>
          <a:ln/>
        </p:spPr>
        <p:txBody>
          <a:bodyPr wrap="square" lIns="0" tIns="0" rIns="0" bIns="0" rtlCol="0" anchor="ctr"/>
          <a:lstStyle/>
          <a:p>
            <a:pPr indent="0" marL="0">
              <a:buNone/>
            </a:pPr>
            <a:r>
              <a:rPr lang="en-US" sz="1050" b="1" dirty="0">
                <a:solidFill>
                  <a:srgbClr val="F2F4F6"/>
                </a:solidFill>
                <a:latin typeface="Segoe UI" pitchFamily="34" charset="0"/>
                <a:ea typeface="Segoe UI" pitchFamily="34" charset="-122"/>
                <a:cs typeface="Segoe UI" pitchFamily="34" charset="-120"/>
              </a:rPr>
              <a:t>UXV · LUXUAV · Airvolute · private-label</a:t>
            </a:r>
            <a:endParaRPr lang="en-US" sz="1050" dirty="0"/>
          </a:p>
          <a:p>
            <a:pPr indent="0" marL="0">
              <a:buNone/>
            </a:pPr>
            <a:r>
              <a:rPr lang="en-US" sz="1050" dirty="0">
                <a:solidFill>
                  <a:srgbClr val="C9CED4"/>
                </a:solidFill>
                <a:latin typeface="Segoe UI" pitchFamily="34" charset="0"/>
                <a:ea typeface="Segoe UI" pitchFamily="34" charset="-122"/>
                <a:cs typeface="Segoe UI" pitchFamily="34" charset="-120"/>
              </a:rPr>
              <a:t>Win the radio inside their product</a:t>
            </a:r>
            <a:endParaRPr lang="en-US" sz="1050" dirty="0"/>
          </a:p>
        </p:txBody>
      </p:sp>
      <p:sp>
        <p:nvSpPr>
          <p:cNvPr id="14" name="Shape 12"/>
          <p:cNvSpPr/>
          <p:nvPr/>
        </p:nvSpPr>
        <p:spPr>
          <a:xfrm>
            <a:off x="640080" y="3566160"/>
            <a:ext cx="5212080" cy="621792"/>
          </a:xfrm>
          <a:prstGeom prst="rect">
            <a:avLst/>
          </a:prstGeom>
          <a:solidFill>
            <a:srgbClr val="171B20"/>
          </a:solidFill>
          <a:ln w="9525">
            <a:solidFill>
              <a:srgbClr val="2A3139"/>
            </a:solidFill>
            <a:prstDash val="solid"/>
          </a:ln>
        </p:spPr>
      </p:sp>
      <p:sp>
        <p:nvSpPr>
          <p:cNvPr id="15" name="Text 13"/>
          <p:cNvSpPr txBox="1"/>
          <p:nvPr/>
        </p:nvSpPr>
        <p:spPr>
          <a:xfrm>
            <a:off x="822960" y="3566160"/>
            <a:ext cx="1737360" cy="621792"/>
          </a:xfrm>
          <a:prstGeom prst="rect">
            <a:avLst/>
          </a:prstGeom>
          <a:noFill/>
          <a:ln/>
        </p:spPr>
        <p:txBody>
          <a:bodyPr wrap="square" lIns="0" tIns="0" rIns="0" bIns="0" rtlCol="0" anchor="ctr"/>
          <a:lstStyle/>
          <a:p>
            <a:pPr indent="0" marL="0">
              <a:buNone/>
            </a:pPr>
            <a:r>
              <a:rPr lang="en-US" sz="900" dirty="0">
                <a:solidFill>
                  <a:srgbClr val="8E98A3"/>
                </a:solidFill>
                <a:latin typeface="Consolas" pitchFamily="34" charset="0"/>
                <a:ea typeface="Consolas" pitchFamily="34" charset="-122"/>
                <a:cs typeface="Consolas" pitchFamily="34" charset="-120"/>
              </a:rPr>
              <a:t>MONITOR</a:t>
            </a:r>
            <a:endParaRPr lang="en-US" sz="900" dirty="0"/>
          </a:p>
        </p:txBody>
      </p:sp>
      <p:sp>
        <p:nvSpPr>
          <p:cNvPr id="16" name="Text 14"/>
          <p:cNvSpPr txBox="1"/>
          <p:nvPr/>
        </p:nvSpPr>
        <p:spPr>
          <a:xfrm>
            <a:off x="2560320" y="3566160"/>
            <a:ext cx="3200400" cy="621792"/>
          </a:xfrm>
          <a:prstGeom prst="rect">
            <a:avLst/>
          </a:prstGeom>
          <a:noFill/>
          <a:ln/>
        </p:spPr>
        <p:txBody>
          <a:bodyPr wrap="square" lIns="0" tIns="0" rIns="0" bIns="0" rtlCol="0" anchor="ctr"/>
          <a:lstStyle/>
          <a:p>
            <a:pPr indent="0" marL="0">
              <a:buNone/>
            </a:pPr>
            <a:r>
              <a:rPr lang="en-US" sz="1050" b="1" dirty="0">
                <a:solidFill>
                  <a:srgbClr val="F2F4F6"/>
                </a:solidFill>
                <a:latin typeface="Segoe UI" pitchFamily="34" charset="0"/>
                <a:ea typeface="Segoe UI" pitchFamily="34" charset="-122"/>
                <a:cs typeface="Segoe UI" pitchFamily="34" charset="-120"/>
              </a:rPr>
              <a:t>Poland · Nordics</a:t>
            </a:r>
            <a:endParaRPr lang="en-US" sz="1050" dirty="0"/>
          </a:p>
          <a:p>
            <a:pPr indent="0" marL="0">
              <a:buNone/>
            </a:pPr>
            <a:r>
              <a:rPr lang="en-US" sz="1050" dirty="0">
                <a:solidFill>
                  <a:srgbClr val="C9CED4"/>
                </a:solidFill>
                <a:latin typeface="Segoe UI" pitchFamily="34" charset="0"/>
                <a:ea typeface="Segoe UI" pitchFamily="34" charset="-122"/>
                <a:cs typeface="Segoe UI" pitchFamily="34" charset="-120"/>
              </a:rPr>
              <a:t>Open when a non-captive OEM appears</a:t>
            </a:r>
            <a:endParaRPr lang="en-US" sz="1050" dirty="0"/>
          </a:p>
        </p:txBody>
      </p:sp>
      <p:sp>
        <p:nvSpPr>
          <p:cNvPr id="17" name="Text 15"/>
          <p:cNvSpPr txBox="1"/>
          <p:nvPr/>
        </p:nvSpPr>
        <p:spPr>
          <a:xfrm>
            <a:off x="6172200" y="1417320"/>
            <a:ext cx="2331720" cy="685800"/>
          </a:xfrm>
          <a:prstGeom prst="rect">
            <a:avLst/>
          </a:prstGeom>
          <a:noFill/>
          <a:ln/>
        </p:spPr>
        <p:txBody>
          <a:bodyPr wrap="square" lIns="0" tIns="0" rIns="0" bIns="0" rtlCol="0" anchor="ctr"/>
          <a:lstStyle/>
          <a:p>
            <a:pPr indent="0" marL="0">
              <a:buNone/>
            </a:pPr>
            <a:r>
              <a:rPr lang="en-US" sz="4000" b="1" dirty="0">
                <a:solidFill>
                  <a:srgbClr val="F05A55"/>
                </a:solidFill>
                <a:latin typeface="Segoe UI" pitchFamily="34" charset="0"/>
                <a:ea typeface="Segoe UI" pitchFamily="34" charset="-122"/>
                <a:cs typeface="Segoe UI" pitchFamily="34" charset="-120"/>
              </a:rPr>
              <a:t>~68%</a:t>
            </a:r>
            <a:endParaRPr lang="en-US" sz="4000" dirty="0"/>
          </a:p>
        </p:txBody>
      </p:sp>
      <p:sp>
        <p:nvSpPr>
          <p:cNvPr id="18" name="Text 16"/>
          <p:cNvSpPr txBox="1"/>
          <p:nvPr/>
        </p:nvSpPr>
        <p:spPr>
          <a:xfrm>
            <a:off x="6172200" y="2148840"/>
            <a:ext cx="2331720" cy="822960"/>
          </a:xfrm>
          <a:prstGeom prst="rect">
            <a:avLst/>
          </a:prstGeom>
          <a:noFill/>
          <a:ln/>
        </p:spPr>
        <p:txBody>
          <a:bodyPr wrap="square" lIns="0" tIns="0" rIns="0" bIns="0" rtlCol="0" anchor="t"/>
          <a:lstStyle/>
          <a:p>
            <a:pPr indent="0" marL="0">
              <a:buNone/>
            </a:pPr>
            <a:r>
              <a:rPr lang="en-US" sz="1200" dirty="0">
                <a:solidFill>
                  <a:srgbClr val="C9CED4"/>
                </a:solidFill>
                <a:latin typeface="Segoe UI" pitchFamily="34" charset="0"/>
                <a:ea typeface="Segoe UI" pitchFamily="34" charset="-122"/>
                <a:cs typeface="Segoe UI" pitchFamily="34" charset="-120"/>
              </a:rPr>
              <a:t>of evidenced value sits in German programmes; ~17% in French.</a:t>
            </a:r>
            <a:endParaRPr lang="en-US" sz="1200" dirty="0"/>
          </a:p>
        </p:txBody>
      </p:sp>
      <p:sp>
        <p:nvSpPr>
          <p:cNvPr id="19" name="Text 17"/>
          <p:cNvSpPr txBox="1"/>
          <p:nvPr/>
        </p:nvSpPr>
        <p:spPr>
          <a:xfrm>
            <a:off x="6172200" y="2926080"/>
            <a:ext cx="2331720" cy="1188720"/>
          </a:xfrm>
          <a:prstGeom prst="rect">
            <a:avLst/>
          </a:prstGeom>
          <a:noFill/>
          <a:ln/>
        </p:spPr>
        <p:txBody>
          <a:bodyPr wrap="square" lIns="0" tIns="0" rIns="0" bIns="0" rtlCol="0" anchor="t"/>
          <a:lstStyle/>
          <a:p>
            <a:pPr indent="0" marL="0">
              <a:buNone/>
            </a:pPr>
            <a:r>
              <a:rPr lang="en-US" sz="1150" dirty="0">
                <a:solidFill>
                  <a:srgbClr val="C9CED4"/>
                </a:solidFill>
                <a:latin typeface="Segoe UI" pitchFamily="34" charset="0"/>
                <a:ea typeface="Segoe UI" pitchFamily="34" charset="-122"/>
                <a:cs typeface="Segoe UI" pitchFamily="34" charset="-120"/>
              </a:rPr>
              <a:t>The radio decision sits with the design authority — which doesn't always match where a platform is built.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D10"/>
        </a:solidFill>
      </p:bgPr>
    </p:bg>
    <p:spTree>
      <p:nvGrpSpPr>
        <p:cNvPr id="1" name=""/>
        <p:cNvGrpSpPr/>
        <p:nvPr/>
      </p:nvGrpSpPr>
      <p:grpSpPr>
        <a:xfrm>
          <a:off x="0" y="0"/>
          <a:ext cx="0" cy="0"/>
          <a:chOff x="0" y="0"/>
          <a:chExt cx="0" cy="0"/>
        </a:xfrm>
      </p:grpSpPr>
      <p:sp>
        <p:nvSpPr>
          <p:cNvPr id="2" name="Text 0"/>
          <p:cNvSpPr txBox="1"/>
          <p:nvPr/>
        </p:nvSpPr>
        <p:spPr>
          <a:xfrm>
            <a:off x="640080" y="384048"/>
            <a:ext cx="7863840" cy="228600"/>
          </a:xfrm>
          <a:prstGeom prst="rect">
            <a:avLst/>
          </a:prstGeom>
          <a:noFill/>
          <a:ln/>
        </p:spPr>
        <p:txBody>
          <a:bodyPr wrap="square" lIns="0" tIns="0" rIns="0" bIns="0" rtlCol="0" anchor="ctr"/>
          <a:lstStyle/>
          <a:p>
            <a:pPr indent="0" marL="0">
              <a:buNone/>
            </a:pPr>
            <a:r>
              <a:rPr lang="en-US" sz="950" spc="100" kern="0" dirty="0">
                <a:solidFill>
                  <a:srgbClr val="8E98A3"/>
                </a:solidFill>
                <a:latin typeface="Consolas" pitchFamily="34" charset="0"/>
                <a:ea typeface="Consolas" pitchFamily="34" charset="-122"/>
                <a:cs typeface="Consolas" pitchFamily="34" charset="-120"/>
              </a:rPr>
              <a:t>3 · LEADS &amp; RESELLERS</a:t>
            </a:r>
            <a:endParaRPr lang="en-US" sz="950" dirty="0"/>
          </a:p>
        </p:txBody>
      </p:sp>
      <p:sp>
        <p:nvSpPr>
          <p:cNvPr id="3" name="Text 1"/>
          <p:cNvSpPr txBox="1"/>
          <p:nvPr/>
        </p:nvSpPr>
        <p:spPr>
          <a:xfrm>
            <a:off x="640080" y="658368"/>
            <a:ext cx="7863840" cy="566928"/>
          </a:xfrm>
          <a:prstGeom prst="rect">
            <a:avLst/>
          </a:prstGeom>
          <a:noFill/>
          <a:ln/>
        </p:spPr>
        <p:txBody>
          <a:bodyPr wrap="square" lIns="0" tIns="0" rIns="0" bIns="0" rtlCol="0" anchor="t"/>
          <a:lstStyle/>
          <a:p>
            <a:pPr indent="0" marL="0">
              <a:buNone/>
            </a:pPr>
            <a:r>
              <a:rPr lang="en-US" sz="2200" b="1" dirty="0">
                <a:solidFill>
                  <a:srgbClr val="F2F4F6"/>
                </a:solidFill>
                <a:latin typeface="Segoe UI" pitchFamily="34" charset="0"/>
                <a:ea typeface="Segoe UI" pitchFamily="34" charset="-122"/>
                <a:cs typeface="Segoe UI" pitchFamily="34" charset="-120"/>
              </a:rPr>
              <a:t>Qualify the socket, then qualify the partner</a:t>
            </a:r>
            <a:endParaRPr lang="en-US" sz="2200" dirty="0"/>
          </a:p>
        </p:txBody>
      </p:sp>
      <p:sp>
        <p:nvSpPr>
          <p:cNvPr id="4" name="Text 2"/>
          <p:cNvSpPr txBox="1"/>
          <p:nvPr/>
        </p:nvSpPr>
        <p:spPr>
          <a:xfrm>
            <a:off x="640080" y="4590288"/>
            <a:ext cx="7863840" cy="256032"/>
          </a:xfrm>
          <a:prstGeom prst="rect">
            <a:avLst/>
          </a:prstGeom>
          <a:noFill/>
          <a:ln/>
        </p:spPr>
        <p:txBody>
          <a:bodyPr wrap="square" lIns="0" tIns="0" rIns="0" bIns="0" rtlCol="0" anchor="ctr"/>
          <a:lstStyle/>
          <a:p>
            <a:pPr indent="0" marL="0">
              <a:buNone/>
            </a:pPr>
            <a:r>
              <a:rPr lang="en-US" sz="950" dirty="0">
                <a:solidFill>
                  <a:srgbClr val="F05A55"/>
                </a:solidFill>
                <a:latin typeface="Segoe UI" pitchFamily="34" charset="0"/>
                <a:ea typeface="Segoe UI" pitchFamily="34" charset="-122"/>
                <a:cs typeface="Segoe UI" pitchFamily="34" charset="-120"/>
              </a:rPr>
              <a:t>No customer document, no stage change: a BOM line, an NRE PO, or a signed evaluation agreement.</a:t>
            </a:r>
            <a:endParaRPr lang="en-US" sz="950" dirty="0"/>
          </a:p>
        </p:txBody>
      </p:sp>
      <p:sp>
        <p:nvSpPr>
          <p:cNvPr id="5" name="Shape 3"/>
          <p:cNvSpPr/>
          <p:nvPr/>
        </p:nvSpPr>
        <p:spPr>
          <a:xfrm>
            <a:off x="640080" y="1371600"/>
            <a:ext cx="3794760" cy="2971800"/>
          </a:xfrm>
          <a:prstGeom prst="rect">
            <a:avLst/>
          </a:prstGeom>
          <a:solidFill>
            <a:srgbClr val="171B20"/>
          </a:solidFill>
          <a:ln w="9525">
            <a:solidFill>
              <a:srgbClr val="2A3139"/>
            </a:solidFill>
            <a:prstDash val="solid"/>
          </a:ln>
        </p:spPr>
      </p:sp>
      <p:sp>
        <p:nvSpPr>
          <p:cNvPr id="6" name="Shape 4"/>
          <p:cNvSpPr/>
          <p:nvPr/>
        </p:nvSpPr>
        <p:spPr>
          <a:xfrm>
            <a:off x="4709160" y="1371600"/>
            <a:ext cx="3794760" cy="2971800"/>
          </a:xfrm>
          <a:prstGeom prst="rect">
            <a:avLst/>
          </a:prstGeom>
          <a:solidFill>
            <a:srgbClr val="171B20"/>
          </a:solidFill>
          <a:ln w="9525">
            <a:solidFill>
              <a:srgbClr val="2A3139"/>
            </a:solidFill>
            <a:prstDash val="solid"/>
          </a:ln>
        </p:spPr>
      </p:sp>
      <p:sp>
        <p:nvSpPr>
          <p:cNvPr id="7" name="Text 5"/>
          <p:cNvSpPr txBox="1"/>
          <p:nvPr/>
        </p:nvSpPr>
        <p:spPr>
          <a:xfrm>
            <a:off x="868680" y="1536192"/>
            <a:ext cx="3383280" cy="274320"/>
          </a:xfrm>
          <a:prstGeom prst="rect">
            <a:avLst/>
          </a:prstGeom>
          <a:noFill/>
          <a:ln/>
        </p:spPr>
        <p:txBody>
          <a:bodyPr wrap="square" lIns="0" tIns="0" rIns="0" bIns="0" rtlCol="0" anchor="ctr"/>
          <a:lstStyle/>
          <a:p>
            <a:pPr indent="0" marL="0">
              <a:buNone/>
            </a:pPr>
            <a:r>
              <a:rPr lang="en-US" sz="950" dirty="0">
                <a:solidFill>
                  <a:srgbClr val="F05A55"/>
                </a:solidFill>
                <a:latin typeface="Consolas" pitchFamily="34" charset="0"/>
                <a:ea typeface="Consolas" pitchFamily="34" charset="-122"/>
                <a:cs typeface="Consolas" pitchFamily="34" charset="-120"/>
              </a:rPr>
              <a:t>LEADS — FIVE GATES, IN ORDER</a:t>
            </a:r>
            <a:endParaRPr lang="en-US" sz="950" dirty="0"/>
          </a:p>
        </p:txBody>
      </p:sp>
      <p:sp>
        <p:nvSpPr>
          <p:cNvPr id="8" name="Text 6"/>
          <p:cNvSpPr txBox="1"/>
          <p:nvPr/>
        </p:nvSpPr>
        <p:spPr>
          <a:xfrm>
            <a:off x="868680" y="1920240"/>
            <a:ext cx="274320" cy="365760"/>
          </a:xfrm>
          <a:prstGeom prst="rect">
            <a:avLst/>
          </a:prstGeom>
          <a:noFill/>
          <a:ln/>
        </p:spPr>
        <p:txBody>
          <a:bodyPr wrap="square" lIns="0" tIns="0" rIns="0" bIns="0" rtlCol="0" anchor="ctr"/>
          <a:lstStyle/>
          <a:p>
            <a:pPr indent="0" marL="0">
              <a:buNone/>
            </a:pPr>
            <a:r>
              <a:rPr lang="en-US" sz="1400" b="1" dirty="0">
                <a:solidFill>
                  <a:srgbClr val="F05A55"/>
                </a:solidFill>
                <a:latin typeface="Segoe UI" pitchFamily="34" charset="0"/>
                <a:ea typeface="Segoe UI" pitchFamily="34" charset="-122"/>
                <a:cs typeface="Segoe UI" pitchFamily="34" charset="-120"/>
              </a:rPr>
              <a:t>1</a:t>
            </a:r>
            <a:endParaRPr lang="en-US" sz="1400" dirty="0"/>
          </a:p>
        </p:txBody>
      </p:sp>
      <p:sp>
        <p:nvSpPr>
          <p:cNvPr id="9" name="Text 7"/>
          <p:cNvSpPr txBox="1"/>
          <p:nvPr/>
        </p:nvSpPr>
        <p:spPr>
          <a:xfrm>
            <a:off x="1188720" y="1920240"/>
            <a:ext cx="3108960" cy="365760"/>
          </a:xfrm>
          <a:prstGeom prst="rect">
            <a:avLst/>
          </a:prstGeom>
          <a:noFill/>
          <a:ln/>
        </p:spPr>
        <p:txBody>
          <a:bodyPr wrap="square" lIns="0" tIns="0" rIns="0" bIns="0" rtlCol="0" anchor="ctr"/>
          <a:lstStyle/>
          <a:p>
            <a:pPr indent="0" marL="0">
              <a:buNone/>
            </a:pPr>
            <a:r>
              <a:rPr lang="en-US" sz="1200" b="1" dirty="0">
                <a:solidFill>
                  <a:srgbClr val="F2F4F6"/>
                </a:solidFill>
                <a:latin typeface="Segoe UI" pitchFamily="34" charset="0"/>
                <a:ea typeface="Segoe UI" pitchFamily="34" charset="-122"/>
                <a:cs typeface="Segoe UI" pitchFamily="34" charset="-120"/>
              </a:rPr>
              <a:t>Platform  </a:t>
            </a:r>
            <a:pPr indent="0" marL="0">
              <a:buNone/>
            </a:pPr>
            <a:r>
              <a:rPr lang="en-US" sz="1200" dirty="0">
                <a:solidFill>
                  <a:srgbClr val="C9CED4"/>
                </a:solidFill>
                <a:latin typeface="Segoe UI" pitchFamily="34" charset="0"/>
                <a:ea typeface="Segoe UI" pitchFamily="34" charset="-122"/>
                <a:cs typeface="Segoe UI" pitchFamily="34" charset="-120"/>
              </a:rPr>
              <a:t>builds something that moves</a:t>
            </a:r>
            <a:endParaRPr lang="en-US" sz="1200" dirty="0"/>
          </a:p>
        </p:txBody>
      </p:sp>
      <p:sp>
        <p:nvSpPr>
          <p:cNvPr id="10" name="Text 8"/>
          <p:cNvSpPr txBox="1"/>
          <p:nvPr/>
        </p:nvSpPr>
        <p:spPr>
          <a:xfrm>
            <a:off x="868680" y="2377440"/>
            <a:ext cx="274320" cy="365760"/>
          </a:xfrm>
          <a:prstGeom prst="rect">
            <a:avLst/>
          </a:prstGeom>
          <a:noFill/>
          <a:ln/>
        </p:spPr>
        <p:txBody>
          <a:bodyPr wrap="square" lIns="0" tIns="0" rIns="0" bIns="0" rtlCol="0" anchor="ctr"/>
          <a:lstStyle/>
          <a:p>
            <a:pPr indent="0" marL="0">
              <a:buNone/>
            </a:pPr>
            <a:r>
              <a:rPr lang="en-US" sz="1400" b="1" dirty="0">
                <a:solidFill>
                  <a:srgbClr val="F05A55"/>
                </a:solidFill>
                <a:latin typeface="Segoe UI" pitchFamily="34" charset="0"/>
                <a:ea typeface="Segoe UI" pitchFamily="34" charset="-122"/>
                <a:cs typeface="Segoe UI" pitchFamily="34" charset="-120"/>
              </a:rPr>
              <a:t>2</a:t>
            </a:r>
            <a:endParaRPr lang="en-US" sz="1400" dirty="0"/>
          </a:p>
        </p:txBody>
      </p:sp>
      <p:sp>
        <p:nvSpPr>
          <p:cNvPr id="11" name="Text 9"/>
          <p:cNvSpPr txBox="1"/>
          <p:nvPr/>
        </p:nvSpPr>
        <p:spPr>
          <a:xfrm>
            <a:off x="1188720" y="2377440"/>
            <a:ext cx="3108960" cy="365760"/>
          </a:xfrm>
          <a:prstGeom prst="rect">
            <a:avLst/>
          </a:prstGeom>
          <a:noFill/>
          <a:ln/>
        </p:spPr>
        <p:txBody>
          <a:bodyPr wrap="square" lIns="0" tIns="0" rIns="0" bIns="0" rtlCol="0" anchor="ctr"/>
          <a:lstStyle/>
          <a:p>
            <a:pPr indent="0" marL="0">
              <a:buNone/>
            </a:pPr>
            <a:r>
              <a:rPr lang="en-US" sz="1200" b="1" dirty="0">
                <a:solidFill>
                  <a:srgbClr val="F2F4F6"/>
                </a:solidFill>
                <a:latin typeface="Segoe UI" pitchFamily="34" charset="0"/>
                <a:ea typeface="Segoe UI" pitchFamily="34" charset="-122"/>
                <a:cs typeface="Segoe UI" pitchFamily="34" charset="-120"/>
              </a:rPr>
              <a:t>Socket  </a:t>
            </a:r>
            <a:pPr indent="0" marL="0">
              <a:buNone/>
            </a:pPr>
            <a:r>
              <a:rPr lang="en-US" sz="1200" dirty="0">
                <a:solidFill>
                  <a:srgbClr val="C9CED4"/>
                </a:solidFill>
                <a:latin typeface="Segoe UI" pitchFamily="34" charset="0"/>
                <a:ea typeface="Segoe UI" pitchFamily="34" charset="-122"/>
                <a:cs typeface="Segoe UI" pitchFamily="34" charset="-120"/>
              </a:rPr>
              <a:t>open, taken, or ours</a:t>
            </a:r>
            <a:endParaRPr lang="en-US" sz="1200" dirty="0"/>
          </a:p>
        </p:txBody>
      </p:sp>
      <p:sp>
        <p:nvSpPr>
          <p:cNvPr id="12" name="Text 10"/>
          <p:cNvSpPr txBox="1"/>
          <p:nvPr/>
        </p:nvSpPr>
        <p:spPr>
          <a:xfrm>
            <a:off x="868680" y="2834640"/>
            <a:ext cx="274320" cy="365760"/>
          </a:xfrm>
          <a:prstGeom prst="rect">
            <a:avLst/>
          </a:prstGeom>
          <a:noFill/>
          <a:ln/>
        </p:spPr>
        <p:txBody>
          <a:bodyPr wrap="square" lIns="0" tIns="0" rIns="0" bIns="0" rtlCol="0" anchor="ctr"/>
          <a:lstStyle/>
          <a:p>
            <a:pPr indent="0" marL="0">
              <a:buNone/>
            </a:pPr>
            <a:r>
              <a:rPr lang="en-US" sz="1400" b="1" dirty="0">
                <a:solidFill>
                  <a:srgbClr val="F05A55"/>
                </a:solidFill>
                <a:latin typeface="Segoe UI" pitchFamily="34" charset="0"/>
                <a:ea typeface="Segoe UI" pitchFamily="34" charset="-122"/>
                <a:cs typeface="Segoe UI" pitchFamily="34" charset="-120"/>
              </a:rPr>
              <a:t>3</a:t>
            </a:r>
            <a:endParaRPr lang="en-US" sz="1400" dirty="0"/>
          </a:p>
        </p:txBody>
      </p:sp>
      <p:sp>
        <p:nvSpPr>
          <p:cNvPr id="13" name="Text 11"/>
          <p:cNvSpPr txBox="1"/>
          <p:nvPr/>
        </p:nvSpPr>
        <p:spPr>
          <a:xfrm>
            <a:off x="1188720" y="2834640"/>
            <a:ext cx="3108960" cy="365760"/>
          </a:xfrm>
          <a:prstGeom prst="rect">
            <a:avLst/>
          </a:prstGeom>
          <a:noFill/>
          <a:ln/>
        </p:spPr>
        <p:txBody>
          <a:bodyPr wrap="square" lIns="0" tIns="0" rIns="0" bIns="0" rtlCol="0" anchor="ctr"/>
          <a:lstStyle/>
          <a:p>
            <a:pPr indent="0" marL="0">
              <a:buNone/>
            </a:pPr>
            <a:r>
              <a:rPr lang="en-US" sz="1200" b="1" dirty="0">
                <a:solidFill>
                  <a:srgbClr val="F2F4F6"/>
                </a:solidFill>
                <a:latin typeface="Segoe UI" pitchFamily="34" charset="0"/>
                <a:ea typeface="Segoe UI" pitchFamily="34" charset="-122"/>
                <a:cs typeface="Segoe UI" pitchFamily="34" charset="-120"/>
              </a:rPr>
              <a:t>Band  </a:t>
            </a:r>
            <a:pPr indent="0" marL="0">
              <a:buNone/>
            </a:pPr>
            <a:r>
              <a:rPr lang="en-US" sz="1200" dirty="0">
                <a:solidFill>
                  <a:srgbClr val="C9CED4"/>
                </a:solidFill>
                <a:latin typeface="Segoe UI" pitchFamily="34" charset="0"/>
                <a:ea typeface="Segoe UI" pitchFamily="34" charset="-122"/>
                <a:cs typeface="Segoe UI" pitchFamily="34" charset="-120"/>
              </a:rPr>
              <a:t>overlaps a Mesh Rider SKU</a:t>
            </a:r>
            <a:endParaRPr lang="en-US" sz="1200" dirty="0"/>
          </a:p>
        </p:txBody>
      </p:sp>
      <p:sp>
        <p:nvSpPr>
          <p:cNvPr id="14" name="Text 12"/>
          <p:cNvSpPr txBox="1"/>
          <p:nvPr/>
        </p:nvSpPr>
        <p:spPr>
          <a:xfrm>
            <a:off x="868680" y="3291840"/>
            <a:ext cx="274320" cy="365760"/>
          </a:xfrm>
          <a:prstGeom prst="rect">
            <a:avLst/>
          </a:prstGeom>
          <a:noFill/>
          <a:ln/>
        </p:spPr>
        <p:txBody>
          <a:bodyPr wrap="square" lIns="0" tIns="0" rIns="0" bIns="0" rtlCol="0" anchor="ctr"/>
          <a:lstStyle/>
          <a:p>
            <a:pPr indent="0" marL="0">
              <a:buNone/>
            </a:pPr>
            <a:r>
              <a:rPr lang="en-US" sz="1400" b="1" dirty="0">
                <a:solidFill>
                  <a:srgbClr val="F05A55"/>
                </a:solidFill>
                <a:latin typeface="Segoe UI" pitchFamily="34" charset="0"/>
                <a:ea typeface="Segoe UI" pitchFamily="34" charset="-122"/>
                <a:cs typeface="Segoe UI" pitchFamily="34" charset="-120"/>
              </a:rPr>
              <a:t>4</a:t>
            </a:r>
            <a:endParaRPr lang="en-US" sz="1400" dirty="0"/>
          </a:p>
        </p:txBody>
      </p:sp>
      <p:sp>
        <p:nvSpPr>
          <p:cNvPr id="15" name="Text 13"/>
          <p:cNvSpPr txBox="1"/>
          <p:nvPr/>
        </p:nvSpPr>
        <p:spPr>
          <a:xfrm>
            <a:off x="1188720" y="3291840"/>
            <a:ext cx="3108960" cy="365760"/>
          </a:xfrm>
          <a:prstGeom prst="rect">
            <a:avLst/>
          </a:prstGeom>
          <a:noFill/>
          <a:ln/>
        </p:spPr>
        <p:txBody>
          <a:bodyPr wrap="square" lIns="0" tIns="0" rIns="0" bIns="0" rtlCol="0" anchor="ctr"/>
          <a:lstStyle/>
          <a:p>
            <a:pPr indent="0" marL="0">
              <a:buNone/>
            </a:pPr>
            <a:r>
              <a:rPr lang="en-US" sz="1200" b="1" dirty="0">
                <a:solidFill>
                  <a:srgbClr val="F2F4F6"/>
                </a:solidFill>
                <a:latin typeface="Segoe UI" pitchFamily="34" charset="0"/>
                <a:ea typeface="Segoe UI" pitchFamily="34" charset="-122"/>
                <a:cs typeface="Segoe UI" pitchFamily="34" charset="-120"/>
              </a:rPr>
              <a:t>Authority  </a:t>
            </a:r>
            <a:pPr indent="0" marL="0">
              <a:buNone/>
            </a:pPr>
            <a:r>
              <a:rPr lang="en-US" sz="1200" dirty="0">
                <a:solidFill>
                  <a:srgbClr val="C9CED4"/>
                </a:solidFill>
                <a:latin typeface="Segoe UI" pitchFamily="34" charset="0"/>
                <a:ea typeface="Segoe UI" pitchFamily="34" charset="-122"/>
                <a:cs typeface="Segoe UI" pitchFamily="34" charset="-120"/>
              </a:rPr>
              <a:t>evaluator and signer named</a:t>
            </a:r>
            <a:endParaRPr lang="en-US" sz="1200" dirty="0"/>
          </a:p>
        </p:txBody>
      </p:sp>
      <p:sp>
        <p:nvSpPr>
          <p:cNvPr id="16" name="Text 14"/>
          <p:cNvSpPr txBox="1"/>
          <p:nvPr/>
        </p:nvSpPr>
        <p:spPr>
          <a:xfrm>
            <a:off x="868680" y="3749040"/>
            <a:ext cx="274320" cy="365760"/>
          </a:xfrm>
          <a:prstGeom prst="rect">
            <a:avLst/>
          </a:prstGeom>
          <a:noFill/>
          <a:ln/>
        </p:spPr>
        <p:txBody>
          <a:bodyPr wrap="square" lIns="0" tIns="0" rIns="0" bIns="0" rtlCol="0" anchor="ctr"/>
          <a:lstStyle/>
          <a:p>
            <a:pPr indent="0" marL="0">
              <a:buNone/>
            </a:pPr>
            <a:r>
              <a:rPr lang="en-US" sz="1400" b="1" dirty="0">
                <a:solidFill>
                  <a:srgbClr val="F05A55"/>
                </a:solidFill>
                <a:latin typeface="Segoe UI" pitchFamily="34" charset="0"/>
                <a:ea typeface="Segoe UI" pitchFamily="34" charset="-122"/>
                <a:cs typeface="Segoe UI" pitchFamily="34" charset="-120"/>
              </a:rPr>
              <a:t>5</a:t>
            </a:r>
            <a:endParaRPr lang="en-US" sz="1400" dirty="0"/>
          </a:p>
        </p:txBody>
      </p:sp>
      <p:sp>
        <p:nvSpPr>
          <p:cNvPr id="17" name="Text 15"/>
          <p:cNvSpPr txBox="1"/>
          <p:nvPr/>
        </p:nvSpPr>
        <p:spPr>
          <a:xfrm>
            <a:off x="1188720" y="3749040"/>
            <a:ext cx="3108960" cy="365760"/>
          </a:xfrm>
          <a:prstGeom prst="rect">
            <a:avLst/>
          </a:prstGeom>
          <a:noFill/>
          <a:ln/>
        </p:spPr>
        <p:txBody>
          <a:bodyPr wrap="square" lIns="0" tIns="0" rIns="0" bIns="0" rtlCol="0" anchor="ctr"/>
          <a:lstStyle/>
          <a:p>
            <a:pPr indent="0" marL="0">
              <a:buNone/>
            </a:pPr>
            <a:r>
              <a:rPr lang="en-US" sz="1200" b="1" dirty="0">
                <a:solidFill>
                  <a:srgbClr val="F2F4F6"/>
                </a:solidFill>
                <a:latin typeface="Segoe UI" pitchFamily="34" charset="0"/>
                <a:ea typeface="Segoe UI" pitchFamily="34" charset="-122"/>
                <a:cs typeface="Segoe UI" pitchFamily="34" charset="-120"/>
              </a:rPr>
              <a:t>Timing  </a:t>
            </a:r>
            <a:pPr indent="0" marL="0">
              <a:buNone/>
            </a:pPr>
            <a:r>
              <a:rPr lang="en-US" sz="1200" dirty="0">
                <a:solidFill>
                  <a:srgbClr val="C9CED4"/>
                </a:solidFill>
                <a:latin typeface="Segoe UI" pitchFamily="34" charset="0"/>
                <a:ea typeface="Segoe UI" pitchFamily="34" charset="-122"/>
                <a:cs typeface="Segoe UI" pitchFamily="34" charset="-120"/>
              </a:rPr>
              <a:t>a dated trigger, not a guess</a:t>
            </a:r>
            <a:endParaRPr lang="en-US" sz="1200" dirty="0"/>
          </a:p>
        </p:txBody>
      </p:sp>
      <p:sp>
        <p:nvSpPr>
          <p:cNvPr id="18" name="Text 16"/>
          <p:cNvSpPr txBox="1"/>
          <p:nvPr/>
        </p:nvSpPr>
        <p:spPr>
          <a:xfrm>
            <a:off x="4937760" y="1536192"/>
            <a:ext cx="3383280" cy="274320"/>
          </a:xfrm>
          <a:prstGeom prst="rect">
            <a:avLst/>
          </a:prstGeom>
          <a:noFill/>
          <a:ln/>
        </p:spPr>
        <p:txBody>
          <a:bodyPr wrap="square" lIns="0" tIns="0" rIns="0" bIns="0" rtlCol="0" anchor="ctr"/>
          <a:lstStyle/>
          <a:p>
            <a:pPr indent="0" marL="0">
              <a:buNone/>
            </a:pPr>
            <a:r>
              <a:rPr lang="en-US" sz="950" dirty="0">
                <a:solidFill>
                  <a:srgbClr val="F05A55"/>
                </a:solidFill>
                <a:latin typeface="Consolas" pitchFamily="34" charset="0"/>
                <a:ea typeface="Consolas" pitchFamily="34" charset="-122"/>
                <a:cs typeface="Consolas" pitchFamily="34" charset="-120"/>
              </a:rPr>
              <a:t>PARTNERS — THE CHANNEL IS PRIVATE-LABEL</a:t>
            </a:r>
            <a:endParaRPr lang="en-US" sz="950" dirty="0"/>
          </a:p>
        </p:txBody>
      </p:sp>
      <p:sp>
        <p:nvSpPr>
          <p:cNvPr id="19" name="Text 17"/>
          <p:cNvSpPr txBox="1"/>
          <p:nvPr/>
        </p:nvSpPr>
        <p:spPr>
          <a:xfrm>
            <a:off x="4937760" y="1920240"/>
            <a:ext cx="3383280" cy="822960"/>
          </a:xfrm>
          <a:prstGeom prst="rect">
            <a:avLst/>
          </a:prstGeom>
          <a:noFill/>
          <a:ln/>
        </p:spPr>
        <p:txBody>
          <a:bodyPr wrap="square" lIns="0" tIns="0" rIns="0" bIns="0" rtlCol="0" anchor="t"/>
          <a:lstStyle/>
          <a:p>
            <a:pPr indent="0" marL="0">
              <a:buNone/>
            </a:pPr>
            <a:r>
              <a:rPr lang="en-US" sz="1200" dirty="0">
                <a:solidFill>
                  <a:srgbClr val="F2F4F6"/>
                </a:solidFill>
                <a:latin typeface="Segoe UI" pitchFamily="34" charset="0"/>
                <a:ea typeface="Segoe UI" pitchFamily="34" charset="-122"/>
                <a:cs typeface="Segoe UI" pitchFamily="34" charset="-120"/>
              </a:rPr>
              <a:t>Solace sells MultiLink. Broadcast Solutions sells meshLINK. The deal is the radio inside their product, not a price list.</a:t>
            </a:r>
            <a:endParaRPr lang="en-US" sz="1200" dirty="0"/>
          </a:p>
        </p:txBody>
      </p:sp>
      <p:sp>
        <p:nvSpPr>
          <p:cNvPr id="20" name="Text 18"/>
          <p:cNvSpPr txBox="1"/>
          <p:nvPr/>
        </p:nvSpPr>
        <p:spPr>
          <a:xfrm>
            <a:off x="4937760" y="2834640"/>
            <a:ext cx="3383280" cy="1371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C9CED4"/>
                </a:solidFill>
                <a:latin typeface="Segoe UI" pitchFamily="34" charset="0"/>
                <a:ea typeface="Segoe UI" pitchFamily="34" charset="-122"/>
                <a:cs typeface="Segoe UI" pitchFamily="34" charset="-120"/>
              </a:rPr>
              <a:t>Owns the customer</a:t>
            </a:r>
            <a:endParaRPr lang="en-US" sz="1200" dirty="0"/>
          </a:p>
          <a:p>
            <a:pPr marL="342900" indent="-342900">
              <a:spcAft>
                <a:spcPts val="400"/>
              </a:spcAft>
              <a:buSzPct val="100000"/>
              <a:buChar char="•"/>
            </a:pPr>
            <a:r>
              <a:rPr lang="en-US" sz="1200" dirty="0">
                <a:solidFill>
                  <a:srgbClr val="C9CED4"/>
                </a:solidFill>
                <a:latin typeface="Segoe UI" pitchFamily="34" charset="0"/>
                <a:ea typeface="Segoe UI" pitchFamily="34" charset="-122"/>
                <a:cs typeface="Segoe UI" pitchFamily="34" charset="-120"/>
              </a:rPr>
              <a:t>Has its own RF engineering</a:t>
            </a:r>
            <a:endParaRPr lang="en-US" sz="1200" dirty="0"/>
          </a:p>
          <a:p>
            <a:pPr marL="342900" indent="-342900">
              <a:spcAft>
                <a:spcPts val="400"/>
              </a:spcAft>
              <a:buSzPct val="100000"/>
              <a:buChar char="•"/>
            </a:pPr>
            <a:r>
              <a:rPr lang="en-US" sz="1200" dirty="0">
                <a:solidFill>
                  <a:srgbClr val="C9CED4"/>
                </a:solidFill>
                <a:latin typeface="Segoe UI" pitchFamily="34" charset="0"/>
                <a:ea typeface="Segoe UI" pitchFamily="34" charset="-122"/>
                <a:cs typeface="Segoe UI" pitchFamily="34" charset="-120"/>
              </a:rPr>
              <a:t>Commits a plan with named accounts</a:t>
            </a:r>
            <a:endParaRPr lang="en-US" sz="1200" dirty="0"/>
          </a:p>
          <a:p>
            <a:pPr marL="342900" indent="-342900">
              <a:spcAft>
                <a:spcPts val="400"/>
              </a:spcAft>
              <a:buSzPct val="100000"/>
              <a:buChar char="•"/>
            </a:pPr>
            <a:r>
              <a:rPr lang="en-US" sz="1200" dirty="0">
                <a:solidFill>
                  <a:srgbClr val="C9CED4"/>
                </a:solidFill>
                <a:latin typeface="Segoe UI" pitchFamily="34" charset="0"/>
                <a:ea typeface="Segoe UI" pitchFamily="34" charset="-122"/>
                <a:cs typeface="Segoe UI" pitchFamily="34" charset="-120"/>
              </a:rPr>
              <a:t>No export-control conflict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D10"/>
        </a:solidFill>
      </p:bgPr>
    </p:bg>
    <p:spTree>
      <p:nvGrpSpPr>
        <p:cNvPr id="1" name=""/>
        <p:cNvGrpSpPr/>
        <p:nvPr/>
      </p:nvGrpSpPr>
      <p:grpSpPr>
        <a:xfrm>
          <a:off x="0" y="0"/>
          <a:ext cx="0" cy="0"/>
          <a:chOff x="0" y="0"/>
          <a:chExt cx="0" cy="0"/>
        </a:xfrm>
      </p:grpSpPr>
      <p:sp>
        <p:nvSpPr>
          <p:cNvPr id="2" name="Text 0"/>
          <p:cNvSpPr txBox="1"/>
          <p:nvPr/>
        </p:nvSpPr>
        <p:spPr>
          <a:xfrm>
            <a:off x="640080" y="384048"/>
            <a:ext cx="7863840" cy="228600"/>
          </a:xfrm>
          <a:prstGeom prst="rect">
            <a:avLst/>
          </a:prstGeom>
          <a:noFill/>
          <a:ln/>
        </p:spPr>
        <p:txBody>
          <a:bodyPr wrap="square" lIns="0" tIns="0" rIns="0" bIns="0" rtlCol="0" anchor="ctr"/>
          <a:lstStyle/>
          <a:p>
            <a:pPr indent="0" marL="0">
              <a:buNone/>
            </a:pPr>
            <a:r>
              <a:rPr lang="en-US" sz="950" spc="100" kern="0" dirty="0">
                <a:solidFill>
                  <a:srgbClr val="8E98A3"/>
                </a:solidFill>
                <a:latin typeface="Consolas" pitchFamily="34" charset="0"/>
                <a:ea typeface="Consolas" pitchFamily="34" charset="-122"/>
                <a:cs typeface="Consolas" pitchFamily="34" charset="-120"/>
              </a:rPr>
              <a:t>4 · 30-60-90 · EXISTING + NEW BUSINESS</a:t>
            </a:r>
            <a:endParaRPr lang="en-US" sz="950" dirty="0"/>
          </a:p>
        </p:txBody>
      </p:sp>
      <p:sp>
        <p:nvSpPr>
          <p:cNvPr id="3" name="Text 1"/>
          <p:cNvSpPr txBox="1"/>
          <p:nvPr/>
        </p:nvSpPr>
        <p:spPr>
          <a:xfrm>
            <a:off x="640080" y="658368"/>
            <a:ext cx="7863840" cy="566928"/>
          </a:xfrm>
          <a:prstGeom prst="rect">
            <a:avLst/>
          </a:prstGeom>
          <a:noFill/>
          <a:ln/>
        </p:spPr>
        <p:txBody>
          <a:bodyPr wrap="square" lIns="0" tIns="0" rIns="0" bIns="0" rtlCol="0" anchor="t"/>
          <a:lstStyle/>
          <a:p>
            <a:pPr indent="0" marL="0">
              <a:buNone/>
            </a:pPr>
            <a:r>
              <a:rPr lang="en-US" sz="2200" b="1" dirty="0">
                <a:solidFill>
                  <a:srgbClr val="F2F4F6"/>
                </a:solidFill>
                <a:latin typeface="Segoe UI" pitchFamily="34" charset="0"/>
                <a:ea typeface="Segoe UI" pitchFamily="34" charset="-122"/>
                <a:cs typeface="Segoe UI" pitchFamily="34" charset="-120"/>
              </a:rPr>
              <a:t>30 days information · 60 proof · 90 commitment</a:t>
            </a:r>
            <a:endParaRPr lang="en-US" sz="2200" dirty="0"/>
          </a:p>
        </p:txBody>
      </p:sp>
      <p:sp>
        <p:nvSpPr>
          <p:cNvPr id="4" name="Text 2"/>
          <p:cNvSpPr txBox="1"/>
          <p:nvPr/>
        </p:nvSpPr>
        <p:spPr>
          <a:xfrm>
            <a:off x="640080" y="4590288"/>
            <a:ext cx="7863840" cy="256032"/>
          </a:xfrm>
          <a:prstGeom prst="rect">
            <a:avLst/>
          </a:prstGeom>
          <a:noFill/>
          <a:ln/>
        </p:spPr>
        <p:txBody>
          <a:bodyPr wrap="square" lIns="0" tIns="0" rIns="0" bIns="0" rtlCol="0" anchor="ctr"/>
          <a:lstStyle/>
          <a:p>
            <a:pPr indent="0" marL="0">
              <a:buNone/>
            </a:pPr>
            <a:r>
              <a:rPr lang="en-US" sz="950" dirty="0">
                <a:solidFill>
                  <a:srgbClr val="F05A55"/>
                </a:solidFill>
                <a:latin typeface="Segoe UI" pitchFamily="34" charset="0"/>
                <a:ea typeface="Segoe UI" pitchFamily="34" charset="-122"/>
                <a:cs typeface="Segoe UI" pitchFamily="34" charset="-120"/>
              </a:rPr>
              <a:t>I won't promise production wins in 90 days. I'll promise you know exactly where every account stands.</a:t>
            </a:r>
            <a:endParaRPr lang="en-US" sz="950" dirty="0"/>
          </a:p>
        </p:txBody>
      </p:sp>
      <p:sp>
        <p:nvSpPr>
          <p:cNvPr id="5" name="Shape 3"/>
          <p:cNvSpPr/>
          <p:nvPr/>
        </p:nvSpPr>
        <p:spPr>
          <a:xfrm>
            <a:off x="640080" y="1371600"/>
            <a:ext cx="2468880" cy="3017520"/>
          </a:xfrm>
          <a:prstGeom prst="rect">
            <a:avLst/>
          </a:prstGeom>
          <a:solidFill>
            <a:srgbClr val="171B20"/>
          </a:solidFill>
          <a:ln w="9525">
            <a:solidFill>
              <a:srgbClr val="2A3139"/>
            </a:solidFill>
            <a:prstDash val="solid"/>
          </a:ln>
        </p:spPr>
      </p:sp>
      <p:sp>
        <p:nvSpPr>
          <p:cNvPr id="6" name="Text 4"/>
          <p:cNvSpPr txBox="1"/>
          <p:nvPr/>
        </p:nvSpPr>
        <p:spPr>
          <a:xfrm>
            <a:off x="822960" y="1508760"/>
            <a:ext cx="2148840" cy="274320"/>
          </a:xfrm>
          <a:prstGeom prst="rect">
            <a:avLst/>
          </a:prstGeom>
          <a:noFill/>
          <a:ln/>
        </p:spPr>
        <p:txBody>
          <a:bodyPr wrap="square" lIns="0" tIns="0" rIns="0" bIns="0" rtlCol="0" anchor="ctr"/>
          <a:lstStyle/>
          <a:p>
            <a:pPr indent="0" marL="0">
              <a:buNone/>
            </a:pPr>
            <a:r>
              <a:rPr lang="en-US" sz="900" dirty="0">
                <a:solidFill>
                  <a:srgbClr val="F05A55"/>
                </a:solidFill>
                <a:latin typeface="Consolas" pitchFamily="34" charset="0"/>
                <a:ea typeface="Consolas" pitchFamily="34" charset="-122"/>
                <a:cs typeface="Consolas" pitchFamily="34" charset="-120"/>
              </a:rPr>
              <a:t>DAYS 1–30 · INFORMATION</a:t>
            </a:r>
            <a:endParaRPr lang="en-US" sz="900" dirty="0"/>
          </a:p>
        </p:txBody>
      </p:sp>
      <p:sp>
        <p:nvSpPr>
          <p:cNvPr id="7" name="Text 5"/>
          <p:cNvSpPr txBox="1"/>
          <p:nvPr/>
        </p:nvSpPr>
        <p:spPr>
          <a:xfrm>
            <a:off x="822960" y="1874520"/>
            <a:ext cx="2148840" cy="18288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C9CED4"/>
                </a:solidFill>
                <a:latin typeface="Segoe UI" pitchFamily="34" charset="0"/>
                <a:ea typeface="Segoe UI" pitchFamily="34" charset="-122"/>
                <a:cs typeface="Segoe UI" pitchFamily="34" charset="-120"/>
              </a:rPr>
              <a:t>Reconcile my map with your CRM, installed base and account ownership</a:t>
            </a:r>
            <a:endParaRPr lang="en-US" sz="1100" dirty="0"/>
          </a:p>
          <a:p>
            <a:pPr marL="342900" indent="-342900">
              <a:spcAft>
                <a:spcPts val="600"/>
              </a:spcAft>
              <a:buSzPct val="100000"/>
              <a:buChar char="•"/>
            </a:pPr>
            <a:r>
              <a:rPr lang="en-US" sz="1100" dirty="0">
                <a:solidFill>
                  <a:srgbClr val="C9CED4"/>
                </a:solidFill>
                <a:latin typeface="Segoe UI" pitchFamily="34" charset="0"/>
                <a:ea typeface="Segoe UI" pitchFamily="34" charset="-122"/>
                <a:cs typeface="Segoe UI" pitchFamily="34" charset="-120"/>
              </a:rPr>
              <a:t>Meet every existing customer: what are you designing next?</a:t>
            </a:r>
            <a:endParaRPr lang="en-US" sz="1100" dirty="0"/>
          </a:p>
          <a:p>
            <a:pPr marL="342900" indent="-342900">
              <a:spcAft>
                <a:spcPts val="600"/>
              </a:spcAft>
              <a:buSzPct val="100000"/>
              <a:buChar char="•"/>
            </a:pPr>
            <a:r>
              <a:rPr lang="en-US" sz="1100" dirty="0">
                <a:solidFill>
                  <a:srgbClr val="C9CED4"/>
                </a:solidFill>
                <a:latin typeface="Segoe UI" pitchFamily="34" charset="0"/>
                <a:ea typeface="Segoe UI" pitchFamily="34" charset="-122"/>
                <a:cs typeface="Segoe UI" pitchFamily="34" charset="-120"/>
              </a:rPr>
              <a:t>Agree a written qualification standard</a:t>
            </a:r>
            <a:endParaRPr lang="en-US" sz="1100" dirty="0"/>
          </a:p>
        </p:txBody>
      </p:sp>
      <p:sp>
        <p:nvSpPr>
          <p:cNvPr id="8" name="Text 6"/>
          <p:cNvSpPr txBox="1"/>
          <p:nvPr/>
        </p:nvSpPr>
        <p:spPr>
          <a:xfrm>
            <a:off x="822960" y="3794760"/>
            <a:ext cx="2148840" cy="457200"/>
          </a:xfrm>
          <a:prstGeom prst="rect">
            <a:avLst/>
          </a:prstGeom>
          <a:noFill/>
          <a:ln/>
        </p:spPr>
        <p:txBody>
          <a:bodyPr wrap="square" lIns="0" tIns="0" rIns="0" bIns="0" rtlCol="0" anchor="ctr"/>
          <a:lstStyle/>
          <a:p>
            <a:pPr indent="0" marL="0">
              <a:buNone/>
            </a:pPr>
            <a:r>
              <a:rPr lang="en-US" sz="900" dirty="0">
                <a:solidFill>
                  <a:srgbClr val="8E98A3"/>
                </a:solidFill>
                <a:latin typeface="Consolas" pitchFamily="34" charset="0"/>
                <a:ea typeface="Consolas" pitchFamily="34" charset="-122"/>
                <a:cs typeface="Consolas" pitchFamily="34" charset="-120"/>
              </a:rPr>
              <a:t>GATE  </a:t>
            </a:r>
            <a:pPr indent="0" marL="0">
              <a:buNone/>
            </a:pPr>
            <a:r>
              <a:rPr lang="en-US" sz="1100" b="1" dirty="0">
                <a:solidFill>
                  <a:srgbClr val="F2F4F6"/>
                </a:solidFill>
                <a:latin typeface="Segoe UI" pitchFamily="34" charset="0"/>
                <a:ea typeface="Segoe UI" pitchFamily="34" charset="-122"/>
                <a:cs typeface="Segoe UI" pitchFamily="34" charset="-120"/>
              </a:rPr>
              <a:t>Agreed baseline</a:t>
            </a:r>
            <a:endParaRPr lang="en-US" sz="1100" dirty="0"/>
          </a:p>
        </p:txBody>
      </p:sp>
      <p:sp>
        <p:nvSpPr>
          <p:cNvPr id="9" name="Shape 7"/>
          <p:cNvSpPr/>
          <p:nvPr/>
        </p:nvSpPr>
        <p:spPr>
          <a:xfrm>
            <a:off x="3337560" y="1371600"/>
            <a:ext cx="2468880" cy="3017520"/>
          </a:xfrm>
          <a:prstGeom prst="rect">
            <a:avLst/>
          </a:prstGeom>
          <a:solidFill>
            <a:srgbClr val="171B20"/>
          </a:solidFill>
          <a:ln w="9525">
            <a:solidFill>
              <a:srgbClr val="2A3139"/>
            </a:solidFill>
            <a:prstDash val="solid"/>
          </a:ln>
        </p:spPr>
      </p:sp>
      <p:sp>
        <p:nvSpPr>
          <p:cNvPr id="10" name="Text 8"/>
          <p:cNvSpPr txBox="1"/>
          <p:nvPr/>
        </p:nvSpPr>
        <p:spPr>
          <a:xfrm>
            <a:off x="3520440" y="1508760"/>
            <a:ext cx="2148840" cy="274320"/>
          </a:xfrm>
          <a:prstGeom prst="rect">
            <a:avLst/>
          </a:prstGeom>
          <a:noFill/>
          <a:ln/>
        </p:spPr>
        <p:txBody>
          <a:bodyPr wrap="square" lIns="0" tIns="0" rIns="0" bIns="0" rtlCol="0" anchor="ctr"/>
          <a:lstStyle/>
          <a:p>
            <a:pPr indent="0" marL="0">
              <a:buNone/>
            </a:pPr>
            <a:r>
              <a:rPr lang="en-US" sz="900" dirty="0">
                <a:solidFill>
                  <a:srgbClr val="F05A55"/>
                </a:solidFill>
                <a:latin typeface="Consolas" pitchFamily="34" charset="0"/>
                <a:ea typeface="Consolas" pitchFamily="34" charset="-122"/>
                <a:cs typeface="Consolas" pitchFamily="34" charset="-120"/>
              </a:rPr>
              <a:t>DAYS 31–60 · PROOF</a:t>
            </a:r>
            <a:endParaRPr lang="en-US" sz="900" dirty="0"/>
          </a:p>
        </p:txBody>
      </p:sp>
      <p:sp>
        <p:nvSpPr>
          <p:cNvPr id="11" name="Text 9"/>
          <p:cNvSpPr txBox="1"/>
          <p:nvPr/>
        </p:nvSpPr>
        <p:spPr>
          <a:xfrm>
            <a:off x="3520440" y="1874520"/>
            <a:ext cx="2148840" cy="18288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C9CED4"/>
                </a:solidFill>
                <a:latin typeface="Segoe UI" pitchFamily="34" charset="0"/>
                <a:ea typeface="Segoe UI" pitchFamily="34" charset="-122"/>
                <a:cs typeface="Segoe UI" pitchFamily="34" charset="-120"/>
              </a:rPr>
              <a:t>Run 4–6 customer evaluations, sized to SE capacity</a:t>
            </a:r>
            <a:endParaRPr lang="en-US" sz="1100" dirty="0"/>
          </a:p>
          <a:p>
            <a:pPr marL="342900" indent="-342900">
              <a:spcAft>
                <a:spcPts val="600"/>
              </a:spcAft>
              <a:buSzPct val="100000"/>
              <a:buChar char="•"/>
            </a:pPr>
            <a:r>
              <a:rPr lang="en-US" sz="1100" dirty="0">
                <a:solidFill>
                  <a:srgbClr val="C9CED4"/>
                </a:solidFill>
                <a:latin typeface="Segoe UI" pitchFamily="34" charset="0"/>
                <a:ea typeface="Segoe UI" pitchFamily="34" charset="-122"/>
                <a:cs typeface="Segoe UI" pitchFamily="34" charset="-120"/>
              </a:rPr>
              <a:t>Open 1–2 partners in bounded pilots</a:t>
            </a:r>
            <a:endParaRPr lang="en-US" sz="1100" dirty="0"/>
          </a:p>
          <a:p>
            <a:pPr marL="342900" indent="-342900">
              <a:spcAft>
                <a:spcPts val="600"/>
              </a:spcAft>
              <a:buSzPct val="100000"/>
              <a:buChar char="•"/>
            </a:pPr>
            <a:r>
              <a:rPr lang="en-US" sz="1100" dirty="0">
                <a:solidFill>
                  <a:srgbClr val="C9CED4"/>
                </a:solidFill>
                <a:latin typeface="Segoe UI" pitchFamily="34" charset="0"/>
                <a:ea typeface="Segoe UI" pitchFamily="34" charset="-122"/>
                <a:cs typeface="Segoe UI" pitchFamily="34" charset="-120"/>
              </a:rPr>
              <a:t>Measure conversion by account and motion</a:t>
            </a:r>
            <a:endParaRPr lang="en-US" sz="1100" dirty="0"/>
          </a:p>
        </p:txBody>
      </p:sp>
      <p:sp>
        <p:nvSpPr>
          <p:cNvPr id="12" name="Text 10"/>
          <p:cNvSpPr txBox="1"/>
          <p:nvPr/>
        </p:nvSpPr>
        <p:spPr>
          <a:xfrm>
            <a:off x="3520440" y="3794760"/>
            <a:ext cx="2148840" cy="457200"/>
          </a:xfrm>
          <a:prstGeom prst="rect">
            <a:avLst/>
          </a:prstGeom>
          <a:noFill/>
          <a:ln/>
        </p:spPr>
        <p:txBody>
          <a:bodyPr wrap="square" lIns="0" tIns="0" rIns="0" bIns="0" rtlCol="0" anchor="ctr"/>
          <a:lstStyle/>
          <a:p>
            <a:pPr indent="0" marL="0">
              <a:buNone/>
            </a:pPr>
            <a:r>
              <a:rPr lang="en-US" sz="900" dirty="0">
                <a:solidFill>
                  <a:srgbClr val="8E98A3"/>
                </a:solidFill>
                <a:latin typeface="Consolas" pitchFamily="34" charset="0"/>
                <a:ea typeface="Consolas" pitchFamily="34" charset="-122"/>
                <a:cs typeface="Consolas" pitchFamily="34" charset="-120"/>
              </a:rPr>
              <a:t>GATE  </a:t>
            </a:r>
            <a:pPr indent="0" marL="0">
              <a:buNone/>
            </a:pPr>
            <a:r>
              <a:rPr lang="en-US" sz="1100" b="1" dirty="0">
                <a:solidFill>
                  <a:srgbClr val="F2F4F6"/>
                </a:solidFill>
                <a:latin typeface="Segoe UI" pitchFamily="34" charset="0"/>
                <a:ea typeface="Segoe UI" pitchFamily="34" charset="-122"/>
                <a:cs typeface="Segoe UI" pitchFamily="34" charset="-120"/>
              </a:rPr>
              <a:t>Evaluations live, with criteria and dates</a:t>
            </a:r>
            <a:endParaRPr lang="en-US" sz="1100" dirty="0"/>
          </a:p>
        </p:txBody>
      </p:sp>
      <p:sp>
        <p:nvSpPr>
          <p:cNvPr id="13" name="Shape 11"/>
          <p:cNvSpPr/>
          <p:nvPr/>
        </p:nvSpPr>
        <p:spPr>
          <a:xfrm>
            <a:off x="6035040" y="1371600"/>
            <a:ext cx="2468880" cy="3017520"/>
          </a:xfrm>
          <a:prstGeom prst="rect">
            <a:avLst/>
          </a:prstGeom>
          <a:solidFill>
            <a:srgbClr val="171B20"/>
          </a:solidFill>
          <a:ln w="9525">
            <a:solidFill>
              <a:srgbClr val="2A3139"/>
            </a:solidFill>
            <a:prstDash val="solid"/>
          </a:ln>
        </p:spPr>
      </p:sp>
      <p:sp>
        <p:nvSpPr>
          <p:cNvPr id="14" name="Text 12"/>
          <p:cNvSpPr txBox="1"/>
          <p:nvPr/>
        </p:nvSpPr>
        <p:spPr>
          <a:xfrm>
            <a:off x="6217920" y="1508760"/>
            <a:ext cx="2148840" cy="274320"/>
          </a:xfrm>
          <a:prstGeom prst="rect">
            <a:avLst/>
          </a:prstGeom>
          <a:noFill/>
          <a:ln/>
        </p:spPr>
        <p:txBody>
          <a:bodyPr wrap="square" lIns="0" tIns="0" rIns="0" bIns="0" rtlCol="0" anchor="ctr"/>
          <a:lstStyle/>
          <a:p>
            <a:pPr indent="0" marL="0">
              <a:buNone/>
            </a:pPr>
            <a:r>
              <a:rPr lang="en-US" sz="900" dirty="0">
                <a:solidFill>
                  <a:srgbClr val="F05A55"/>
                </a:solidFill>
                <a:latin typeface="Consolas" pitchFamily="34" charset="0"/>
                <a:ea typeface="Consolas" pitchFamily="34" charset="-122"/>
                <a:cs typeface="Consolas" pitchFamily="34" charset="-120"/>
              </a:rPr>
              <a:t>DAYS 61–90 · COMMITMENT</a:t>
            </a:r>
            <a:endParaRPr lang="en-US" sz="900" dirty="0"/>
          </a:p>
        </p:txBody>
      </p:sp>
      <p:sp>
        <p:nvSpPr>
          <p:cNvPr id="15" name="Text 13"/>
          <p:cNvSpPr txBox="1"/>
          <p:nvPr/>
        </p:nvSpPr>
        <p:spPr>
          <a:xfrm>
            <a:off x="6217920" y="1874520"/>
            <a:ext cx="2148840" cy="18288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C9CED4"/>
                </a:solidFill>
                <a:latin typeface="Segoe UI" pitchFamily="34" charset="0"/>
                <a:ea typeface="Segoe UI" pitchFamily="34" charset="-122"/>
                <a:cs typeface="Segoe UI" pitchFamily="34" charset="-120"/>
              </a:rPr>
              <a:t>Every priority account: advance, nurture or stop</a:t>
            </a:r>
            <a:endParaRPr lang="en-US" sz="1100" dirty="0"/>
          </a:p>
          <a:p>
            <a:pPr marL="342900" indent="-342900">
              <a:spcAft>
                <a:spcPts val="600"/>
              </a:spcAft>
              <a:buSzPct val="100000"/>
              <a:buChar char="•"/>
            </a:pPr>
            <a:r>
              <a:rPr lang="en-US" sz="1100" dirty="0">
                <a:solidFill>
                  <a:srgbClr val="C9CED4"/>
                </a:solidFill>
                <a:latin typeface="Segoe UI" pitchFamily="34" charset="0"/>
                <a:ea typeface="Segoe UI" pitchFamily="34" charset="-122"/>
                <a:cs typeface="Segoe UI" pitchFamily="34" charset="-120"/>
              </a:rPr>
              <a:t>Design-in decisions where the customer's clock allows</a:t>
            </a:r>
            <a:endParaRPr lang="en-US" sz="1100" dirty="0"/>
          </a:p>
          <a:p>
            <a:pPr marL="342900" indent="-342900">
              <a:spcAft>
                <a:spcPts val="600"/>
              </a:spcAft>
              <a:buSzPct val="100000"/>
              <a:buChar char="•"/>
            </a:pPr>
            <a:r>
              <a:rPr lang="en-US" sz="1100" dirty="0">
                <a:solidFill>
                  <a:srgbClr val="C9CED4"/>
                </a:solidFill>
                <a:latin typeface="Segoe UI" pitchFamily="34" charset="0"/>
                <a:ea typeface="Segoe UI" pitchFamily="34" charset="-122"/>
                <a:cs typeface="Segoe UI" pitchFamily="34" charset="-120"/>
              </a:rPr>
              <a:t>Bottom-up forecast, every input labelled</a:t>
            </a:r>
            <a:endParaRPr lang="en-US" sz="1100" dirty="0"/>
          </a:p>
        </p:txBody>
      </p:sp>
      <p:sp>
        <p:nvSpPr>
          <p:cNvPr id="16" name="Text 14"/>
          <p:cNvSpPr txBox="1"/>
          <p:nvPr/>
        </p:nvSpPr>
        <p:spPr>
          <a:xfrm>
            <a:off x="6217920" y="3794760"/>
            <a:ext cx="2148840" cy="457200"/>
          </a:xfrm>
          <a:prstGeom prst="rect">
            <a:avLst/>
          </a:prstGeom>
          <a:noFill/>
          <a:ln/>
        </p:spPr>
        <p:txBody>
          <a:bodyPr wrap="square" lIns="0" tIns="0" rIns="0" bIns="0" rtlCol="0" anchor="ctr"/>
          <a:lstStyle/>
          <a:p>
            <a:pPr indent="0" marL="0">
              <a:buNone/>
            </a:pPr>
            <a:r>
              <a:rPr lang="en-US" sz="900" dirty="0">
                <a:solidFill>
                  <a:srgbClr val="8E98A3"/>
                </a:solidFill>
                <a:latin typeface="Consolas" pitchFamily="34" charset="0"/>
                <a:ea typeface="Consolas" pitchFamily="34" charset="-122"/>
                <a:cs typeface="Consolas" pitchFamily="34" charset="-120"/>
              </a:rPr>
              <a:t>GATE  </a:t>
            </a:r>
            <a:pPr indent="0" marL="0">
              <a:buNone/>
            </a:pPr>
            <a:r>
              <a:rPr lang="en-US" sz="1100" b="1" dirty="0">
                <a:solidFill>
                  <a:srgbClr val="F2F4F6"/>
                </a:solidFill>
                <a:latin typeface="Segoe UI" pitchFamily="34" charset="0"/>
                <a:ea typeface="Segoe UI" pitchFamily="34" charset="-122"/>
                <a:cs typeface="Segoe UI" pitchFamily="34" charset="-120"/>
              </a:rPr>
              <a:t>Customer-backed forecast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D10"/>
        </a:solidFill>
      </p:bgPr>
    </p:bg>
    <p:spTree>
      <p:nvGrpSpPr>
        <p:cNvPr id="1" name=""/>
        <p:cNvGrpSpPr/>
        <p:nvPr/>
      </p:nvGrpSpPr>
      <p:grpSpPr>
        <a:xfrm>
          <a:off x="0" y="0"/>
          <a:ext cx="0" cy="0"/>
          <a:chOff x="0" y="0"/>
          <a:chExt cx="0" cy="0"/>
        </a:xfrm>
      </p:grpSpPr>
      <p:sp>
        <p:nvSpPr>
          <p:cNvPr id="2" name="Text 0"/>
          <p:cNvSpPr txBox="1"/>
          <p:nvPr/>
        </p:nvSpPr>
        <p:spPr>
          <a:xfrm>
            <a:off x="640080" y="384048"/>
            <a:ext cx="7863840" cy="228600"/>
          </a:xfrm>
          <a:prstGeom prst="rect">
            <a:avLst/>
          </a:prstGeom>
          <a:noFill/>
          <a:ln/>
        </p:spPr>
        <p:txBody>
          <a:bodyPr wrap="square" lIns="0" tIns="0" rIns="0" bIns="0" rtlCol="0" anchor="ctr"/>
          <a:lstStyle/>
          <a:p>
            <a:pPr indent="0" marL="0">
              <a:buNone/>
            </a:pPr>
            <a:r>
              <a:rPr lang="en-US" sz="950" spc="100" kern="0" dirty="0">
                <a:solidFill>
                  <a:srgbClr val="8E98A3"/>
                </a:solidFill>
                <a:latin typeface="Consolas" pitchFamily="34" charset="0"/>
                <a:ea typeface="Consolas" pitchFamily="34" charset="-122"/>
                <a:cs typeface="Consolas" pitchFamily="34" charset="-120"/>
              </a:rPr>
              <a:t>DISCUSSION</a:t>
            </a:r>
            <a:endParaRPr lang="en-US" sz="950" dirty="0"/>
          </a:p>
        </p:txBody>
      </p:sp>
      <p:sp>
        <p:nvSpPr>
          <p:cNvPr id="3" name="Text 1"/>
          <p:cNvSpPr txBox="1"/>
          <p:nvPr/>
        </p:nvSpPr>
        <p:spPr>
          <a:xfrm>
            <a:off x="640080" y="658368"/>
            <a:ext cx="7863840" cy="566928"/>
          </a:xfrm>
          <a:prstGeom prst="rect">
            <a:avLst/>
          </a:prstGeom>
          <a:noFill/>
          <a:ln/>
        </p:spPr>
        <p:txBody>
          <a:bodyPr wrap="square" lIns="0" tIns="0" rIns="0" bIns="0" rtlCol="0" anchor="t"/>
          <a:lstStyle/>
          <a:p>
            <a:pPr indent="0" marL="0">
              <a:buNone/>
            </a:pPr>
            <a:r>
              <a:rPr lang="en-US" sz="2200" b="1" dirty="0">
                <a:solidFill>
                  <a:srgbClr val="F2F4F6"/>
                </a:solidFill>
                <a:latin typeface="Segoe UI" pitchFamily="34" charset="0"/>
                <a:ea typeface="Segoe UI" pitchFamily="34" charset="-122"/>
                <a:cs typeface="Segoe UI" pitchFamily="34" charset="-120"/>
              </a:rPr>
              <a:t>Three questions for you</a:t>
            </a:r>
            <a:endParaRPr lang="en-US" sz="2200" dirty="0"/>
          </a:p>
        </p:txBody>
      </p:sp>
      <p:sp>
        <p:nvSpPr>
          <p:cNvPr id="4" name="Text 2"/>
          <p:cNvSpPr txBox="1"/>
          <p:nvPr/>
        </p:nvSpPr>
        <p:spPr>
          <a:xfrm>
            <a:off x="640080" y="1371600"/>
            <a:ext cx="1463040" cy="685800"/>
          </a:xfrm>
          <a:prstGeom prst="rect">
            <a:avLst/>
          </a:prstGeom>
          <a:noFill/>
          <a:ln/>
        </p:spPr>
        <p:txBody>
          <a:bodyPr wrap="square" lIns="0" tIns="0" rIns="0" bIns="0" rtlCol="0" anchor="t"/>
          <a:lstStyle/>
          <a:p>
            <a:pPr indent="0" marL="0">
              <a:buNone/>
            </a:pPr>
            <a:r>
              <a:rPr lang="en-US" sz="1000" dirty="0">
                <a:solidFill>
                  <a:srgbClr val="F05A55"/>
                </a:solidFill>
                <a:latin typeface="Consolas" pitchFamily="34" charset="0"/>
                <a:ea typeface="Consolas" pitchFamily="34" charset="-122"/>
                <a:cs typeface="Consolas" pitchFamily="34" charset="-120"/>
              </a:rPr>
              <a:t>GROWTH</a:t>
            </a:r>
            <a:endParaRPr lang="en-US" sz="1000" dirty="0"/>
          </a:p>
        </p:txBody>
      </p:sp>
      <p:sp>
        <p:nvSpPr>
          <p:cNvPr id="5" name="Text 3"/>
          <p:cNvSpPr txBox="1"/>
          <p:nvPr/>
        </p:nvSpPr>
        <p:spPr>
          <a:xfrm>
            <a:off x="2194560" y="1371600"/>
            <a:ext cx="6309360" cy="685800"/>
          </a:xfrm>
          <a:prstGeom prst="rect">
            <a:avLst/>
          </a:prstGeom>
          <a:noFill/>
          <a:ln/>
        </p:spPr>
        <p:txBody>
          <a:bodyPr wrap="square" lIns="0" tIns="0" rIns="0" bIns="0" rtlCol="0" anchor="t"/>
          <a:lstStyle/>
          <a:p>
            <a:pPr indent="0" marL="0">
              <a:buNone/>
            </a:pPr>
            <a:r>
              <a:rPr lang="en-US" sz="1300" dirty="0">
                <a:solidFill>
                  <a:srgbClr val="F2F4F6"/>
                </a:solidFill>
                <a:latin typeface="Segoe UI" pitchFamily="34" charset="0"/>
                <a:ea typeface="Segoe UI" pitchFamily="34" charset="-122"/>
                <a:cs typeface="Segoe UI" pitchFamily="34" charset="-120"/>
              </a:rPr>
              <a:t>Is Europe mainly a new-logo build, expansion inside platforms you're already on, or a real step-up in regional revenue?</a:t>
            </a:r>
            <a:endParaRPr lang="en-US" sz="1300" dirty="0"/>
          </a:p>
        </p:txBody>
      </p:sp>
      <p:sp>
        <p:nvSpPr>
          <p:cNvPr id="6" name="Text 4"/>
          <p:cNvSpPr txBox="1"/>
          <p:nvPr/>
        </p:nvSpPr>
        <p:spPr>
          <a:xfrm>
            <a:off x="640080" y="2240280"/>
            <a:ext cx="1463040" cy="685800"/>
          </a:xfrm>
          <a:prstGeom prst="rect">
            <a:avLst/>
          </a:prstGeom>
          <a:noFill/>
          <a:ln/>
        </p:spPr>
        <p:txBody>
          <a:bodyPr wrap="square" lIns="0" tIns="0" rIns="0" bIns="0" rtlCol="0" anchor="t"/>
          <a:lstStyle/>
          <a:p>
            <a:pPr indent="0" marL="0">
              <a:buNone/>
            </a:pPr>
            <a:r>
              <a:rPr lang="en-US" sz="1000" dirty="0">
                <a:solidFill>
                  <a:srgbClr val="F05A55"/>
                </a:solidFill>
                <a:latin typeface="Consolas" pitchFamily="34" charset="0"/>
                <a:ea typeface="Consolas" pitchFamily="34" charset="-122"/>
                <a:cs typeface="Consolas" pitchFamily="34" charset="-120"/>
              </a:rPr>
              <a:t>OWNERSHIP</a:t>
            </a:r>
            <a:endParaRPr lang="en-US" sz="1000" dirty="0"/>
          </a:p>
        </p:txBody>
      </p:sp>
      <p:sp>
        <p:nvSpPr>
          <p:cNvPr id="7" name="Text 5"/>
          <p:cNvSpPr txBox="1"/>
          <p:nvPr/>
        </p:nvSpPr>
        <p:spPr>
          <a:xfrm>
            <a:off x="2194560" y="2240280"/>
            <a:ext cx="6309360" cy="685800"/>
          </a:xfrm>
          <a:prstGeom prst="rect">
            <a:avLst/>
          </a:prstGeom>
          <a:noFill/>
          <a:ln/>
        </p:spPr>
        <p:txBody>
          <a:bodyPr wrap="square" lIns="0" tIns="0" rIns="0" bIns="0" rtlCol="0" anchor="t"/>
          <a:lstStyle/>
          <a:p>
            <a:pPr indent="0" marL="0">
              <a:buNone/>
            </a:pPr>
            <a:r>
              <a:rPr lang="en-US" sz="1300" dirty="0">
                <a:solidFill>
                  <a:srgbClr val="F2F4F6"/>
                </a:solidFill>
                <a:latin typeface="Segoe UI" pitchFamily="34" charset="0"/>
                <a:ea typeface="Segoe UI" pitchFamily="34" charset="-122"/>
                <a:cs typeface="Segoe UI" pitchFamily="34" charset="-120"/>
              </a:rPr>
              <a:t>When a high-value OEM sits across a border, does ownership follow geography, relationships, or whoever is best placed to win the design-in?</a:t>
            </a:r>
            <a:endParaRPr lang="en-US" sz="1300" dirty="0"/>
          </a:p>
        </p:txBody>
      </p:sp>
      <p:sp>
        <p:nvSpPr>
          <p:cNvPr id="8" name="Text 6"/>
          <p:cNvSpPr txBox="1"/>
          <p:nvPr/>
        </p:nvSpPr>
        <p:spPr>
          <a:xfrm>
            <a:off x="640080" y="3108960"/>
            <a:ext cx="1463040" cy="685800"/>
          </a:xfrm>
          <a:prstGeom prst="rect">
            <a:avLst/>
          </a:prstGeom>
          <a:noFill/>
          <a:ln/>
        </p:spPr>
        <p:txBody>
          <a:bodyPr wrap="square" lIns="0" tIns="0" rIns="0" bIns="0" rtlCol="0" anchor="t"/>
          <a:lstStyle/>
          <a:p>
            <a:pPr indent="0" marL="0">
              <a:buNone/>
            </a:pPr>
            <a:r>
              <a:rPr lang="en-US" sz="1000" dirty="0">
                <a:solidFill>
                  <a:srgbClr val="F05A55"/>
                </a:solidFill>
                <a:latin typeface="Consolas" pitchFamily="34" charset="0"/>
                <a:ea typeface="Consolas" pitchFamily="34" charset="-122"/>
                <a:cs typeface="Consolas" pitchFamily="34" charset="-120"/>
              </a:rPr>
              <a:t>SUCCESS</a:t>
            </a:r>
            <a:endParaRPr lang="en-US" sz="1000" dirty="0"/>
          </a:p>
        </p:txBody>
      </p:sp>
      <p:sp>
        <p:nvSpPr>
          <p:cNvPr id="9" name="Text 7"/>
          <p:cNvSpPr txBox="1"/>
          <p:nvPr/>
        </p:nvSpPr>
        <p:spPr>
          <a:xfrm>
            <a:off x="2194560" y="3108960"/>
            <a:ext cx="6309360" cy="685800"/>
          </a:xfrm>
          <a:prstGeom prst="rect">
            <a:avLst/>
          </a:prstGeom>
          <a:noFill/>
          <a:ln/>
        </p:spPr>
        <p:txBody>
          <a:bodyPr wrap="square" lIns="0" tIns="0" rIns="0" bIns="0" rtlCol="0" anchor="t"/>
          <a:lstStyle/>
          <a:p>
            <a:pPr indent="0" marL="0">
              <a:buNone/>
            </a:pPr>
            <a:r>
              <a:rPr lang="en-US" sz="1300" dirty="0">
                <a:solidFill>
                  <a:srgbClr val="F2F4F6"/>
                </a:solidFill>
                <a:latin typeface="Segoe UI" pitchFamily="34" charset="0"/>
                <a:ea typeface="Segoe UI" pitchFamily="34" charset="-122"/>
                <a:cs typeface="Segoe UI" pitchFamily="34" charset="-120"/>
              </a:rPr>
              <a:t>Twelve months from now, what would make you say this role clearly exceeded expectations?</a:t>
            </a:r>
            <a:endParaRPr lang="en-US" sz="1300" dirty="0"/>
          </a:p>
        </p:txBody>
      </p:sp>
      <p:sp>
        <p:nvSpPr>
          <p:cNvPr id="10" name="Text 8"/>
          <p:cNvSpPr txBox="1"/>
          <p:nvPr/>
        </p:nvSpPr>
        <p:spPr>
          <a:xfrm>
            <a:off x="640080" y="4160520"/>
            <a:ext cx="7863840" cy="457200"/>
          </a:xfrm>
          <a:prstGeom prst="rect">
            <a:avLst/>
          </a:prstGeom>
          <a:noFill/>
          <a:ln/>
        </p:spPr>
        <p:txBody>
          <a:bodyPr wrap="square" lIns="0" tIns="0" rIns="0" bIns="0" rtlCol="0" anchor="ctr"/>
          <a:lstStyle/>
          <a:p>
            <a:pPr indent="0" marL="0">
              <a:buNone/>
            </a:pPr>
            <a:r>
              <a:rPr lang="en-US" sz="1400" b="1" dirty="0">
                <a:solidFill>
                  <a:srgbClr val="F2F4F6"/>
                </a:solidFill>
                <a:latin typeface="Segoe UI" pitchFamily="34" charset="0"/>
                <a:ea typeface="Segoe UI" pitchFamily="34" charset="-122"/>
                <a:cs typeface="Segoe UI" pitchFamily="34" charset="-120"/>
              </a:rPr>
              <a:t>Give me the account list and 90 days — you'll have a forecast where every number has a source.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D10"/>
        </a:solidFill>
      </p:bgPr>
    </p:bg>
    <p:spTree>
      <p:nvGrpSpPr>
        <p:cNvPr id="1" name=""/>
        <p:cNvGrpSpPr/>
        <p:nvPr/>
      </p:nvGrpSpPr>
      <p:grpSpPr>
        <a:xfrm>
          <a:off x="0" y="0"/>
          <a:ext cx="0" cy="0"/>
          <a:chOff x="0" y="0"/>
          <a:chExt cx="0" cy="0"/>
        </a:xfrm>
      </p:grpSpPr>
      <p:sp>
        <p:nvSpPr>
          <p:cNvPr id="2" name="Text 0"/>
          <p:cNvSpPr txBox="1"/>
          <p:nvPr/>
        </p:nvSpPr>
        <p:spPr>
          <a:xfrm>
            <a:off x="640080" y="384048"/>
            <a:ext cx="7863840" cy="228600"/>
          </a:xfrm>
          <a:prstGeom prst="rect">
            <a:avLst/>
          </a:prstGeom>
          <a:noFill/>
          <a:ln/>
        </p:spPr>
        <p:txBody>
          <a:bodyPr wrap="square" lIns="0" tIns="0" rIns="0" bIns="0" rtlCol="0" anchor="ctr"/>
          <a:lstStyle/>
          <a:p>
            <a:pPr indent="0" marL="0">
              <a:buNone/>
            </a:pPr>
            <a:r>
              <a:rPr lang="en-US" sz="950" spc="100" kern="0" dirty="0">
                <a:solidFill>
                  <a:srgbClr val="8E98A3"/>
                </a:solidFill>
                <a:latin typeface="Consolas" pitchFamily="34" charset="0"/>
                <a:ea typeface="Consolas" pitchFamily="34" charset="-122"/>
                <a:cs typeface="Consolas" pitchFamily="34" charset="-120"/>
              </a:rPr>
              <a:t>BACKUP · OPEN ONLY IF ASKED</a:t>
            </a:r>
            <a:endParaRPr lang="en-US" sz="950" dirty="0"/>
          </a:p>
        </p:txBody>
      </p:sp>
      <p:sp>
        <p:nvSpPr>
          <p:cNvPr id="3" name="Text 1"/>
          <p:cNvSpPr txBox="1"/>
          <p:nvPr/>
        </p:nvSpPr>
        <p:spPr>
          <a:xfrm>
            <a:off x="640080" y="658368"/>
            <a:ext cx="7863840" cy="566928"/>
          </a:xfrm>
          <a:prstGeom prst="rect">
            <a:avLst/>
          </a:prstGeom>
          <a:noFill/>
          <a:ln/>
        </p:spPr>
        <p:txBody>
          <a:bodyPr wrap="square" lIns="0" tIns="0" rIns="0" bIns="0" rtlCol="0" anchor="t"/>
          <a:lstStyle/>
          <a:p>
            <a:pPr indent="0" marL="0">
              <a:buNone/>
            </a:pPr>
            <a:r>
              <a:rPr lang="en-US" sz="2200" b="1" dirty="0">
                <a:solidFill>
                  <a:srgbClr val="F2F4F6"/>
                </a:solidFill>
                <a:latin typeface="Segoe UI" pitchFamily="34" charset="0"/>
                <a:ea typeface="Segoe UI" pitchFamily="34" charset="-122"/>
                <a:cs typeface="Segoe UI" pitchFamily="34" charset="-120"/>
              </a:rPr>
              <a:t>How the numbers were built</a:t>
            </a:r>
            <a:endParaRPr lang="en-US" sz="2200" dirty="0"/>
          </a:p>
        </p:txBody>
      </p:sp>
      <p:sp>
        <p:nvSpPr>
          <p:cNvPr id="4" name="Text 2"/>
          <p:cNvSpPr txBox="1"/>
          <p:nvPr/>
        </p:nvSpPr>
        <p:spPr>
          <a:xfrm>
            <a:off x="640080" y="4590288"/>
            <a:ext cx="7863840" cy="256032"/>
          </a:xfrm>
          <a:prstGeom prst="rect">
            <a:avLst/>
          </a:prstGeom>
          <a:noFill/>
          <a:ln/>
        </p:spPr>
        <p:txBody>
          <a:bodyPr wrap="square" lIns="0" tIns="0" rIns="0" bIns="0" rtlCol="0" anchor="ctr"/>
          <a:lstStyle/>
          <a:p>
            <a:pPr indent="0" marL="0">
              <a:buNone/>
            </a:pPr>
            <a:r>
              <a:rPr lang="en-US" sz="950" dirty="0">
                <a:solidFill>
                  <a:srgbClr val="F05A55"/>
                </a:solidFill>
                <a:latin typeface="Segoe UI" pitchFamily="34" charset="0"/>
                <a:ea typeface="Segoe UI" pitchFamily="34" charset="-122"/>
                <a:cs typeface="Segoe UI" pitchFamily="34" charset="-120"/>
              </a:rPr>
              <a:t>Every input is public or labelled ASSUMED. Any number here gets replaced by your internal data in month one.</a:t>
            </a:r>
            <a:endParaRPr lang="en-US" sz="950" dirty="0"/>
          </a:p>
        </p:txBody>
      </p:sp>
      <p:sp>
        <p:nvSpPr>
          <p:cNvPr id="5" name="Text 3"/>
          <p:cNvSpPr txBox="1"/>
          <p:nvPr/>
        </p:nvSpPr>
        <p:spPr>
          <a:xfrm>
            <a:off x="640080" y="1371600"/>
            <a:ext cx="1737360" cy="530352"/>
          </a:xfrm>
          <a:prstGeom prst="rect">
            <a:avLst/>
          </a:prstGeom>
          <a:noFill/>
          <a:ln/>
        </p:spPr>
        <p:txBody>
          <a:bodyPr wrap="square" lIns="0" tIns="0" rIns="0" bIns="0" rtlCol="0" anchor="t"/>
          <a:lstStyle/>
          <a:p>
            <a:pPr indent="0" marL="0">
              <a:buNone/>
            </a:pPr>
            <a:r>
              <a:rPr lang="en-US" sz="950" dirty="0">
                <a:solidFill>
                  <a:srgbClr val="F05A55"/>
                </a:solidFill>
                <a:latin typeface="Consolas" pitchFamily="34" charset="0"/>
                <a:ea typeface="Consolas" pitchFamily="34" charset="-122"/>
                <a:cs typeface="Consolas" pitchFamily="34" charset="-120"/>
              </a:rPr>
              <a:t>Account map</a:t>
            </a:r>
            <a:endParaRPr lang="en-US" sz="950" dirty="0"/>
          </a:p>
        </p:txBody>
      </p:sp>
      <p:sp>
        <p:nvSpPr>
          <p:cNvPr id="6" name="Text 4"/>
          <p:cNvSpPr txBox="1"/>
          <p:nvPr/>
        </p:nvSpPr>
        <p:spPr>
          <a:xfrm>
            <a:off x="2468880" y="1371600"/>
            <a:ext cx="6035040" cy="530352"/>
          </a:xfrm>
          <a:prstGeom prst="rect">
            <a:avLst/>
          </a:prstGeom>
          <a:noFill/>
          <a:ln/>
        </p:spPr>
        <p:txBody>
          <a:bodyPr wrap="square" lIns="0" tIns="0" rIns="0" bIns="0" rtlCol="0" anchor="t"/>
          <a:lstStyle/>
          <a:p>
            <a:pPr indent="0" marL="0">
              <a:buNone/>
            </a:pPr>
            <a:r>
              <a:rPr lang="en-US" sz="1100" dirty="0">
                <a:solidFill>
                  <a:srgbClr val="C9CED4"/>
                </a:solidFill>
                <a:latin typeface="Segoe UI" pitchFamily="34" charset="0"/>
                <a:ea typeface="Segoe UI" pitchFamily="34" charset="-122"/>
                <a:cs typeface="Segoe UI" pitchFamily="34" charset="-120"/>
              </a:rPr>
              <a:t>840 companies read at source → 2,781 platform–SKU matches → 153 with a published band that overlaps a SKU (37 companies)</a:t>
            </a:r>
            <a:endParaRPr lang="en-US" sz="1100" dirty="0"/>
          </a:p>
        </p:txBody>
      </p:sp>
      <p:sp>
        <p:nvSpPr>
          <p:cNvPr id="7" name="Text 5"/>
          <p:cNvSpPr txBox="1"/>
          <p:nvPr/>
        </p:nvSpPr>
        <p:spPr>
          <a:xfrm>
            <a:off x="640080" y="1975104"/>
            <a:ext cx="1737360" cy="530352"/>
          </a:xfrm>
          <a:prstGeom prst="rect">
            <a:avLst/>
          </a:prstGeom>
          <a:noFill/>
          <a:ln/>
        </p:spPr>
        <p:txBody>
          <a:bodyPr wrap="square" lIns="0" tIns="0" rIns="0" bIns="0" rtlCol="0" anchor="t"/>
          <a:lstStyle/>
          <a:p>
            <a:pPr indent="0" marL="0">
              <a:buNone/>
            </a:pPr>
            <a:r>
              <a:rPr lang="en-US" sz="950" dirty="0">
                <a:solidFill>
                  <a:srgbClr val="F05A55"/>
                </a:solidFill>
                <a:latin typeface="Consolas" pitchFamily="34" charset="0"/>
                <a:ea typeface="Consolas" pitchFamily="34" charset="-122"/>
                <a:cs typeface="Consolas" pitchFamily="34" charset="-120"/>
              </a:rPr>
              <a:t>Signals</a:t>
            </a:r>
            <a:endParaRPr lang="en-US" sz="950" dirty="0"/>
          </a:p>
        </p:txBody>
      </p:sp>
      <p:sp>
        <p:nvSpPr>
          <p:cNvPr id="8" name="Text 6"/>
          <p:cNvSpPr txBox="1"/>
          <p:nvPr/>
        </p:nvSpPr>
        <p:spPr>
          <a:xfrm>
            <a:off x="2468880" y="1975104"/>
            <a:ext cx="6035040" cy="530352"/>
          </a:xfrm>
          <a:prstGeom prst="rect">
            <a:avLst/>
          </a:prstGeom>
          <a:noFill/>
          <a:ln/>
        </p:spPr>
        <p:txBody>
          <a:bodyPr wrap="square" lIns="0" tIns="0" rIns="0" bIns="0" rtlCol="0" anchor="t"/>
          <a:lstStyle/>
          <a:p>
            <a:pPr indent="0" marL="0">
              <a:buNone/>
            </a:pPr>
            <a:r>
              <a:rPr lang="en-US" sz="1100" dirty="0">
                <a:solidFill>
                  <a:srgbClr val="C9CED4"/>
                </a:solidFill>
                <a:latin typeface="Segoe UI" pitchFamily="34" charset="0"/>
                <a:ea typeface="Segoe UI" pitchFamily="34" charset="-122"/>
                <a:cs typeface="Segoe UI" pitchFamily="34" charset="-120"/>
              </a:rPr>
              <a:t>5 name Doodle · 15 name Silvus · 177 platforms publish no radio · 17 dated triggers in 10 companies</a:t>
            </a:r>
            <a:endParaRPr lang="en-US" sz="1100" dirty="0"/>
          </a:p>
        </p:txBody>
      </p:sp>
      <p:sp>
        <p:nvSpPr>
          <p:cNvPr id="9" name="Text 7"/>
          <p:cNvSpPr txBox="1"/>
          <p:nvPr/>
        </p:nvSpPr>
        <p:spPr>
          <a:xfrm>
            <a:off x="640080" y="2578608"/>
            <a:ext cx="1737360" cy="530352"/>
          </a:xfrm>
          <a:prstGeom prst="rect">
            <a:avLst/>
          </a:prstGeom>
          <a:noFill/>
          <a:ln/>
        </p:spPr>
        <p:txBody>
          <a:bodyPr wrap="square" lIns="0" tIns="0" rIns="0" bIns="0" rtlCol="0" anchor="t"/>
          <a:lstStyle/>
          <a:p>
            <a:pPr indent="0" marL="0">
              <a:buNone/>
            </a:pPr>
            <a:r>
              <a:rPr lang="en-US" sz="950" dirty="0">
                <a:solidFill>
                  <a:srgbClr val="F05A55"/>
                </a:solidFill>
                <a:latin typeface="Consolas" pitchFamily="34" charset="0"/>
                <a:ea typeface="Consolas" pitchFamily="34" charset="-122"/>
                <a:cs typeface="Consolas" pitchFamily="34" charset="-120"/>
              </a:rPr>
              <a:t>Production model</a:t>
            </a:r>
            <a:endParaRPr lang="en-US" sz="950" dirty="0"/>
          </a:p>
        </p:txBody>
      </p:sp>
      <p:sp>
        <p:nvSpPr>
          <p:cNvPr id="10" name="Text 8"/>
          <p:cNvSpPr txBox="1"/>
          <p:nvPr/>
        </p:nvSpPr>
        <p:spPr>
          <a:xfrm>
            <a:off x="2468880" y="2578608"/>
            <a:ext cx="6035040" cy="530352"/>
          </a:xfrm>
          <a:prstGeom prst="rect">
            <a:avLst/>
          </a:prstGeom>
          <a:noFill/>
          <a:ln/>
        </p:spPr>
        <p:txBody>
          <a:bodyPr wrap="square" lIns="0" tIns="0" rIns="0" bIns="0" rtlCol="0" anchor="t"/>
          <a:lstStyle/>
          <a:p>
            <a:pPr indent="0" marL="0">
              <a:buNone/>
            </a:pPr>
            <a:r>
              <a:rPr lang="en-US" sz="1100" dirty="0">
                <a:solidFill>
                  <a:srgbClr val="C9CED4"/>
                </a:solidFill>
                <a:latin typeface="Segoe UI" pitchFamily="34" charset="0"/>
                <a:ea typeface="Segoe UI" pitchFamily="34" charset="-122"/>
                <a:cs typeface="Segoe UI" pitchFamily="34" charset="-120"/>
              </a:rPr>
              <a:t>20 accounts, 21 platforms, 53 evidence items (39 from contracts or delivery rates). Base, conservative and upside cases</a:t>
            </a:r>
            <a:endParaRPr lang="en-US" sz="1100" dirty="0"/>
          </a:p>
        </p:txBody>
      </p:sp>
      <p:sp>
        <p:nvSpPr>
          <p:cNvPr id="11" name="Text 9"/>
          <p:cNvSpPr txBox="1"/>
          <p:nvPr/>
        </p:nvSpPr>
        <p:spPr>
          <a:xfrm>
            <a:off x="640080" y="3182112"/>
            <a:ext cx="1737360" cy="530352"/>
          </a:xfrm>
          <a:prstGeom prst="rect">
            <a:avLst/>
          </a:prstGeom>
          <a:noFill/>
          <a:ln/>
        </p:spPr>
        <p:txBody>
          <a:bodyPr wrap="square" lIns="0" tIns="0" rIns="0" bIns="0" rtlCol="0" anchor="t"/>
          <a:lstStyle/>
          <a:p>
            <a:pPr indent="0" marL="0">
              <a:buNone/>
            </a:pPr>
            <a:r>
              <a:rPr lang="en-US" sz="950" dirty="0">
                <a:solidFill>
                  <a:srgbClr val="F05A55"/>
                </a:solidFill>
                <a:latin typeface="Consolas" pitchFamily="34" charset="0"/>
                <a:ea typeface="Consolas" pitchFamily="34" charset="-122"/>
                <a:cs typeface="Consolas" pitchFamily="34" charset="-120"/>
              </a:rPr>
              <a:t>Revenue bridge</a:t>
            </a:r>
            <a:endParaRPr lang="en-US" sz="950" dirty="0"/>
          </a:p>
        </p:txBody>
      </p:sp>
      <p:sp>
        <p:nvSpPr>
          <p:cNvPr id="12" name="Text 10"/>
          <p:cNvSpPr txBox="1"/>
          <p:nvPr/>
        </p:nvSpPr>
        <p:spPr>
          <a:xfrm>
            <a:off x="2468880" y="3182112"/>
            <a:ext cx="6035040" cy="530352"/>
          </a:xfrm>
          <a:prstGeom prst="rect">
            <a:avLst/>
          </a:prstGeom>
          <a:noFill/>
          <a:ln/>
        </p:spPr>
        <p:txBody>
          <a:bodyPr wrap="square" lIns="0" tIns="0" rIns="0" bIns="0" rtlCol="0" anchor="t"/>
          <a:lstStyle/>
          <a:p>
            <a:pPr indent="0" marL="0">
              <a:buNone/>
            </a:pPr>
            <a:r>
              <a:rPr lang="en-US" sz="1100" dirty="0">
                <a:solidFill>
                  <a:srgbClr val="C9CED4"/>
                </a:solidFill>
                <a:latin typeface="Segoe UI" pitchFamily="34" charset="0"/>
                <a:ea typeface="Segoe UI" pitchFamily="34" charset="-122"/>
                <a:cs typeface="Segoe UI" pitchFamily="34" charset="-120"/>
              </a:rPr>
              <a:t>Units × radios per platform (1.0–2.0) × planning price $450–1,500 by class — ASSUMED, to be replaced by your price book</a:t>
            </a:r>
            <a:endParaRPr lang="en-US" sz="1100" dirty="0"/>
          </a:p>
        </p:txBody>
      </p:sp>
      <p:sp>
        <p:nvSpPr>
          <p:cNvPr id="13" name="Text 11"/>
          <p:cNvSpPr txBox="1"/>
          <p:nvPr/>
        </p:nvSpPr>
        <p:spPr>
          <a:xfrm>
            <a:off x="640080" y="3785616"/>
            <a:ext cx="1737360" cy="530352"/>
          </a:xfrm>
          <a:prstGeom prst="rect">
            <a:avLst/>
          </a:prstGeom>
          <a:noFill/>
          <a:ln/>
        </p:spPr>
        <p:txBody>
          <a:bodyPr wrap="square" lIns="0" tIns="0" rIns="0" bIns="0" rtlCol="0" anchor="t"/>
          <a:lstStyle/>
          <a:p>
            <a:pPr indent="0" marL="0">
              <a:buNone/>
            </a:pPr>
            <a:r>
              <a:rPr lang="en-US" sz="950" dirty="0">
                <a:solidFill>
                  <a:srgbClr val="F05A55"/>
                </a:solidFill>
                <a:latin typeface="Consolas" pitchFamily="34" charset="0"/>
                <a:ea typeface="Consolas" pitchFamily="34" charset="-122"/>
                <a:cs typeface="Consolas" pitchFamily="34" charset="-120"/>
              </a:rPr>
              <a:t>Market facts</a:t>
            </a:r>
            <a:endParaRPr lang="en-US" sz="950" dirty="0"/>
          </a:p>
        </p:txBody>
      </p:sp>
      <p:sp>
        <p:nvSpPr>
          <p:cNvPr id="14" name="Text 12"/>
          <p:cNvSpPr txBox="1"/>
          <p:nvPr/>
        </p:nvSpPr>
        <p:spPr>
          <a:xfrm>
            <a:off x="2468880" y="3785616"/>
            <a:ext cx="6035040" cy="530352"/>
          </a:xfrm>
          <a:prstGeom prst="rect">
            <a:avLst/>
          </a:prstGeom>
          <a:noFill/>
          <a:ln/>
        </p:spPr>
        <p:txBody>
          <a:bodyPr wrap="square" lIns="0" tIns="0" rIns="0" bIns="0" rtlCol="0" anchor="t"/>
          <a:lstStyle/>
          <a:p>
            <a:pPr indent="0" marL="0">
              <a:buNone/>
            </a:pPr>
            <a:r>
              <a:rPr lang="en-US" sz="1100" dirty="0">
                <a:solidFill>
                  <a:srgbClr val="C9CED4"/>
                </a:solidFill>
                <a:latin typeface="Segoe UI" pitchFamily="34" charset="0"/>
                <a:ea typeface="Segoe UI" pitchFamily="34" charset="-122"/>
                <a:cs typeface="Segoe UI" pitchFamily="34" charset="-120"/>
              </a:rPr>
              <a:t>Bundestag €540M (Feb 2026) · DGA 6,000 DELCO (Jun 2026) · EU EDPCI approvals (28 Sep 2026) · SAFE Poland €43.7B, 89% domestic</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I would build Doodle Labs Europe</dc:title>
  <dc:subject>PptxGenJS Presentation</dc:subject>
  <dc:creator>Sergio Benavidez</dc:creator>
  <cp:lastModifiedBy>Sergio Benavidez</cp:lastModifiedBy>
  <cp:revision>1</cp:revision>
  <dcterms:created xsi:type="dcterms:W3CDTF">2026-09-28T15:59:47Z</dcterms:created>
  <dcterms:modified xsi:type="dcterms:W3CDTF">2026-09-28T15:59:47Z</dcterms:modified>
</cp:coreProperties>
</file>