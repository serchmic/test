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rgbClr val="2A3139"/>
            </a:solidFill>
            <a:effectLst/>
          </c:spPr>
          <c:invertIfNegative val="0"/>
          <c:dLbls>
            <c:numFmt formatCode="#,##0;;;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6F7882"/>
                    </a:solidFill>
                    <a:latin typeface="Segoe U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Strike</c:v>
                  </c:pt>
                  <c:pt idx="1">
                    <c:v>ISR</c:v>
                  </c:pt>
                  <c:pt idx="2">
                    <c:v>UGV</c:v>
                  </c:pt>
                  <c:pt idx="3">
                    <c:v>Interceptors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3000</c:v>
                </c:pt>
                <c:pt idx="1">
                  <c:v>3550</c:v>
                </c:pt>
                <c:pt idx="2">
                  <c:v>3300</c:v>
                </c:pt>
                <c:pt idx="3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2030</c:v>
                </c:pt>
              </c:strCache>
            </c:strRef>
          </c:tx>
          <c:spPr>
            <a:solidFill>
              <a:srgbClr val="F05A55"/>
            </a:solidFill>
            <a:effectLst/>
          </c:spPr>
          <c:invertIfNegative val="0"/>
          <c:dLbls>
            <c:numFmt formatCode="#,##0;;;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6F7882"/>
                    </a:solidFill>
                    <a:latin typeface="Segoe U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Strike</c:v>
                  </c:pt>
                  <c:pt idx="1">
                    <c:v>ISR</c:v>
                  </c:pt>
                  <c:pt idx="2">
                    <c:v>UGV</c:v>
                  </c:pt>
                  <c:pt idx="3">
                    <c:v>Interceptors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21500</c:v>
                </c:pt>
                <c:pt idx="1">
                  <c:v>12000</c:v>
                </c:pt>
                <c:pt idx="2">
                  <c:v>8450</c:v>
                </c:pt>
                <c:pt idx="3">
                  <c:v>8000</c:v>
                </c:pt>
              </c:numCache>
            </c:numRef>
          </c:val>
        </c:ser>
        <c:dLbls>
          <c:numFmt formatCode="#,##0;;;" sourceLinked="0"/>
          <c:txPr>
            <a:bodyPr/>
            <a:lstStyle/>
            <a:p>
              <a:pPr>
                <a:defRPr b="0" i="0" strike="noStrike" sz="800" u="none">
                  <a:solidFill>
                    <a:srgbClr val="6F7882"/>
                  </a:solidFill>
                  <a:latin typeface="Segoe U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B4BBC3"/>
                </a:solidFill>
                <a:latin typeface="Segoe U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900">
              <a:solidFill>
                <a:srgbClr val="6F7882"/>
              </a:solidFill>
              <a:latin typeface="Segoe UI"/>
              <a:cs typeface="Segoe U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~30 s. First: "Before I start — what's the real end time? I'll fit this to it."
"You asked for four things; I'll take them in that order, in about eight minutes."
Everything comes from public sources — it's a hypothesis until it meets your CRM.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~40 s. €540M: Bundestag, 25-Feb-2026, Helsing HX-2 and STARK Virtus, with options beyond.
6,000: DGA, 1,000 + 5,000 DELCO (Harmattan), Jun-2026.
5 EDPCI approved by EU defence ministers 28-Sep-2026, incl. drones and counter-drone.
Trend: autonomy raises the comms bar — more range, more nodes, more jamming. Air, ground and sea.
Fibre, if raised: it keeps the disposable short-range tier; RF mesh keeps reusable, multi-node, ISR, C2 and UGV. "How do you want the team to answer fibre?"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~45 s. Units, not money. 2025: 9,850; 2030 base: 49,950; upside ~112k.
Only ~13k of 2026 units rest on visible contracts; after that it's options and announced ramps — the conservative case falls after 2027.
Model: 21 platforms, 53 evidence items (39 from contracts or delivery rates). Disclosure bias: German start-ups publish volumes, Southern primes don't.
If "is 5× real?": "The signal isn't the multiple, it's where growth comes from: strike, interceptors, UGVs. Tell me which account looks wrong and I'll show you the source."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~45 s. Four layers, never mixed.
~256k radio nodes; planning prices $450–1,500 by class, anchored on a public Mini OEM price — replaced by your price book on day one. The ranking of accounts barely moves with price.
Open sockets = remove platforms locked by a single incumbent (Milrem, Quantum Vector, Parrot's own radio, Tencore).
"Can we do $215M?" → "No. That's the pool. The number that matters is the bottom one, and I can't build it without your installed base and pricing."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~35 s. Positioning, not a product pitch.
Independence: Silvus has been part of Motorola since Aug-2025. For a European OEM that's a supply-chain question — "is there a second source qualified?" Say it as the customer's question. Never FUD (David sold Silvus).
Captive: WB Group (Poland), Skyfall build their own radios. Sovereignty: Doodle is a US company — sell independence, form factor, supply resilience.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~50 s. The buying unit is a radio socket inside a platform, and who signs it.
Door 1: Airvolute, Auterion, Evolve Dynamics, LUXUAV, UXV name Doodle on their own websites — NOT confirmed customers. Ask what they design next.
Door 2: no published radio ≠ open socket (chosen, NDA, incomplete site). Verify, don't assume.
Door 3: 15 companies name Silvus/StreamCaster publicly — never say they "run" it.
Proof = an eval kit and a number their engineer measured. Credibility = a local reference who holds the relationship — that's how the Portuguese grid deal happened.
Counts from my database, 840 companies, verified 28-Sep-2026.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~45 s. How Europe could be covered — not a claim on territory.
The radio is chosen where the platform is designed: STARK designs in Germany and builds in several countries; Tekever designs in Lisbon and builds in Swindon.
~68% German / ~17% French is where contracted volume is TODAY, partly disclosure bias — never "Germany is the best market".
France anchors the core: contracted volume (DELCO), Harmattan, Delair. Spain and Italy are prime-led build markets.
Poland: SAFE €43.7B, 89% to Polish industry, WB Group builds its own radios.
Andy: "so you want Germany?" → "No. The account should follow the design authority. Who owns Germany is your call; I'd want the rule clear."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~40 s. Five gates, in order — a lead fails at the first one it can't pass.
Timing is the hardest: I can date a buying trigger for only 10 of 840 companies (17 signals). My first scoring engine counted a named competitor as urgency twice; I rebuilt it. "The why-now comes from the call, not the crawl."
Stage evidence = a customer document: a BOM line, an NRE PO, or a signed evaluation agreement. Deal framing: MEDDPICC.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~40 s. "Leads and resellers are two different problems."
Partner types: stocking distributor, demand-generating reseller, engineering integrator. Resell vs white-label decides margin vs design-in.
Start with a bounded pilot: named accounts, deal registration, milestones. Exclusivity only if earned.
Export: one candidate distributor lists a Russia office — settled before the first channel call (only if asked).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~35 s. The base is secured first, not instead — new business runs in parallel from week two.
"What are you designing next?" is where expansion and the next design-in come from.
Ownership: multi-site and cross-border accounts get a written rule before the first conflict.
Also agree stage definitions and SE capacity — "I'd ask you for the number rather than invent one." You're hiring a Sales Engineer in Germany.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~35 s. A kit shipped is not progress; an evaluation with agreed criteria, owner and decision date is.
Why 4–6: one Sales Engineer can't run more strategic evaluations well; at the cap, the newest account waits in a qualified queue.
Existing users: Dual Radio (Sep-2026) is a concrete reason to talk — a hypothesis to test, not a pitch.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~40 s. Revenue in 90 days comes from existing customers; new logos produce decisions, not invoices.
Forecast = design-ins × platform volume × radios per platform × your price, each input tagged known or assumed, weighted by your stage benchmarks.
Design-in clock (my assumption, to calibrate with David): decision ~month 9, first production PO ~month 24.
Year-one number: "With your installed base and price book I'd commit to one in week four."
Line: "Thirty days buy information, sixty buy proof, ninety buy commitment."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~30 s, then stop and listen. Growth → Amol. Ownership → Andy. Success → Andy.
If turned back: "From outside I'd guess expansion inside platforms you're already on, plus new logos where production is ramping — but you see the baseline, I don't."
Southern Europe, if asked: "I'd be very comfortable owning it and building it properly — France already has contracted volume. What I'd agree early is the rule for strategic accounts."
Keep in reserve: SE capacity in Europe; evaluation-to-LRIP path in the US (to David); customers and evaluations this role would inherit.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Only if asked. The one-hour question (same answer as September, more precise):
"The first pass took about an hour — pulling European companies and matching platforms against your catalogue. That's discovery, not verification. Verifying bands, contacts and who names which radio took weeks, and I rebuilt the scoring once when it was double-counting."
Mention ≠ customer · no published radio ≠ open socket · band overlap ≠ validated integration.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57200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F78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DOODLE LABS · DIRECTOR OF SALES, EUROPE · SERGIO BENAVIDEZ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325880"/>
            <a:ext cx="7772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2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I would build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2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Doodle Labs Europe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274320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4BBC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Production is scaling. The radio is chosen once, at design freeze.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B4BBC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I'd win Europe account by account.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452628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F78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MARKET  ·  NEW TERRITORY  ·  LEADS &amp; RESELLERS  ·  30-60-90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57200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F78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· MARKET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13232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2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Europe is buying unmanned systems at scale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20700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4BBC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And the money lands with the OEM — that's who we sell to.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001000" y="45720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78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103120"/>
            <a:ext cx="228600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rgbClr val="F05A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€540M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88340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4BBC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Loitering munitions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4BBC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Bundeswehr · Feb 2026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3429000" y="2103120"/>
            <a:ext cx="228600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rgbClr val="F2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6,000</a:t>
            </a:r>
            <a:endParaRPr lang="en-US" sz="4400" dirty="0"/>
          </a:p>
        </p:txBody>
      </p:sp>
      <p:sp>
        <p:nvSpPr>
          <p:cNvPr id="9" name="Text 7"/>
          <p:cNvSpPr txBox="1"/>
          <p:nvPr/>
        </p:nvSpPr>
        <p:spPr>
          <a:xfrm>
            <a:off x="3429000" y="288340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4BBC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Soldier drones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4BBC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France · 2026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172200" y="2103120"/>
            <a:ext cx="228600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rgbClr val="F2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4400" dirty="0"/>
          </a:p>
        </p:txBody>
      </p:sp>
      <p:sp>
        <p:nvSpPr>
          <p:cNvPr id="11" name="Text 9"/>
          <p:cNvSpPr txBox="1"/>
          <p:nvPr/>
        </p:nvSpPr>
        <p:spPr>
          <a:xfrm>
            <a:off x="6172200" y="288340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4BBC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EU drone &amp; defence projects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4BBC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28 Sep 2026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57200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F78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· MARKET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13232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2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Top-20 OEM output could grow ~5× by 2030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4572000"/>
            <a:ext cx="6949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F78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External model, base case, 20 accounts with published volumes. Not a Doodle Labs forecast.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8001000" y="45720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78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7830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400" b="1" dirty="0">
                <a:solidFill>
                  <a:srgbClr val="F05A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~50k</a:t>
            </a:r>
            <a:endParaRPr lang="en-US" sz="5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71576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4BBC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platforms a year by 2030,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4BBC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from ~10k in 2025</a:t>
            </a:r>
            <a:endParaRPr lang="en-US" sz="12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3246120" y="1417320"/>
          <a:ext cx="521208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57200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F78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· WHERE DOODLE FITS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13232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2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Addressable is not forecastable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4572000"/>
            <a:ext cx="6949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F78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Platforms × radios per platform × planning price · 2026–30 · range $18M–$648M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8001000" y="45720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78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4630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2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~$215M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2560320" y="1618488"/>
            <a:ext cx="2926080" cy="182880"/>
          </a:xfrm>
          <a:prstGeom prst="rect">
            <a:avLst/>
          </a:prstGeom>
          <a:solidFill>
            <a:srgbClr val="2A3139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715000" y="14630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4BBC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Addressable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2176272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2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~$156M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2560320" y="2331720"/>
            <a:ext cx="2136038" cy="182880"/>
          </a:xfrm>
          <a:prstGeom prst="rect">
            <a:avLst/>
          </a:prstGeom>
          <a:solidFill>
            <a:srgbClr val="2A3139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715000" y="217627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4BBC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 sockets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2889504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5A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~$15M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2560320" y="3044952"/>
            <a:ext cx="585216" cy="182880"/>
          </a:xfrm>
          <a:prstGeom prst="rect">
            <a:avLst/>
          </a:prstGeom>
          <a:solidFill>
            <a:srgbClr val="F05A55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715000" y="2889504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4BBC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 contracts visible today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685800" y="3602736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F78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?</a:t>
            </a:r>
            <a:endParaRPr lang="en-US" sz="2800" dirty="0"/>
          </a:p>
        </p:txBody>
      </p:sp>
      <p:sp>
        <p:nvSpPr>
          <p:cNvPr id="16" name="Text 14"/>
          <p:cNvSpPr txBox="1"/>
          <p:nvPr/>
        </p:nvSpPr>
        <p:spPr>
          <a:xfrm>
            <a:off x="5715000" y="3602736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F78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Your forecast: needs your CRM and price book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57200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F78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· WHERE DOODLE FITS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13232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2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Win as the independent, embedded link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8001000" y="45720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78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60020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F05A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PLAY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4800600" y="160020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F78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DON'T PLAY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96596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2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Inside the OEM's platform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53288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2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Strike, interceptors, UGVs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3099816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2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Private-label partners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4800600" y="196596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6F78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Handheld tactical radios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800600" y="253288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6F78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Primes with captive radios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800600" y="3099816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6F78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sovereignty pitch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57200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F78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· NEW TERRITORY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13232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2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Sell to a socket, cheapest door first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4572000"/>
            <a:ext cx="6949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F78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Adding a fourth option to a shortlist is a smaller ask than displacing a sole source.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8001000" y="45720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78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82880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F78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DOOR 1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05740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400" b="1" dirty="0">
                <a:solidFill>
                  <a:srgbClr val="F05A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54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30449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4BBC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name Doodle on their site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34290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2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Expand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429000" y="182880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F78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DOOR 2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3429000" y="205740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400" b="1" dirty="0">
                <a:solidFill>
                  <a:srgbClr val="F2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177</a:t>
            </a:r>
            <a:endParaRPr lang="en-US" sz="5400" dirty="0"/>
          </a:p>
        </p:txBody>
      </p:sp>
      <p:sp>
        <p:nvSpPr>
          <p:cNvPr id="12" name="Text 10"/>
          <p:cNvSpPr txBox="1"/>
          <p:nvPr/>
        </p:nvSpPr>
        <p:spPr>
          <a:xfrm>
            <a:off x="3429000" y="30449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4BBC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platforms publish no radio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3429000" y="34290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2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Discover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172200" y="182880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F78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DOOR 3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6172200" y="205740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400" b="1" dirty="0">
                <a:solidFill>
                  <a:srgbClr val="F2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</a:t>
            </a:r>
            <a:endParaRPr lang="en-US" sz="5400" dirty="0"/>
          </a:p>
        </p:txBody>
      </p:sp>
      <p:sp>
        <p:nvSpPr>
          <p:cNvPr id="16" name="Text 14"/>
          <p:cNvSpPr txBox="1"/>
          <p:nvPr/>
        </p:nvSpPr>
        <p:spPr>
          <a:xfrm>
            <a:off x="6172200" y="30449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4BBC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name Silvus publicly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172200" y="34290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2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Second source — last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57200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F78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· NEW TERRITORY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13232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2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Cover Europe by account value, not border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4572000"/>
            <a:ext cx="6949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F78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design authority, one owner.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8001000" y="45720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78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63677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F05A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CORE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2057400" y="16002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2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France · Italy · Spain · Portugal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20370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F78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STRATEGIC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2057400" y="216712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4BBC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Helsing · STARK · Rheinmetall · TYTAN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277063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F78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PARTNER-LED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2057400" y="2734056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4BBC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UXV · LUXUAV · Airvolute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33375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F78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MONITOR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2057400" y="3300984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4BBC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Poland · Nordics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172200" y="164592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800" b="1" dirty="0">
                <a:solidFill>
                  <a:srgbClr val="F05A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~68%</a:t>
            </a:r>
            <a:endParaRPr lang="en-US" sz="4800" dirty="0"/>
          </a:p>
        </p:txBody>
      </p:sp>
      <p:sp>
        <p:nvSpPr>
          <p:cNvPr id="15" name="Text 13"/>
          <p:cNvSpPr txBox="1"/>
          <p:nvPr/>
        </p:nvSpPr>
        <p:spPr>
          <a:xfrm>
            <a:off x="6172200" y="248716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4BBC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 evidenced value sits in German programmes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57200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F78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· LEADS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13232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2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Qualify the socket, not the company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4572000"/>
            <a:ext cx="6949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F78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customer document, no stage change.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8001000" y="45720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78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73736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rgbClr val="2A313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5146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2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Platform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88036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4BBC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something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4BBC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that moves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2286000" y="173736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rgbClr val="2A313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2286000" y="25146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2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Socket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2286000" y="288036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4BBC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open, taken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4BBC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 ours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3886200" y="173736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rgbClr val="2A313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4000" dirty="0"/>
          </a:p>
        </p:txBody>
      </p:sp>
      <p:sp>
        <p:nvSpPr>
          <p:cNvPr id="13" name="Text 11"/>
          <p:cNvSpPr txBox="1"/>
          <p:nvPr/>
        </p:nvSpPr>
        <p:spPr>
          <a:xfrm>
            <a:off x="3886200" y="25146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2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Band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3886200" y="288036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4BBC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overlaps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4BBC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SKU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0" y="173736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rgbClr val="2A313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40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0" y="25146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2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Authority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0" y="288036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4BBC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evaluator and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4BBC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signer named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7086600" y="173736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rgbClr val="F05A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4000" dirty="0"/>
          </a:p>
        </p:txBody>
      </p:sp>
      <p:sp>
        <p:nvSpPr>
          <p:cNvPr id="19" name="Text 17"/>
          <p:cNvSpPr txBox="1"/>
          <p:nvPr/>
        </p:nvSpPr>
        <p:spPr>
          <a:xfrm>
            <a:off x="7086600" y="25146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2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Timing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7086600" y="288036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4BBC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dated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4BBC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trigger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57200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F78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· RESELLERS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13232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2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 Europe the channel is private-label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20700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4BBC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deal is the radio inside their product, not a price list.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001000" y="45720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78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0116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2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Solace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487168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4BBC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sells MultiLink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800600" y="20116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2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Broadcast Solutions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4800600" y="2487168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4BBC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sells meshLINK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3611880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F05A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PARTNER TEST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38862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2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Owns the customer   ·   Own RF engineering   ·   Named-account plan   ·   No export conflict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57200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F78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· 30-60-90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13232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2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Days 1–30: know what we have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8001000" y="45720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78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269480" y="402336"/>
            <a:ext cx="310896" cy="310896"/>
          </a:xfrm>
          <a:prstGeom prst="ellipse">
            <a:avLst/>
          </a:prstGeom>
          <a:solidFill>
            <a:srgbClr val="F05A55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269480" y="4023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B0D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30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680960" y="402336"/>
            <a:ext cx="310896" cy="310896"/>
          </a:xfrm>
          <a:prstGeom prst="ellipse">
            <a:avLst/>
          </a:prstGeom>
          <a:solidFill>
            <a:srgbClr val="1A1E2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680960" y="4023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F78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60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8092440" y="402336"/>
            <a:ext cx="310896" cy="310896"/>
          </a:xfrm>
          <a:prstGeom prst="ellipse">
            <a:avLst/>
          </a:prstGeom>
          <a:solidFill>
            <a:srgbClr val="1A1E2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092440" y="4023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F78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90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155448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F78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EXISTING BUSINESS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187452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2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Meet every current customer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233172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2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Ask what they design next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" y="278892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2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Confirm account owners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800600" y="155448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F78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 BUSINESS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4800600" y="187452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2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Reconcile my map with your CRM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800600" y="233172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2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Agree 20 target accounts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4800600" y="278892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2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First OEM meetings from week 2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85800" y="352044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F05A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GATE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685800" y="376732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2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Agreed baseline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4800600" y="352044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F78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MEASURED BY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4800600" y="37947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B4BBC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 customers met · 20 targets agreed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57200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F78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· 30-60-90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13232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2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Days 31–60: evaluations in engineers' hands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8001000" y="45720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78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269480" y="402336"/>
            <a:ext cx="310896" cy="310896"/>
          </a:xfrm>
          <a:prstGeom prst="ellipse">
            <a:avLst/>
          </a:prstGeom>
          <a:solidFill>
            <a:srgbClr val="1A1E2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269480" y="4023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F78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30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680960" y="402336"/>
            <a:ext cx="310896" cy="310896"/>
          </a:xfrm>
          <a:prstGeom prst="ellipse">
            <a:avLst/>
          </a:prstGeom>
          <a:solidFill>
            <a:srgbClr val="F05A55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680960" y="4023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B0D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60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8092440" y="402336"/>
            <a:ext cx="310896" cy="310896"/>
          </a:xfrm>
          <a:prstGeom prst="ellipse">
            <a:avLst/>
          </a:prstGeom>
          <a:solidFill>
            <a:srgbClr val="1A1E2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092440" y="4023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F78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90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155448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F78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EXISTING BUSINESS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187452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2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Expansion plan per top account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233172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2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Fix what's at risk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" y="278892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2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Customers as references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800600" y="155448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F78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 BUSINESS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4800600" y="187452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2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4–6 evaluations, criteria and dates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800600" y="233172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2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Sized to Sales Engineering capacity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4800600" y="278892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2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1–2 partner pilots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85800" y="352044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F05A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GATE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685800" y="376732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2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Evaluations live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4800600" y="352044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F78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MEASURED BY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4800600" y="37947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B4BBC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Each with criteria, an owner and a date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57200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F78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· 30-60-90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13232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2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Days 61–90: evidence becomes forecast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4572000"/>
            <a:ext cx="6949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F78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production wins promised in 90 days: the design-in cycle is longer.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8001000" y="45720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78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269480" y="402336"/>
            <a:ext cx="310896" cy="310896"/>
          </a:xfrm>
          <a:prstGeom prst="ellipse">
            <a:avLst/>
          </a:prstGeom>
          <a:solidFill>
            <a:srgbClr val="1A1E2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269480" y="4023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F78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30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7680960" y="402336"/>
            <a:ext cx="310896" cy="310896"/>
          </a:xfrm>
          <a:prstGeom prst="ellipse">
            <a:avLst/>
          </a:prstGeom>
          <a:solidFill>
            <a:srgbClr val="1A1E2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680960" y="4023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F78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60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8092440" y="402336"/>
            <a:ext cx="310896" cy="310896"/>
          </a:xfrm>
          <a:prstGeom prst="ellipse">
            <a:avLst/>
          </a:prstGeom>
          <a:solidFill>
            <a:srgbClr val="F05A55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092440" y="4023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B0D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90</a:t>
            </a:r>
            <a:endParaRPr lang="en-US" sz="85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155448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F78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EXISTING BUSINESS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187452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2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Expansion orders where timing allows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" y="233172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2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Renewals in the forecast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85800" y="278892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2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Top-account plans with Andy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800600" y="155448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F78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 BUSINESS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4800600" y="187452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2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Design-in decisions where ready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4800600" y="233172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2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Advance, nurture or stop: all 20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800600" y="278892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2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Partners: expand or end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85800" y="352044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F05A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GATE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685800" y="376732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2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Customer-backed forecast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4800600" y="352044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F78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MEASURED BY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4800600" y="37947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B4BBC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 account decisions · every input labelled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57200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F78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DISCUSSION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13232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2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Three questions for you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8001000" y="45720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78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70078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F05A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GROWTH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2148840" y="1645920"/>
            <a:ext cx="6309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2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New logos, expansion inside current platforms, or a step-up in regional revenue?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52374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F05A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OWNERSHIP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2148840" y="2468880"/>
            <a:ext cx="6309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2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When an OEM sits across a border, who leads the design-in?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334670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F05A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SUCCESS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2148840" y="3291840"/>
            <a:ext cx="6309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2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 twelve months, what would "clearly exceeded expectations" look like?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0D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57200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F78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BACKUP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13232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2F4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the numbers were built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4572000"/>
            <a:ext cx="6949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F78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Public sources or labelled ASSUMED. Replaced by your data in month one.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8001000" y="45720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78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682496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F78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ACCOUNTS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2148840" y="1645920"/>
            <a:ext cx="6309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4BBC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840 companies · 2,781 matches · 153 band-verified fits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30428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F78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SIGNALS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2148840" y="2267712"/>
            <a:ext cx="6309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4BBC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 name Doodle · 15 name Silvus · 177 publish no radio · 17 dated triggers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292608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F78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2148840" y="2889504"/>
            <a:ext cx="6309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4BBC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 accounts · 21 platforms · 53 evidence items, 39 from contracts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354787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F78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PRICE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2148840" y="3511296"/>
            <a:ext cx="6309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4BBC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$450–1,500 per radio by class — ASSUMED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 I would build Doodle Labs Europe</dc:title>
  <dc:subject>PptxGenJS Presentation</dc:subject>
  <dc:creator>Sergio Benavidez</dc:creator>
  <cp:lastModifiedBy>Sergio Benavidez</cp:lastModifiedBy>
  <cp:revision>1</cp:revision>
  <dcterms:created xsi:type="dcterms:W3CDTF">2026-09-28T16:24:44Z</dcterms:created>
  <dcterms:modified xsi:type="dcterms:W3CDTF">2026-09-28T16:24:44Z</dcterms:modified>
</cp:coreProperties>
</file>