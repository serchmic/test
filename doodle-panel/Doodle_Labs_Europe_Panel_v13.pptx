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68" r:id="rId4"/>
    <p:sldId id="259" r:id="rId6"/>
    <p:sldId id="266" r:id="rId13"/>
    <p:sldId id="258" r:id="rId5"/>
    <p:sldId id="260" r:id="rId7"/>
    <p:sldId id="261" r:id="rId8"/>
    <p:sldId id="262" r:id="rId9"/>
    <p:sldId id="263" r:id="rId10"/>
    <p:sldId id="264" r:id="rId11"/>
    <p:sldId id="265" r:id="rId12"/>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Thank you for the time. My proposal is simple: win new drone OEMs, expand each one across its next platforms and programmes, and protect the customers Doodle already has. Everything you will see is built on public information. I have not seen your CRM, pricing or quota, so every choice is provisional and I will say what would change it. I will take your four questions in order and finish with what you could hold me accountable for if you gave me several markets.</a:t>
            </a:r>
          </a:p>
          <a:p>
            <a:endParaRPr/>
          </a:p>
          <a:p>
            <a:r>
              <a:t>TRANSITION</a:t>
            </a:r>
          </a:p>
          <a:p>
            <a:r>
              <a:t>Let me start with what the market is telling us.</a:t>
            </a:r>
          </a:p>
          <a:p>
            <a:endParaRPr/>
          </a:p>
          <a:p>
            <a:r>
              <a:t>IF ASKED</a:t>
            </a:r>
          </a:p>
          <a:p>
            <a:r>
              <a:t>• Why no revenue target?</a:t>
            </a:r>
          </a:p>
          <a:p>
            <a:r>
              <a:t>  Without the book, prices and quota any number would be invented. I would rather commit to reviews you can check and set the numbers once I have seen the book.</a:t>
            </a:r>
          </a:p>
          <a:p>
            <a:endParaRPr/>
          </a:p>
          <a:p>
            <a:r>
              <a:t>EVIDENCE</a:t>
            </a:r>
          </a:p>
          <a:p>
            <a:r>
              <a:t>Facts and sources: Panel email (pasted by Sergio, 19 Sep 2026) asks four things: UxV market knowledge and Doodle fit; building sales in a territory with no existing business; qualifying leads and evaluating resellers; a 30–60–90 plan for European territories with existing and new business.</a:t>
            </a:r>
          </a:p>
          <a:p>
            <a:r>
              <a:t>Limits: Candidate proposal from public sources. Account book, current owners, pricing, quota and Sales Engineering capacity have not been supplied. The greenfield example (question 2) and the mixed-book plan (question 4) are different cases.</a:t>
            </a:r>
          </a:p>
          <a:p>
            <a:r>
              <a:t>What I propose: Thesis for the panel to test: existing-customer continuity plus new OEM design-ins, run through reviews at days 30, 60 and 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Three signals on three different horizons. France ordered five thousand DELCO drones in May, due by early 2027. Auterion and Airlogix began serial production in Germany in September against a government contract for more than five thousand systems. Spain plans 147 TARSIS aircraft for 2028 to 2030. These are aircraft and systems, not radios, and I would never add them up as Doodle pipeline. What they show is programmes moving into funded, locally manufactured production. For Doodle that cuts both ways: a platform already in production may have its radio designed in. So the useful question is which upcoming platform still has a communications decision to make. One of these three, Auterion, already names Doodle on its own website — a public link, not a claim that it is a customer.</a:t>
            </a:r>
          </a:p>
          <a:p>
            <a:endParaRPr/>
          </a:p>
          <a:p>
            <a:r>
              <a:t>TRANSITION</a:t>
            </a:r>
          </a:p>
          <a:p>
            <a:r>
              <a:t>Three funded signals show it.</a:t>
            </a:r>
          </a:p>
          <a:p>
            <a:endParaRPr/>
          </a:p>
          <a:p>
            <a:r>
              <a:t>IF ASKED</a:t>
            </a:r>
          </a:p>
          <a:p>
            <a:r>
              <a:t>• “5,000 of what — how many radios for us?”</a:t>
            </a:r>
          </a:p>
          <a:p>
            <a:r>
              <a:t>  Aircraft or systems. Radio quantities depend on the architecture, ground units, spares and whether Doodle is selected at all. I do not know yet; that is my first question to the OEM.</a:t>
            </a:r>
          </a:p>
          <a:p>
            <a:r>
              <a:t>• “Why these three?”</a:t>
            </a:r>
          </a:p>
          <a:p>
            <a:r>
              <a:t>  They are dated, public, funded examples on three horizons: delivery by 2027, production starting now, and deliveries from 2028. They illustrate the trend; they are not a market size.</a:t>
            </a:r>
          </a:p>
          <a:p>
            <a:endParaRPr/>
          </a:p>
          <a:p>
            <a:r>
              <a:t>EVIDENCE</a:t>
            </a:r>
          </a:p>
          <a:p>
            <a:r>
              <a:t>Facts and sources: France: DGA ordered 5,000 DELCO drones on 28 May 2026 from Harmattan AI (Lynred infrared cameras), delivery by early 2027; page published 23 Jun 2026: https://www.defense.gouv.fr/dga/actualites/dga-commande-5-000-drones-du-combattant-delco-larmee-terre . Germany: Auterion and Airlogix began serial production in Sep 2026 under a German government contract for more than 5,000 Seth X and Anubis systems; no completion date given: https://auterion.com/mass-production-of-strike-drones-in-germany-begins/ . Spain: Indra, SANTAM programme, development and manufacture in Spain of the Tarsis family; 147 Class I aircraft in 49 systems, delivered 2028–2030: https://www.indragroup.com/en/news/indra-strengthens-the-spanish-armed-forces-strategic-autonomy-with-the-development-of-the-first-tactical-drones-designed-and-manufactured-in-spain</a:t>
            </a:r>
          </a:p>
          <a:p>
            <a:r>
              <a:t>Limits: Different programmes, units and periods; never summed or annualised. Company announcements, not audited output. None establishes a Doodle opportunity or an open radio decision.</a:t>
            </a:r>
          </a:p>
          <a:p>
            <a:r>
              <a:t>What I propose: Working assumption to test in discovery: in a production programme the link may already be designed in; the open decision may be the next platform or variant.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403DE-33E3-33D1-3424-DD4B562DE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FECAB-D45B-7CBA-DA00-BCFE688D6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5728D-3E6A-FA96-7A2B-E37927A91B6F}"/>
              </a:ext>
            </a:extLst>
          </p:cNvPr>
          <p:cNvSpPr>
            <a:spLocks noGrp="1"/>
          </p:cNvSpPr>
          <p:nvPr>
            <p:ph type="body" idx="1"/>
          </p:nvPr>
        </p:nvSpPr>
        <p:spPr/>
        <p:txBody>
          <a:bodyPr/>
          <a:lstStyle/>
          <a:p>
            <a:r>
              <a:t>SAY</a:t>
            </a:r>
          </a:p>
          <a:p>
            <a:r>
              <a:t>Three signals on three different horizons. France ordered five thousand DELCO drones in May, due by early 2027. Auterion and Airlogix began serial production in Germany in September against a government contract for more than five thousand systems. Spain plans 147 TARSIS aircraft for 2028 to 2030. These are aircraft and systems, not radios, and I would never add them up as Doodle pipeline. What they show is programmes moving into funded, locally manufactured production. For Doodle that cuts both ways: a platform already in production may have its radio designed in. So the useful question is which upcoming platform still has a communications decision to make. One of these three, Auterion, already names Doodle on its own website — a public link, not a claim that it is a customer.</a:t>
            </a:r>
          </a:p>
          <a:p>
            <a:endParaRPr/>
          </a:p>
          <a:p>
            <a:r>
              <a:t>TRANSITION</a:t>
            </a:r>
          </a:p>
          <a:p>
            <a:r>
              <a:t>First, what an OEM actually buys from Doodle.</a:t>
            </a:r>
          </a:p>
          <a:p>
            <a:endParaRPr/>
          </a:p>
          <a:p>
            <a:r>
              <a:t>IF ASKED</a:t>
            </a:r>
          </a:p>
          <a:p>
            <a:r>
              <a:t>• “5,000 of what — how many radios for us?”</a:t>
            </a:r>
          </a:p>
          <a:p>
            <a:r>
              <a:t>  Aircraft or systems. Radio quantities depend on the architecture, ground units, spares and whether Doodle is selected at all. I do not know yet; that is my first question to the OEM.</a:t>
            </a:r>
          </a:p>
          <a:p>
            <a:r>
              <a:t>• “Why these three?”</a:t>
            </a:r>
          </a:p>
          <a:p>
            <a:r>
              <a:t>  They are dated, public, funded examples on three horizons: delivery by 2027, production starting now, and deliveries from 2028. They illustrate the trend; they are not a market size.</a:t>
            </a:r>
          </a:p>
          <a:p>
            <a:endParaRPr/>
          </a:p>
          <a:p>
            <a:r>
              <a:t>EVIDENCE</a:t>
            </a:r>
          </a:p>
          <a:p>
            <a:r>
              <a:t>Facts and sources: France: DGA ordered 5,000 DELCO drones on 28 May 2026 from Harmattan AI (Lynred infrared cameras), delivery by early 2027; page published 23 Jun 2026: https://www.defense.gouv.fr/dga/actualites/dga-commande-5-000-drones-du-combattant-delco-larmee-terre . Germany: Auterion and Airlogix began serial production in Sep 2026 under a German government contract for more than 5,000 Seth X and Anubis systems; no completion date given: https://auterion.com/mass-production-of-strike-drones-in-germany-begins/ . Spain: Indra, SANTAM programme, development and manufacture in Spain of the Tarsis family; 147 Class I aircraft in 49 systems, delivered 2028–2030: https://www.indragroup.com/en/news/indra-strengthens-the-spanish-armed-forces-strategic-autonomy-with-the-development-of-the-first-tactical-drones-designed-and-manufactured-in-spain</a:t>
            </a:r>
          </a:p>
          <a:p>
            <a:r>
              <a:t>Limits: Different programmes, units and periods; never summed or annualised. Company announcements, not audited output. None establishes a Doodle opportunity or an open radio decision.</a:t>
            </a:r>
          </a:p>
          <a:p>
            <a:r>
              <a:t>What I propose: Working assumption to test in discovery: in a production programme the link may already be designed in; the open decision may be the next platform or variant.</a:t>
            </a:r>
          </a:p>
        </p:txBody>
      </p:sp>
      <p:sp>
        <p:nvSpPr>
          <p:cNvPr id="4" name="Slide Number Placeholder 3">
            <a:extLst>
              <a:ext uri="{FF2B5EF4-FFF2-40B4-BE49-F238E27FC236}">
                <a16:creationId xmlns:a16="http://schemas.microsoft.com/office/drawing/2014/main" id="{1F0BD072-1176-E533-88F4-F75484A6387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73974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 would take ownership of Southern Europe — France, Italy, Spain and Portugal — and sequence it by where a radio decision can actually be reached, not by the biggest order or by my languages. That is why France comes first, even though my language advantage is in Spain and Portugal. The DELCO radio is probably already set, so I would use the ramp to ask Harmattan and Delair about their next platform. Italy is second: Leonardo–Baykar and Rheinmetall Italia are in series production, so the first job is finding the design authority behind each programme. Spain and Portugal I would build through the primes, even though they are my home ground: TEKEVER builds the AR5 at its UK sites and uses its own communications, so the decision may not sit in Portugal at all. And if your book has a live customer decision, that goes to the top of this list. In Spain and Italy the primes are customers, not competitors — the same stance DroneShield takes publicly: we sell inside their platforms.</a:t>
            </a:r>
          </a:p>
          <a:p>
            <a:endParaRPr/>
          </a:p>
          <a:p>
            <a:r>
              <a:t>TRANSITION</a:t>
            </a:r>
          </a:p>
          <a:p>
            <a:r>
              <a:t>And where Doodle has no business yet, this is the first conversation.</a:t>
            </a:r>
          </a:p>
          <a:p>
            <a:endParaRPr/>
          </a:p>
          <a:p>
            <a:r>
              <a:t>IF ASKED</a:t>
            </a:r>
          </a:p>
          <a:p>
            <a:r>
              <a:t>• “Is this where we should grow, or where you’d be comfortable?”</a:t>
            </a:r>
          </a:p>
          <a:p>
            <a:r>
              <a:t>  Comfort would be Spain and Portugal, and France still comes first. The order follows reachable decisions, and your book can override it.</a:t>
            </a:r>
          </a:p>
          <a:p>
            <a:r>
              <a:t>• Bridge to the first interview (adjust to what was actually said):</a:t>
            </a:r>
          </a:p>
          <a:p>
            <a:r>
              <a:t>  When we spoke, you asked where I would be most comfortable and where I would have most impact. Comfort is Spain and Portugal, where I work in the customer’s language. Impact, on this research, starts in France. The markets closer to Ukraine I would treat as named exceptions where I add access, not as volume I assume.</a:t>
            </a:r>
          </a:p>
          <a:p>
            <a:r>
              <a:t>• “DELCO ships by early 2027 — isn’t that radio locked?”</a:t>
            </a:r>
          </a:p>
          <a:p>
            <a:r>
              <a:t>  Probably. I use the ramp to reach the next platform or variant, not to displace the current radio.</a:t>
            </a:r>
          </a:p>
          <a:p>
            <a:r>
              <a:t>• “How did you build the account map?” (only if asked)</a:t>
            </a:r>
          </a:p>
          <a:p>
            <a:r>
              <a:t>  Public source → platform and product → band overlap as a hypothesis → next question. Be precise about what the first hour produced and what was iterated afterwards. The “customer” tag is not Doodle customer status; the counts are records, not OEMs. Show at most one account card, contacts hidden.</a:t>
            </a:r>
          </a:p>
          <a:p>
            <a:r>
              <a:t>• “You don’t speak French.”</a:t>
            </a:r>
          </a:p>
          <a:p>
            <a:r>
              <a:t>  Correct. I would run technical conversations in English where the customer is comfortable with that, with local support or a partner where language matters. I claim no language advantage outside Iberia.</a:t>
            </a:r>
          </a:p>
          <a:p>
            <a:endParaRPr/>
          </a:p>
          <a:p>
            <a:r>
              <a:t>EVIDENCE</a:t>
            </a:r>
          </a:p>
          <a:p>
            <a:r>
              <a:t>Facts and sources: France: DGA DELCO order (Harmattan AI); Schaeffler–Delair, 19 Jun 2026: new French line able to deliver around 100 units per day by November 2026 (capacity, not orders or sales): https://www.schaeffler.com/en/media/press-releases/press-releases-detail.jsp?id=88199232 . UK/Portugal: UK MoD, 16 Sep 2026: contract worth up to £400m to Tekever for the AR5; initial order of six, rising to up to 24 by 2029; built at Tekever’s UK sites (the page does not mention Portugal; where design authority sits is to be established): https://www.gov.uk/government/news/new-spy-drones-to-give-army-greater-powers-on-the-battlefield . Italy: LBA Systems, 21 Jul 2026: first batch of Astore Levante UAS in production at Leonardo sites, delivery in Italy expected later in 2026: https://www.leonardo.com/en/press-release-detail/-/detail/21-07-2026-leonardo-and-baykar-s-lba-systems-jv-achieves-full-operational-readiness ; RWM series production, Oct 2025: https://www.rheinmetall.com/en/media/news-watch/news/2025/10/2025-10-08-series-production-of-loitering-munition-in-italy . Spain: Indra TARSIS 2028–30 (slide 2).</a:t>
            </a:r>
          </a:p>
          <a:p>
            <a:r>
              <a:t>Limits: An outreach order for discovery, not a quantitative country ranking. Manufacturing location does not establish radio authority; future deliveries do not prove an open sourcing decision; no account is assumed available or unowned.</a:t>
            </a:r>
          </a:p>
          <a:p>
            <a:r>
              <a:t>What I propose: Proposed order: France, then Italy, then qualify Spain and Portugal. Overridden by a live decision in the inherited book or a confirmed open radio choice elsewhere.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Here is the fit in one published case. Evolve needed HD video and telemetry from a compact aircraft, in congested or jammed spectrum, with drones meshing together; Doodle’s Mini Mesh Rider is the radio on Sky Mantis 2. Commercially, that tells me what an OEM buys: a radio it designs in once and then orders as its platform goes into production, if the platform is bought. So my opening with a French OEM is not a spec sheet. It is a question: what must your next platform’s link deliver, and where does today’s fall short? I do not promise range or approvals; Sales Engineering and the customer agree the test in their configuration. And the play travels: Evolve is a UK OEM. The question is about the platform, not the border — which is why I would also take named accounts outside my core.</a:t>
            </a:r>
          </a:p>
          <a:p>
            <a:endParaRPr/>
          </a:p>
          <a:p>
            <a:r>
              <a:t>TRANSITION</a:t>
            </a:r>
          </a:p>
          <a:p>
            <a:r>
              <a:t>Given that, here is the ground I would want to own.</a:t>
            </a:r>
          </a:p>
          <a:p>
            <a:endParaRPr/>
          </a:p>
          <a:p>
            <a:r>
              <a:t>IF ASKED</a:t>
            </a:r>
          </a:p>
          <a:p>
            <a:r>
              <a:t>• A technical question you cannot answer</a:t>
            </a:r>
          </a:p>
          <a:p>
            <a:r>
              <a:t>  “I don’t know that. I would bring Sales Engineering to it, and this is what I would ask the customer first.” Say “Mini Mesh Rider”, never the part number.</a:t>
            </a:r>
          </a:p>
          <a:p>
            <a:r>
              <a:t>• “What exactly would an OEM buy from us?”</a:t>
            </a:r>
          </a:p>
          <a:p>
            <a:r>
              <a:t>  Radios per vehicle, shared ground units, spares and support, and the integration help to design them in. Volume follows the platform’s production.</a:t>
            </a:r>
          </a:p>
          <a:p>
            <a:r>
              <a:t>• “What about soldier radios?”</a:t>
            </a:r>
          </a:p>
          <a:p>
            <a:r>
              <a:t>  The catalogue includes wearable and operator radios. I would follow a customer requirement there; my first focus is platform OEMs because a design-in repeats with production.</a:t>
            </a:r>
          </a:p>
          <a:p>
            <a:endParaRPr/>
          </a:p>
          <a:p>
            <a:r>
              <a:t>EVIDENCE</a:t>
            </a:r>
          </a:p>
          <a:p>
            <a:r>
              <a:t>Facts and sources: Doodle’s Evolve case study (13 Sep 2025) lists the needs: real-time HD video and telemetry over long distances; size, weight and power of a compact UAS; urban, maritime and mountain terrain; spectrum-congested or jammed environments; multi-UAS mesh. Model RM-2025-62M3 Mini Mesh Rider on Sky Mantis 2: https://doodlelabs.com/case-studies/evolve-dynamics . Manufacturer case study, not independent verification. Catalogue (Air; Land incl. UGV and soldier; Sea; Wearable): https://doodlelabs.com/products/radios</a:t>
            </a:r>
          </a:p>
          <a:p>
            <a:r>
              <a:t>Limits: No range, latency, approval or anti-jamming performance is inferred for another platform. Requirements, SKU, permitted spectrum and installation decide suitability. Say “Mini Mesh Rider”, not the part number.</a:t>
            </a:r>
          </a:p>
          <a:p>
            <a:r>
              <a:t>What I propose: Discovery offer: review the next platform’s link requirement with the customer; Sales Engineering assesses configuration; customer and engineering own technical acceptance, Sergio owns the commercial process and the next commitment.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Say I am given a country with no Doodle business, or a single named account outside the South — the play is the same. I would not start with a mailing list. I would start with one OEM that has a public reason to talk, here Delair’s industrial ramp, and go direct to the design or product lead with the Sky Mantis reference and one question: for your next platform, who owns the communications requirement, and when is the radio decision made? If an integrator or reseller owns that requirement or can open the door, that becomes the route. The first commitment I want is small but real: a programme discussion with the buyer and the technical evaluator, and a date for the next decision. After a first win, I would ask about the next platform and whether the customer will act as a reference. It is the route I used to open Portugal’s grid operator from zero: a partner already held the relationship and had a reason to hand it over; I built the numbers, secured the permit and we won the client’s tender. So my ask is simple: give me a new country or a named account, and at day thirty you get the owner, the decision date and my recommendation. IF ASKED “How would you decide which new country to open next?” — Three tests, all needed: external readiness (a funded programme with a radio decision still open), a reference that travels (a customer or case the OEM will recognise), and internal readiness (Sales Engineering capacity and a direct or partner route). When all three are true, I open it; when one is missing, I record the trigger and wait.</a:t>
            </a:r>
          </a:p>
          <a:p>
            <a:endParaRPr/>
          </a:p>
          <a:p>
            <a:r>
              <a:t>TRANSITION</a:t>
            </a:r>
          </a:p>
          <a:p>
            <a:r>
              <a:t>Their answer tells me how far to take the opportunity, which is how I qualify.</a:t>
            </a:r>
          </a:p>
          <a:p>
            <a:endParaRPr/>
          </a:p>
          <a:p>
            <a:r>
              <a:t>IF ASKED</a:t>
            </a:r>
          </a:p>
          <a:p>
            <a:r>
              <a:t>• “Delair says the radio is fixed for this generation. Then what?”</a:t>
            </a:r>
          </a:p>
          <a:p>
            <a:r>
              <a:t>  Ask when the next one is decided and whether there is another need, such as ground units or a variant. Record the trigger, spend no engineering time, move to the next account.</a:t>
            </a:r>
          </a:p>
          <a:p>
            <a:r>
              <a:t>• “Why would the design lead give you thirty minutes?”</a:t>
            </a:r>
          </a:p>
          <a:p>
            <a:r>
              <a:t>  A relevant reference, a question about their problem and a low-cost next step. No performance promises.</a:t>
            </a:r>
          </a:p>
          <a:p>
            <a:endParaRPr/>
          </a:p>
          <a:p>
            <a:r>
              <a:t>EVIDENCE</a:t>
            </a:r>
          </a:p>
          <a:p>
            <a:r>
              <a:t>Facts and sources: Delair’s industrial expansion with Schaeffler (slide 3 sources). Worked example, hypothetical: no introduction, contact or relationship is claimed.</a:t>
            </a:r>
          </a:p>
          <a:p>
            <a:r>
              <a:t>Limits: Compare direct access, a reseller with relevant access and an integration partner; choose the route that reaches the decision and can support the customer. Focus the first wave on actual readiness and available engineering.</a:t>
            </a:r>
          </a:p>
          <a:p>
            <a:r>
              <a:t>What I propose: A customer-agreed next step. When ready: evaluation owner, criteria, resources and decision date. When not: the trigger for further work or the reason to close. No evaluation or revenue promised by an arbitrary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This is how I would keep a forecast honest across several markets. Each stage needs something from the customer, not from me. Interest costs only my time and stays out of the forecast. I ask for Sales Engineering time and a kit only when a customer names a sponsor, agreed criteria and a review date. A line enters the forecast when the customer selects us for a named platform: radio quantities, including ground units and spares, times the applicable net price, in a shipment period. An order is firm; revenue follows Doodle’s rules. The French example I just showed would sit at interest, at best. If a customer misses the agreed step, I move the line down or stop it, and I say so early. Listed defence suppliers report it the same way: Astronics has a $215 million Army framework and counts the $44.7 million first order, not the ceiling.</a:t>
            </a:r>
          </a:p>
          <a:p>
            <a:endParaRPr/>
          </a:p>
          <a:p>
            <a:r>
              <a:t>TRANSITION</a:t>
            </a:r>
          </a:p>
          <a:p>
            <a:r>
              <a:t>Partners follow the same rule: they earn support by moving a named customer.</a:t>
            </a:r>
          </a:p>
          <a:p>
            <a:endParaRPr/>
          </a:p>
          <a:p>
            <a:r>
              <a:t>IF ASKED</a:t>
            </a:r>
          </a:p>
          <a:p>
            <a:r>
              <a:t>• “A customer says you are selected. What goes in my forecast this quarter?”</a:t>
            </a:r>
          </a:p>
          <a:p>
            <a:r>
              <a:t>  Design-in is not an order. A line with quantities, price, period and buyer; in this quarter only if the customer confirms when the order will be placed.</a:t>
            </a:r>
          </a:p>
          <a:p>
            <a:r>
              <a:t>• “When do you pull in a Sales Engineer?”</a:t>
            </a:r>
          </a:p>
          <a:p>
            <a:r>
              <a:t>  When the customer has named a requirement and an evaluator. Before that, at most a short call. Capacity prioritised with sales leadership.</a:t>
            </a:r>
          </a:p>
          <a:p>
            <a:r>
              <a:t>• “Would you drop a lead with no budget yet?”</a:t>
            </a:r>
          </a:p>
          <a:p>
            <a:r>
              <a:t>  No. Missing information early is normal. Repeated failure to reach a decision owner or a need changes the priority.</a:t>
            </a:r>
          </a:p>
          <a:p>
            <a:endParaRPr/>
          </a:p>
          <a:p>
            <a:r>
              <a:t>EVIDENCE</a:t>
            </a:r>
          </a:p>
          <a:p>
            <a:r>
              <a:t>Facts and sources: Stage evidence to record with source and date: need, use case, programme funding, decision roles, current solution, requirements, sourcing timing and next action.</a:t>
            </a:r>
          </a:p>
          <a:p>
            <a:r>
              <a:t>Limits: Frequency overlap alone is not technical fit. Evaluation, design-in, purchase order, shipment and recognised revenue are distinct milestones. Count vehicle radios, shared ground units and spares without double counting. No generic price, capture probability or conversion rate is asserted.</a:t>
            </a:r>
          </a:p>
          <a:p>
            <a:r>
              <a:t>What I propose: Advance only with the evidence for the stage and an agreed next action; nurture with a trigger and date, or close with a reason. Each forecast line carries source, owner, shipment period and uncertainty; firm, confirmed and assumed kept apart.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Any partner can claim access, so I would test three things. Access: can it name the buyer and the evaluator in one live programme? Support: will it take first-line integration questions, with our Sales Engineering behind it? Economics: does its margin pay for work Doodle would otherwise do, without clashing with existing coverage? If yes, we start with one named opportunity, clear owners and a review date. If it moves the customer, we expand. If it cannot name a single opportunity, I stop investing, early and politely. A distributor that only holds stock can still help with fulfilment; I would just not count its stock as demand. In Europe the most valuable partner is often private-label: Solace sells MultiLink, Broadcast Solutions sells meshLINK — the deal is the radio inside their product. And every partner gets an export-control check before the first call: one candidate I found lists a Russia office.</a:t>
            </a:r>
          </a:p>
          <a:p>
            <a:endParaRPr/>
          </a:p>
          <a:p>
            <a:r>
              <a:t>TRANSITION</a:t>
            </a:r>
          </a:p>
          <a:p>
            <a:r>
              <a:t>Now, if you gave me a mix of existing customers and new territories, this is how the first ninety days would run.</a:t>
            </a:r>
          </a:p>
          <a:p>
            <a:endParaRPr/>
          </a:p>
          <a:p>
            <a:r>
              <a:t>IF ASKED</a:t>
            </a:r>
          </a:p>
          <a:p>
            <a:r>
              <a:t>• “Great access claimed, but no opportunity or support owner?”</a:t>
            </a:r>
          </a:p>
          <a:p>
            <a:r>
              <a:t>  Then there is nothing to test yet: stay in touch, no agreement, no support commitment.</a:t>
            </a:r>
          </a:p>
          <a:p>
            <a:r>
              <a:t>• “Who owns the customer relationship?”</a:t>
            </a:r>
          </a:p>
          <a:p>
            <a:r>
              <a:t>  Written down per opportunity before we start. My default proposal is that the OEM design-in relationship stays with Doodle.</a:t>
            </a:r>
          </a:p>
          <a:p>
            <a:endParaRPr/>
          </a:p>
          <a:p>
            <a:r>
              <a:t>EVIDENCE</a:t>
            </a:r>
          </a:p>
          <a:p>
            <a:r>
              <a:t>Facts and sources: Ask for relevant references, a specific opportunity, support capability and the role proposed. UXV integrates Doodle radios into the Swappable Radio Module ecosystem of its Soldier Robotic Controller: https://www.uxvtechnologies.com/case-studies/doodle-labs-radios-integration-with-uxv</a:t>
            </a:r>
          </a:p>
          <a:p>
            <a:r>
              <a:t>Limits: Partners may distribute, resell, integrate or combine roles. A logo, claimed network or signed agreement alone is not evidence of contribution.</a:t>
            </a:r>
          </a:p>
          <a:p>
            <a:r>
              <a:t>What I propose: A bounded plan: named opportunity, customer responsibilities, support, terms and review point. Pilot only where a case and resources justify it. No number of partners or pilots is promised.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The first month is not a research phase — your own job description asks for initial customer meetings secured within the first 30 days, and that is inside this plan, not after it. On existing accounts I would take ownership of any urgent delivery or support issue and ask each priority customer what platform or purchase comes next. In parallel I would reconcile my research with your CRM, who already owns what, and open the first programme conversations where I can reach a decision. At the day-thirty review I would bring around twenty agreed account priorities — a proposal, calibrated to your book — each with an owner, a customer action and a date. That is what we would use to decide where sales and engineering time goes in month two.</a:t>
            </a:r>
          </a:p>
          <a:p>
            <a:endParaRPr/>
          </a:p>
          <a:p>
            <a:r>
              <a:t>TRANSITION</a:t>
            </a:r>
          </a:p>
          <a:p>
            <a:r>
              <a:t>Month two is about turning interest into commitments.</a:t>
            </a:r>
          </a:p>
          <a:p>
            <a:endParaRPr/>
          </a:p>
          <a:p>
            <a:r>
              <a:t>IF ASKED</a:t>
            </a:r>
          </a:p>
          <a:p>
            <a:r>
              <a:t>• “Will you visit every customer in month one?”</a:t>
            </a:r>
          </a:p>
          <a:p>
            <a:r>
              <a:t>  No fixed count. Priority accounts by risk, value and decision timing; activity targets once I have seen the book and capacity.</a:t>
            </a:r>
          </a:p>
          <a:p>
            <a:endParaRPr/>
          </a:p>
          <a:p>
            <a:r>
              <a:t>EVIDENCE</a:t>
            </a:r>
          </a:p>
          <a:p>
            <a:r>
              <a:t>Facts and sources: To obtain, not known today: assigned territories and accounts, order and revenue history, customer plans, live evaluations, support or delivery issues, partner coverage, current owners, product/compliance onboarding and actual Sales Engineering capacity.</a:t>
            </a:r>
          </a:p>
          <a:p>
            <a:r>
              <a:t>Limits: Customer continuity while opening new business; discovery runs in parallel with the account review, not after it. Stage criteria agreed with my manager.</a:t>
            </a:r>
          </a:p>
          <a:p>
            <a:r>
              <a:t>What I propose: Day-30 baseline: owners, priorities, customer risks and actions, a first qualified worklist, forecast gaps and dated next 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In month two I would convert qualified interest into commitments, and start building Doodle’s presence in the region: the March 2027 shows — Enforce Tac, DSEI Germany, XPONENTIAL Europe — planned with customer meetings set in advance, not booth time. With existing customers that means scoping expansion around a real requirement, such as the next platform, a variant or more units, while keeping delivery on track. With new customers it may mean an evaluation, but only with a sponsor, agreed criteria and a review date. If nothing is ready, you get the blocker, its owner and what would trigger the next step, together with my recommendation. At day sixty I would expect four to six active evaluations — my proposal, to confirm against real Sales Engineering capacity — each with a customer commitment behind it.</a:t>
            </a:r>
          </a:p>
          <a:p>
            <a:endParaRPr/>
          </a:p>
          <a:p>
            <a:r>
              <a:t>TRANSITION</a:t>
            </a:r>
          </a:p>
          <a:p>
            <a:r>
              <a:t>Month three turns those decisions into a forecast and a plan.</a:t>
            </a:r>
          </a:p>
          <a:p>
            <a:endParaRPr/>
          </a:p>
          <a:p>
            <a:r>
              <a:t>IF ASKED</a:t>
            </a:r>
          </a:p>
          <a:p>
            <a:r>
              <a:t>• “An existing customer has an urgent issue the week your best prospect wants an evaluation.”</a:t>
            </a:r>
          </a:p>
          <a:p>
            <a:r>
              <a:t>  The existing commitment comes first unless the impact says otherwise. I tell both customers honestly what I can do and when, and bring my manager a recommendation on the resource conflict. No dates I cannot keep.</a:t>
            </a:r>
          </a:p>
          <a:p>
            <a:r>
              <a:t>• “Your best evaluation has stalled and Sales Engineering is overloaded.”</a:t>
            </a:r>
          </a:p>
          <a:p>
            <a:r>
              <a:t>  Ask the customer for a decision and a date. Without that commitment it goes back in the queue, and I say so early.</a:t>
            </a:r>
          </a:p>
          <a:p>
            <a:endParaRPr/>
          </a:p>
          <a:p>
            <a:r>
              <a:t>EVIDENCE</a:t>
            </a:r>
          </a:p>
          <a:p>
            <a:r>
              <a:t>Facts and sources: Day-30 baseline, qualified opportunities, customer requirements, inherited evaluations, sourcing dates and confirmed engineering availability.</a:t>
            </a:r>
          </a:p>
          <a:p>
            <a:r>
              <a:t>Limits: Resources go where a customer sponsor, agreed criteria and a decision horizon exist. Direct or partner access chosen case by case. The 4–6 is a proposal to confirm against actual Sales Engineering capacity, not an assumption about one engineer.</a:t>
            </a:r>
          </a:p>
          <a:p>
            <a:r>
              <a:t>What I propose: Day-60 record: agreed evaluation plans, interim results or explicit blockers, each with criteria, owners, support and a review date; prioritised queue; expansion actions; partner decisions only where justified.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By day ninety I would show what customers have actually committed to. Existing accounts may produce an order or an expansion still under negotiation. New programmes may produce an accepted evaluation, a retest, a next sourcing step, or a decision to stop. I would not assume that any design-in becomes revenue within ninety days. Even Astronics, selected on the Army’s MV-75, is in a multi-year development phase — about $100 million of work from 2024 to mid-2027 — before production content flows. The forecast keeps existing and new business apart, and never mixes firm orders, customer-confirmed demand and assumptions. Pick any line at day ninety and I should be able to show you the customer evidence behind it.</a:t>
            </a:r>
          </a:p>
          <a:p>
            <a:endParaRPr/>
          </a:p>
          <a:p>
            <a:r>
              <a:t>TRANSITION</a:t>
            </a:r>
          </a:p>
          <a:p>
            <a:r>
              <a:t>Which brings me to the real question behind this panel: what you could hold me to.</a:t>
            </a:r>
          </a:p>
          <a:p>
            <a:endParaRPr/>
          </a:p>
          <a:p>
            <a:r>
              <a:t>IF ASKED</a:t>
            </a:r>
          </a:p>
          <a:p>
            <a:r>
              <a:t>• “No new orders by day 90. How do we judge the quarter?”</a:t>
            </a:r>
          </a:p>
          <a:p>
            <a:r>
              <a:t>  Health of the existing book, stage moves backed by evidence, stops with reasons, and a traceable forecast; plus what we change because of it.</a:t>
            </a:r>
          </a:p>
          <a:p>
            <a:endParaRPr/>
          </a:p>
          <a:p>
            <a:r>
              <a:t>EVIDENCE</a:t>
            </a:r>
          </a:p>
          <a:p>
            <a:r>
              <a:t>Facts and sources: Evaluation results and blockers, customer commitments, sourcing decisions, production schedules, orders, partner contribution and Doodle’s applicable pricing.</a:t>
            </a:r>
          </a:p>
          <a:p>
            <a:r>
              <a:t>Limits: Doodle’s stage and forecast definitions apply. Quantities derive from programme, configuration and period, including shared radios and spares without double counting. Customer decisions may run beyond 90 days; a faster purchase is also possible. No universal cycle length is assumed.</a:t>
            </a:r>
          </a:p>
          <a:p>
            <a:r>
              <a:t>What I propose: Day-90: forecast with source, owner, shipment period and uncertainty per material line; documented advance/nurture/stop decisions; dated next actions for priority accounts; next-quarter account plan and resource priorities agreed with my manager.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Your posting describes this role as driving revenue across key drone OEM accounts throughout Europe, and Ryan described it as owning the EU region. So my proposal is account-first: I hunt priority OEM accounts across Europe, and I own Southern Europe — France, Italy and Iberia — as a core, because each has OEMs with funded programmes worth qualifying, not because of my languages. They help in Spain and Portugal only; France leads on timing. Germany I name explicitly: it holds most of the evidenced volume and your Sales Engineer hire is there, so I would take named accounts or support there as Andy decides. Beyond that, I want to be considered for named accounts and new countries wherever I add access or continuity a customer lacks today, for example a programme whose engineering, purchasing and production sit in different countries. Whatever the map, I would propose one agreed owner per customer, others supporting locally, and ownership and credit settled before I engage. The customer should see one plan and one Doodle contact. Coverage should follow the type of deal, not only the map — McKinsey’s point about letting the transaction decide the go-to-market model — which is exactly why a named-account overlay makes sense next to a regional core. Geography alone, or named accounts alone, can also work if the book points there. What would change this proposal is the book: which customers I would inherit, and how cross-border accounts are owned today.</a:t>
            </a:r>
          </a:p>
          <a:p>
            <a:endParaRPr/>
          </a:p>
          <a:p>
            <a:r>
              <a:t>TRANSITION</a:t>
            </a:r>
          </a:p>
          <a:p>
            <a:r>
              <a:t>Inside that scope, here is where I would start.</a:t>
            </a:r>
          </a:p>
          <a:p>
            <a:endParaRPr/>
          </a:p>
          <a:p>
            <a:r>
              <a:t>IF ASKED</a:t>
            </a:r>
          </a:p>
          <a:p>
            <a:r>
              <a:t>• “The next slide puts Spain and Portugal third, yet they are in your core.”</a:t>
            </a:r>
          </a:p>
          <a:p>
            <a:r>
              <a:t>  The core is what I own; the next slide is only the order in which I start new outreach inside it.</a:t>
            </a:r>
          </a:p>
          <a:p>
            <a:r>
              <a:t>• “If we gave you a different set of countries, would you take it?”</a:t>
            </a:r>
          </a:p>
          <a:p>
            <a:r>
              <a:t>  Yes. This is a proposal, not a condition. I would tell you which data would change the plan.</a:t>
            </a:r>
          </a:p>
          <a:p>
            <a:r>
              <a:t>• “What about Germany, or volume closer to Ukraine?”</a:t>
            </a:r>
          </a:p>
          <a:p>
            <a:r>
              <a:t>  Volume is not the same as a reachable decision. Where Doodle needs coverage there, a named exception works. Example to discuss only: Auterion–Airlogix in Germany; availability, supplier status and ownership unconfirmed.</a:t>
            </a:r>
          </a:p>
          <a:p>
            <a:r>
              <a:t>• “What would you never do without checking first?”</a:t>
            </a:r>
          </a:p>
          <a:p>
            <a:r>
              <a:t>  Terms outside agreed limits, commit engineering time or evaluation units, sign partner agreements, contact an account owned by someone else, or make an undocumented technical claim.</a:t>
            </a:r>
          </a:p>
          <a:p>
            <a:endParaRPr/>
          </a:p>
          <a:p>
            <a:r>
              <a:t>EVIDENCE</a:t>
            </a:r>
          </a:p>
          <a:p>
            <a:r>
              <a:t>Facts and sources: Programme signals by country: slides 2–3 and their sources. Language advantage limited to Spanish and Portuguese (Iberia).</a:t>
            </a:r>
          </a:p>
          <a:p>
            <a:r>
              <a:t>Limits: Three structures considered: geography only, named accounts only, core plus named exceptions. Public demand does not establish Doodle selection or account availability. Auterion–Airlogix source: https://auterion.com/mass-production-of-strike-drones-in-germany-begins/</a:t>
            </a:r>
          </a:p>
          <a:p>
            <a:r>
              <a:t>What I propose: Conditional proposal for discussion: core plus exceptions, one owner per customer. The inherited book, year-one target and support model can change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t>
            </a:r>
          </a:p>
          <a:p>
            <a:r>
              <a:t>If you gave me several markets, these are the four things I would expect you to hold me to. Where we grow: priorities set by decisions I can reach, re-ordered by your live book, and you can check that at day thirty. What we commit: I ask for engineering time and kit for an evaluation only behind a customer commitment, checkable at day sixty. What we forecast: only lines with customer evidence, with stopped deals recorded; pick any line at day ninety. And customers across borders: one owner and one plan each. What I cannot settle alone, such as terms, engineering capacity, partner agreements or ownership, I would escalate early and with a recommendation. [PROOF SLOT: one real, verified example of a customer commitment or forecast you owned — company, period, your role, result. Leave out if not verified.] So my question for you is: what would you need to see at day ninety to know this is working?</a:t>
            </a:r>
          </a:p>
          <a:p>
            <a:endParaRPr/>
          </a:p>
          <a:p>
            <a:r>
              <a:t>TRANSITION</a:t>
            </a:r>
          </a:p>
          <a:p>
            <a:r>
              <a:t>Stop talking after the question; let the panel answer.</a:t>
            </a:r>
          </a:p>
          <a:p>
            <a:endParaRPr/>
          </a:p>
          <a:p>
            <a:r>
              <a:t>IF ASKED</a:t>
            </a:r>
          </a:p>
          <a:p>
            <a:r>
              <a:t>• “What have you done before that shows you can carry this?”</a:t>
            </a:r>
          </a:p>
          <a:p>
            <a:r>
              <a:t>  Use only a real, verified example with period and your personal role. If direct experience is limited, say so and give the closest verified responsibility. Do not improvise.</a:t>
            </a:r>
          </a:p>
          <a:p>
            <a:r>
              <a:t>• “Tell me about a forecast or commitment you owned that slipped.”</a:t>
            </a:r>
          </a:p>
          <a:p>
            <a:r>
              <a:t>  Same rule: a real case, what you saw late, what you changed.</a:t>
            </a:r>
          </a:p>
          <a:p>
            <a:endParaRPr/>
          </a:p>
          <a:p>
            <a:r>
              <a:t>EVIDENCE</a:t>
            </a:r>
          </a:p>
          <a:p>
            <a:r>
              <a:t>Facts and sources: Existing-customer support is not gated by this rule. Each row refers to a slide already shown: priorities (3), commitments and support (6, 9), forecast (6, 10), cross-border ownership (11).</a:t>
            </a:r>
          </a:p>
          <a:p>
            <a:r>
              <a:t>Limits: Commitments are about behaviour and review evidence, not revenue or activity counts; no internal Doodle rule, account availability or reporting line is assumed.</a:t>
            </a:r>
          </a:p>
          <a:p>
            <a:r>
              <a:t>What I propose: A delegation contract to agree at the first review, plus the panel’s own day-90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cover-title">
            <a:extLst>
              <a:ext uri="{FF2B5EF4-FFF2-40B4-BE49-F238E27FC236}">
                <a16:creationId xmlns:a16="http://schemas.microsoft.com/office/drawing/2014/main" id="{5A1EBD40-13CD-4B45-8256-6522F250BC86}"/>
              </a:ext>
            </a:extLst>
          </p:cNvPr>
          <p:cNvSpPr>
            <a:spLocks noGrp="1"/>
          </p:cNvSpPr>
          <p:nvPr/>
        </p:nvSpPr>
        <p:spPr>
          <a:xfrm>
            <a:off x="609600" y="1123950"/>
            <a:ext cx="7810500" cy="1123950"/>
          </a:xfrm>
          <a:prstGeom prst="rect">
            <a:avLst/>
          </a:prstGeom>
          <a:noFill/>
          <a:ln w="0">
            <a:noFill/>
          </a:ln>
        </p:spPr>
        <p:txBody>
          <a:bodyPr lIns="0" tIns="0" rIns="0" bIns="0" anchor="t">
            <a:noAutofit/>
          </a:bodyPr>
          <a:lstStyle/>
          <a:p>
            <a:pPr>
              <a:defRPr sz="3600" b="1">
                <a:solidFill>
                  <a:srgbClr val="202124"/>
                </a:solidFill>
                <a:latin typeface="Arial"/>
                <a:ea typeface="Arial"/>
                <a:cs typeface="Arial"/>
              </a:defRPr>
            </a:pPr>
            <a:r>
              <a:rPr sz="3600" b="1" dirty="0">
                <a:solidFill>
                  <a:srgbClr val="202124"/>
                </a:solidFill>
                <a:latin typeface="Arial"/>
                <a:ea typeface="Arial"/>
                <a:cs typeface="Arial"/>
              </a:rPr>
              <a:t>How I would </a:t>
            </a:r>
            <a:r>
              <a:rPr sz="3600" b="1" i="1" dirty="0">
                <a:solidFill>
                  <a:schemeClr val="accent6"/>
                </a:solidFill>
                <a:latin typeface="Arial"/>
                <a:ea typeface="Arial"/>
                <a:cs typeface="Arial"/>
              </a:rPr>
              <a:t>grow</a:t>
            </a:r>
          </a:p>
          <a:p>
            <a:pPr>
              <a:defRPr sz="3600" b="1">
                <a:solidFill>
                  <a:srgbClr val="202124"/>
                </a:solidFill>
                <a:latin typeface="Arial"/>
                <a:ea typeface="Arial"/>
                <a:cs typeface="Arial"/>
              </a:defRPr>
            </a:pPr>
            <a:r>
              <a:rPr sz="3600" b="1" dirty="0">
                <a:solidFill>
                  <a:srgbClr val="202124"/>
                </a:solidFill>
                <a:latin typeface="Arial"/>
                <a:ea typeface="Arial"/>
                <a:cs typeface="Arial"/>
              </a:rPr>
              <a:t>Doodle Labs in Europe</a:t>
            </a:r>
          </a:p>
        </p:txBody>
      </p:sp>
      <p:sp>
        <p:nvSpPr>
          <p:cNvPr id="2" name="cover-subtitle">
            <a:extLst>
              <a:ext uri="{FF2B5EF4-FFF2-40B4-BE49-F238E27FC236}">
                <a16:creationId xmlns:a16="http://schemas.microsoft.com/office/drawing/2014/main" id="{0A29E7F7-C5E9-40EE-8AF9-144F8EE8F30C}"/>
              </a:ext>
            </a:extLst>
          </p:cNvPr>
          <p:cNvSpPr>
            <a:spLocks noGrp="1"/>
          </p:cNvSpPr>
          <p:nvPr/>
        </p:nvSpPr>
        <p:spPr>
          <a:xfrm>
            <a:off x="628650" y="2495550"/>
            <a:ext cx="7810500" cy="266700"/>
          </a:xfrm>
          <a:prstGeom prst="rect">
            <a:avLst/>
          </a:prstGeom>
          <a:noFill/>
          <a:ln w="0">
            <a:noFill/>
          </a:ln>
        </p:spPr>
        <p:txBody>
          <a:bodyPr lIns="0" tIns="0" rIns="0" bIns="0" anchor="t">
            <a:noAutofit/>
          </a:bodyPr>
          <a:lstStyle/>
          <a:p>
            <a:pPr>
              <a:defRPr sz="1575" b="0">
                <a:solidFill>
                  <a:srgbClr val="62666A"/>
                </a:solidFill>
                <a:latin typeface="Arial"/>
                <a:ea typeface="Arial"/>
                <a:cs typeface="Arial"/>
              </a:defRPr>
            </a:pPr>
            <a:r>
              <a:rPr sz="1575" b="1" dirty="0">
                <a:solidFill>
                  <a:srgbClr val="62666A"/>
                </a:solidFill>
                <a:latin typeface="Arial"/>
                <a:ea typeface="Arial"/>
                <a:cs typeface="Arial"/>
              </a:rPr>
              <a:t>Win new drone OEMs. Expand each one across its next platforms.</a:t>
            </a:r>
          </a:p>
        </p:txBody>
      </p:sp>
      <p:sp>
        <p:nvSpPr>
          <p:cNvPr id="3" name="cover-accent">
            <a:extLst>
              <a:ext uri="{FF2B5EF4-FFF2-40B4-BE49-F238E27FC236}">
                <a16:creationId xmlns:a16="http://schemas.microsoft.com/office/drawing/2014/main" id="{118C8445-E58C-47F3-9F1E-56DE78EA5D52}"/>
              </a:ext>
            </a:extLst>
          </p:cNvPr>
          <p:cNvSpPr>
            <a:spLocks noGrp="1"/>
          </p:cNvSpPr>
          <p:nvPr/>
        </p:nvSpPr>
        <p:spPr>
          <a:xfrm>
            <a:off x="628650" y="3143250"/>
            <a:ext cx="7810500" cy="285750"/>
          </a:xfrm>
          <a:prstGeom prst="rect">
            <a:avLst/>
          </a:prstGeom>
          <a:noFill/>
          <a:ln w="0">
            <a:noFill/>
          </a:ln>
        </p:spPr>
        <p:txBody>
          <a:bodyPr lIns="0" tIns="0" rIns="0" bIns="0" anchor="t">
            <a:noAutofit/>
          </a:bodyPr>
          <a:lstStyle/>
          <a:p>
            <a:pPr>
              <a:defRPr sz="1800" b="1">
                <a:solidFill>
                  <a:srgbClr val="C62828"/>
                </a:solidFill>
                <a:latin typeface="Arial"/>
                <a:ea typeface="Arial"/>
                <a:cs typeface="Arial"/>
              </a:defRPr>
            </a:pPr>
            <a:r>
              <a:rPr sz="1800" dirty="0">
                <a:latin typeface="Arial"/>
                <a:ea typeface="Arial"/>
                <a:cs typeface="Arial"/>
              </a:rPr>
              <a:t>Account by account, checked at days 30, 60 and 90.</a:t>
            </a:r>
          </a:p>
        </p:txBody>
      </p:sp>
      <p:sp>
        <p:nvSpPr>
          <p:cNvPr id="4" name="cover-footer-0">
            <a:extLst>
              <a:ext uri="{FF2B5EF4-FFF2-40B4-BE49-F238E27FC236}">
                <a16:creationId xmlns:a16="http://schemas.microsoft.com/office/drawing/2014/main" id="{EA303D85-BC36-40C7-A80D-B17CE601BDD9}"/>
              </a:ext>
            </a:extLst>
          </p:cNvPr>
          <p:cNvSpPr>
            <a:spLocks noGrp="1"/>
          </p:cNvSpPr>
          <p:nvPr/>
        </p:nvSpPr>
        <p:spPr>
          <a:xfrm>
            <a:off x="628650" y="4400550"/>
            <a:ext cx="78105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Sergio Benavidez  ·  Director of Sales, Europe  ·  Panel, 7 October 2026</a:t>
            </a:r>
          </a:p>
        </p:txBody>
      </p:sp>
      <p:sp>
        <p:nvSpPr>
          <p:cNvPr id="5" name="cover-footer-1">
            <a:extLst>
              <a:ext uri="{FF2B5EF4-FFF2-40B4-BE49-F238E27FC236}">
                <a16:creationId xmlns:a16="http://schemas.microsoft.com/office/drawing/2014/main" id="{8747E0B7-0829-48F5-B6D4-AECAC50D7721}"/>
              </a:ext>
            </a:extLst>
          </p:cNvPr>
          <p:cNvSpPr>
            <a:spLocks noGrp="1"/>
          </p:cNvSpPr>
          <p:nvPr/>
        </p:nvSpPr>
        <p:spPr>
          <a:xfrm>
            <a:off x="628650" y="4610100"/>
            <a:ext cx="78105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Built on public sources only. No Doodle Labs CRM, pricing or quota used.</a:t>
            </a:r>
          </a:p>
        </p:txBody>
      </p:sp>
    </p:spTree>
    <p:extLst>
      <p:ext uri="{BB962C8B-B14F-4D97-AF65-F5344CB8AC3E}">
        <p14:creationId xmlns:p14="http://schemas.microsoft.com/office/powerpoint/2010/main" val="1747235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75D9ECAE-4C0E-4364-8B3B-6F6C4B4EBA25}"/>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Market</a:t>
            </a:r>
          </a:p>
        </p:txBody>
      </p:sp>
      <p:sp>
        <p:nvSpPr>
          <p:cNvPr id="2" name="page-number">
            <a:extLst>
              <a:ext uri="{FF2B5EF4-FFF2-40B4-BE49-F238E27FC236}">
                <a16:creationId xmlns:a16="http://schemas.microsoft.com/office/drawing/2014/main" id="{0F4AE921-2E3E-4261-89B5-2665052E0978}"/>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02</a:t>
            </a:r>
          </a:p>
        </p:txBody>
      </p:sp>
      <p:sp>
        <p:nvSpPr>
          <p:cNvPr id="3" name="slide-title">
            <a:extLst>
              <a:ext uri="{FF2B5EF4-FFF2-40B4-BE49-F238E27FC236}">
                <a16:creationId xmlns:a16="http://schemas.microsoft.com/office/drawing/2014/main" id="{47518BC3-9937-427A-BA1B-BEBC31E077A9}"/>
              </a:ext>
            </a:extLst>
          </p:cNvPr>
          <p:cNvSpPr>
            <a:spLocks noGrp="1"/>
          </p:cNvSpPr>
          <p:nvPr/>
        </p:nvSpPr>
        <p:spPr>
          <a:xfrm>
            <a:off x="609600" y="2209800"/>
            <a:ext cx="7924800" cy="325703"/>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000" b="1" dirty="0">
                <a:solidFill>
                  <a:srgbClr val="202124"/>
                </a:solidFill>
                <a:latin typeface="Arial"/>
                <a:ea typeface="Arial"/>
                <a:cs typeface="Arial"/>
              </a:rPr>
              <a:t>European drone</a:t>
            </a:r>
            <a:r>
              <a:rPr lang="en-US" sz="2000" b="1" dirty="0">
                <a:solidFill>
                  <a:srgbClr val="202124"/>
                </a:solidFill>
                <a:latin typeface="Arial"/>
                <a:ea typeface="Arial"/>
                <a:cs typeface="Arial"/>
              </a:rPr>
              <a:t> </a:t>
            </a:r>
            <a:r>
              <a:rPr sz="2000" b="1" dirty="0" err="1">
                <a:solidFill>
                  <a:srgbClr val="202124"/>
                </a:solidFill>
                <a:latin typeface="Arial"/>
                <a:ea typeface="Arial"/>
                <a:cs typeface="Arial"/>
              </a:rPr>
              <a:t>programmes</a:t>
            </a:r>
            <a:r>
              <a:rPr sz="2000" b="1" dirty="0">
                <a:solidFill>
                  <a:srgbClr val="202124"/>
                </a:solidFill>
                <a:latin typeface="Arial"/>
                <a:ea typeface="Arial"/>
                <a:cs typeface="Arial"/>
              </a:rPr>
              <a:t> </a:t>
            </a:r>
            <a:r>
              <a:rPr lang="en-US" sz="2000" b="1" dirty="0">
                <a:solidFill>
                  <a:srgbClr val="202124"/>
                </a:solidFill>
                <a:latin typeface="Arial"/>
                <a:ea typeface="Arial"/>
                <a:cs typeface="Arial"/>
              </a:rPr>
              <a:t>are moving </a:t>
            </a:r>
            <a:r>
              <a:rPr sz="2000" b="1" dirty="0">
                <a:solidFill>
                  <a:srgbClr val="202124"/>
                </a:solidFill>
                <a:latin typeface="Arial"/>
                <a:ea typeface="Arial"/>
                <a:cs typeface="Arial"/>
              </a:rPr>
              <a:t>into production</a:t>
            </a:r>
            <a:endParaRPr lang="en-US" sz="2000" b="1" dirty="0">
              <a:solidFill>
                <a:srgbClr val="202124"/>
              </a:solidFill>
              <a:latin typeface="Arial"/>
              <a:ea typeface="Arial"/>
              <a:cs typeface="Arial"/>
            </a:endParaRPr>
          </a:p>
        </p:txBody>
      </p:sp>
      <p:sp>
        <p:nvSpPr>
          <p:cNvPr id="13" name="Straight Connector 12">
            <a:extLst>
              <a:ext uri="{FF2B5EF4-FFF2-40B4-BE49-F238E27FC236}">
                <a16:creationId xmlns:a16="http://schemas.microsoft.com/office/drawing/2014/main" id="{E7857B82-5C31-442D-A25F-F9BDAF182932}"/>
              </a:ext>
            </a:extLst>
          </p:cNvPr>
          <p:cNvSpPr>
            <a:spLocks noGrp="1"/>
          </p:cNvSpPr>
          <p:nvPr/>
        </p:nvSpPr>
        <p:spPr>
          <a:xfrm>
            <a:off x="609600" y="2571750"/>
            <a:ext cx="7924800" cy="0"/>
          </a:xfrm>
          <a:prstGeom prst="line">
            <a:avLst/>
          </a:prstGeom>
          <a:noFill/>
          <a:ln w="9525">
            <a:solidFill>
              <a:srgbClr val="DADCE0"/>
            </a:solidFill>
          </a:ln>
        </p:spPr>
        <p:txBody>
          <a:bodyPr/>
          <a:lstStyle/>
          <a:p>
            <a:endParaRPr lang="en-US"/>
          </a:p>
        </p:txBody>
      </p:sp>
      <p:sp>
        <p:nvSpPr>
          <p:cNvPr id="14" name="My first question">
            <a:extLst>
              <a:ext uri="{FF2B5EF4-FFF2-40B4-BE49-F238E27FC236}">
                <a16:creationId xmlns:a16="http://schemas.microsoft.com/office/drawing/2014/main" id="{8C856E5F-5B2C-4EFA-A5B5-28CDE352D3FA}"/>
              </a:ext>
            </a:extLst>
          </p:cNvPr>
          <p:cNvSpPr>
            <a:spLocks noGrp="1"/>
          </p:cNvSpPr>
          <p:nvPr/>
        </p:nvSpPr>
        <p:spPr>
          <a:xfrm>
            <a:off x="609600" y="2669322"/>
            <a:ext cx="944137" cy="247650"/>
          </a:xfrm>
          <a:prstGeom prst="rect">
            <a:avLst/>
          </a:prstGeom>
          <a:noFill/>
          <a:ln w="0">
            <a:noFill/>
          </a:ln>
        </p:spPr>
        <p:txBody>
          <a:bodyPr lIns="0" tIns="0" rIns="0" bIns="0" anchor="t">
            <a:noAutofit/>
          </a:bodyPr>
          <a:lstStyle/>
          <a:p>
            <a:pPr>
              <a:defRPr sz="1575" b="1">
                <a:solidFill>
                  <a:srgbClr val="C62828"/>
                </a:solidFill>
                <a:latin typeface="Arial"/>
                <a:ea typeface="Arial"/>
                <a:cs typeface="Arial"/>
              </a:defRPr>
            </a:pPr>
            <a:r>
              <a:rPr lang="en-US" sz="1575" b="1" dirty="0">
                <a:solidFill>
                  <a:srgbClr val="C62828"/>
                </a:solidFill>
                <a:latin typeface="Arial"/>
                <a:ea typeface="Arial"/>
                <a:cs typeface="Arial"/>
              </a:rPr>
              <a:t>Q</a:t>
            </a:r>
            <a:r>
              <a:rPr sz="1575" b="1" dirty="0">
                <a:solidFill>
                  <a:srgbClr val="C62828"/>
                </a:solidFill>
                <a:latin typeface="Arial"/>
                <a:ea typeface="Arial"/>
                <a:cs typeface="Arial"/>
              </a:rPr>
              <a:t>uestion</a:t>
            </a:r>
          </a:p>
        </p:txBody>
      </p:sp>
      <p:sp>
        <p:nvSpPr>
          <p:cNvPr id="15" name="Which next platform still has a radio decision to make?">
            <a:extLst>
              <a:ext uri="{FF2B5EF4-FFF2-40B4-BE49-F238E27FC236}">
                <a16:creationId xmlns:a16="http://schemas.microsoft.com/office/drawing/2014/main" id="{4D7DF229-83EB-41AB-BA90-0A3CA78E8962}"/>
              </a:ext>
            </a:extLst>
          </p:cNvPr>
          <p:cNvSpPr>
            <a:spLocks noGrp="1"/>
          </p:cNvSpPr>
          <p:nvPr/>
        </p:nvSpPr>
        <p:spPr>
          <a:xfrm>
            <a:off x="1657350" y="2669322"/>
            <a:ext cx="5676900" cy="2476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dirty="0">
                <a:solidFill>
                  <a:srgbClr val="202124"/>
                </a:solidFill>
                <a:latin typeface="Arial"/>
                <a:ea typeface="Arial"/>
                <a:cs typeface="Arial"/>
              </a:rPr>
              <a:t>Which next platform still has a radio decision to make?</a:t>
            </a:r>
          </a:p>
        </p:txBody>
      </p:sp>
    </p:spTree>
    <p:extLst>
      <p:ext uri="{BB962C8B-B14F-4D97-AF65-F5344CB8AC3E}">
        <p14:creationId xmlns:p14="http://schemas.microsoft.com/office/powerpoint/2010/main" val="114869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7DB198-3A44-5AD4-8AAE-CC60FDF97C7C}"/>
            </a:ext>
          </a:extLst>
        </p:cNvPr>
        <p:cNvGrpSpPr/>
        <p:nvPr/>
      </p:nvGrpSpPr>
      <p:grpSpPr>
        <a:xfrm>
          <a:off x="0" y="0"/>
          <a:ext cx="0" cy="0"/>
          <a:chOff x="0" y="0"/>
          <a:chExt cx="0" cy="0"/>
        </a:xfrm>
      </p:grpSpPr>
      <p:sp>
        <p:nvSpPr>
          <p:cNvPr id="17" name="section-label">
            <a:extLst>
              <a:ext uri="{FF2B5EF4-FFF2-40B4-BE49-F238E27FC236}">
                <a16:creationId xmlns:a16="http://schemas.microsoft.com/office/drawing/2014/main" id="{01706AC3-9582-70AD-7D6C-199B19357C1C}"/>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Market</a:t>
            </a:r>
          </a:p>
        </p:txBody>
      </p:sp>
      <p:sp>
        <p:nvSpPr>
          <p:cNvPr id="2" name="page-number">
            <a:extLst>
              <a:ext uri="{FF2B5EF4-FFF2-40B4-BE49-F238E27FC236}">
                <a16:creationId xmlns:a16="http://schemas.microsoft.com/office/drawing/2014/main" id="{EC490A97-BAB0-1DE1-8993-F2BC07CC0B61}"/>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03</a:t>
            </a:r>
          </a:p>
        </p:txBody>
      </p:sp>
      <p:sp>
        <p:nvSpPr>
          <p:cNvPr id="4" name="5,000">
            <a:extLst>
              <a:ext uri="{FF2B5EF4-FFF2-40B4-BE49-F238E27FC236}">
                <a16:creationId xmlns:a16="http://schemas.microsoft.com/office/drawing/2014/main" id="{7CF50BE4-9A55-1D9E-2EA4-504F1195AE56}"/>
              </a:ext>
            </a:extLst>
          </p:cNvPr>
          <p:cNvSpPr>
            <a:spLocks noGrp="1"/>
          </p:cNvSpPr>
          <p:nvPr/>
        </p:nvSpPr>
        <p:spPr>
          <a:xfrm>
            <a:off x="60960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dirty="0">
                <a:solidFill>
                  <a:srgbClr val="202124"/>
                </a:solidFill>
                <a:latin typeface="Arial"/>
                <a:ea typeface="Arial"/>
                <a:cs typeface="Arial"/>
              </a:rPr>
              <a:t>5,000</a:t>
            </a:r>
          </a:p>
        </p:txBody>
      </p:sp>
      <p:sp>
        <p:nvSpPr>
          <p:cNvPr id="5" name="DELCO drones">
            <a:extLst>
              <a:ext uri="{FF2B5EF4-FFF2-40B4-BE49-F238E27FC236}">
                <a16:creationId xmlns:a16="http://schemas.microsoft.com/office/drawing/2014/main" id="{A5730C8B-80E4-DC1B-D615-F6919929FD7E}"/>
              </a:ext>
            </a:extLst>
          </p:cNvPr>
          <p:cNvSpPr>
            <a:spLocks noGrp="1"/>
          </p:cNvSpPr>
          <p:nvPr/>
        </p:nvSpPr>
        <p:spPr>
          <a:xfrm>
            <a:off x="60960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dirty="0">
                <a:solidFill>
                  <a:srgbClr val="202124"/>
                </a:solidFill>
                <a:latin typeface="Arial"/>
                <a:ea typeface="Arial"/>
                <a:cs typeface="Arial"/>
              </a:rPr>
              <a:t>DELCO drones</a:t>
            </a:r>
          </a:p>
        </p:txBody>
      </p:sp>
      <p:sp>
        <p:nvSpPr>
          <p:cNvPr id="6" name="France · ordered May 2026,&#10;due by early 2027">
            <a:extLst>
              <a:ext uri="{FF2B5EF4-FFF2-40B4-BE49-F238E27FC236}">
                <a16:creationId xmlns:a16="http://schemas.microsoft.com/office/drawing/2014/main" id="{75D7E7FE-74FD-7040-482A-C247733F3C87}"/>
              </a:ext>
            </a:extLst>
          </p:cNvPr>
          <p:cNvSpPr>
            <a:spLocks noGrp="1"/>
          </p:cNvSpPr>
          <p:nvPr/>
        </p:nvSpPr>
        <p:spPr>
          <a:xfrm>
            <a:off x="60960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France · ordered May 2026,</a:t>
            </a:r>
          </a:p>
          <a:p>
            <a:pPr>
              <a:defRPr sz="1200" b="0">
                <a:solidFill>
                  <a:srgbClr val="62666A"/>
                </a:solidFill>
                <a:latin typeface="Arial"/>
                <a:ea typeface="Arial"/>
                <a:cs typeface="Arial"/>
              </a:defRPr>
            </a:pPr>
            <a:r>
              <a:rPr sz="1200" b="0" dirty="0">
                <a:solidFill>
                  <a:srgbClr val="62666A"/>
                </a:solidFill>
                <a:latin typeface="Arial"/>
                <a:ea typeface="Arial"/>
                <a:cs typeface="Arial"/>
              </a:rPr>
              <a:t>due by early 2027</a:t>
            </a:r>
          </a:p>
        </p:txBody>
      </p:sp>
      <p:sp>
        <p:nvSpPr>
          <p:cNvPr id="7" name="&gt;5,000">
            <a:extLst>
              <a:ext uri="{FF2B5EF4-FFF2-40B4-BE49-F238E27FC236}">
                <a16:creationId xmlns:a16="http://schemas.microsoft.com/office/drawing/2014/main" id="{0DBC62D8-58A1-F776-5835-1CAC8184A978}"/>
              </a:ext>
            </a:extLst>
          </p:cNvPr>
          <p:cNvSpPr>
            <a:spLocks noGrp="1"/>
          </p:cNvSpPr>
          <p:nvPr/>
        </p:nvSpPr>
        <p:spPr>
          <a:xfrm>
            <a:off x="333375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a:solidFill>
                  <a:srgbClr val="202124"/>
                </a:solidFill>
                <a:latin typeface="Arial"/>
                <a:ea typeface="Arial"/>
                <a:cs typeface="Arial"/>
              </a:rPr>
              <a:t>&gt;5,000</a:t>
            </a:r>
          </a:p>
        </p:txBody>
      </p:sp>
      <p:sp>
        <p:nvSpPr>
          <p:cNvPr id="8" name="Auterion–Airlogix systems">
            <a:extLst>
              <a:ext uri="{FF2B5EF4-FFF2-40B4-BE49-F238E27FC236}">
                <a16:creationId xmlns:a16="http://schemas.microsoft.com/office/drawing/2014/main" id="{2DB29D04-FBD2-287C-817E-38E0628523DB}"/>
              </a:ext>
            </a:extLst>
          </p:cNvPr>
          <p:cNvSpPr>
            <a:spLocks noGrp="1"/>
          </p:cNvSpPr>
          <p:nvPr/>
        </p:nvSpPr>
        <p:spPr>
          <a:xfrm>
            <a:off x="333375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Auterion–Airlogix systems</a:t>
            </a:r>
          </a:p>
        </p:txBody>
      </p:sp>
      <p:sp>
        <p:nvSpPr>
          <p:cNvPr id="9" name="Germany · serial production&#10;since September 2026">
            <a:extLst>
              <a:ext uri="{FF2B5EF4-FFF2-40B4-BE49-F238E27FC236}">
                <a16:creationId xmlns:a16="http://schemas.microsoft.com/office/drawing/2014/main" id="{044A9C04-D6D6-BF3F-F15A-43D4CF157A3B}"/>
              </a:ext>
            </a:extLst>
          </p:cNvPr>
          <p:cNvSpPr>
            <a:spLocks noGrp="1"/>
          </p:cNvSpPr>
          <p:nvPr/>
        </p:nvSpPr>
        <p:spPr>
          <a:xfrm>
            <a:off x="333375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Germany · serial production</a:t>
            </a:r>
          </a:p>
          <a:p>
            <a:pPr>
              <a:defRPr sz="1200" b="0">
                <a:solidFill>
                  <a:srgbClr val="62666A"/>
                </a:solidFill>
                <a:latin typeface="Arial"/>
                <a:ea typeface="Arial"/>
                <a:cs typeface="Arial"/>
              </a:defRPr>
            </a:pPr>
            <a:r>
              <a:rPr sz="1200" b="0">
                <a:solidFill>
                  <a:srgbClr val="62666A"/>
                </a:solidFill>
                <a:latin typeface="Arial"/>
                <a:ea typeface="Arial"/>
                <a:cs typeface="Arial"/>
              </a:rPr>
              <a:t>since September 2026</a:t>
            </a:r>
          </a:p>
        </p:txBody>
      </p:sp>
      <p:sp>
        <p:nvSpPr>
          <p:cNvPr id="10" name="147">
            <a:extLst>
              <a:ext uri="{FF2B5EF4-FFF2-40B4-BE49-F238E27FC236}">
                <a16:creationId xmlns:a16="http://schemas.microsoft.com/office/drawing/2014/main" id="{3060D535-1D91-5B48-BFD3-BA297D7F98D3}"/>
              </a:ext>
            </a:extLst>
          </p:cNvPr>
          <p:cNvSpPr>
            <a:spLocks noGrp="1"/>
          </p:cNvSpPr>
          <p:nvPr/>
        </p:nvSpPr>
        <p:spPr>
          <a:xfrm>
            <a:off x="6057900" y="1866900"/>
            <a:ext cx="2571750" cy="723900"/>
          </a:xfrm>
          <a:prstGeom prst="rect">
            <a:avLst/>
          </a:prstGeom>
          <a:noFill/>
          <a:ln w="0">
            <a:noFill/>
          </a:ln>
        </p:spPr>
        <p:txBody>
          <a:bodyPr lIns="0" tIns="0" rIns="0" bIns="0" anchor="t">
            <a:noAutofit/>
          </a:bodyPr>
          <a:lstStyle/>
          <a:p>
            <a:pPr>
              <a:defRPr sz="4800" b="1">
                <a:solidFill>
                  <a:srgbClr val="202124"/>
                </a:solidFill>
                <a:latin typeface="Arial"/>
                <a:ea typeface="Arial"/>
                <a:cs typeface="Arial"/>
              </a:defRPr>
            </a:pPr>
            <a:r>
              <a:rPr sz="4800" b="1">
                <a:solidFill>
                  <a:srgbClr val="202124"/>
                </a:solidFill>
                <a:latin typeface="Arial"/>
                <a:ea typeface="Arial"/>
                <a:cs typeface="Arial"/>
              </a:rPr>
              <a:t>147</a:t>
            </a:r>
          </a:p>
        </p:txBody>
      </p:sp>
      <p:sp>
        <p:nvSpPr>
          <p:cNvPr id="11" name="Tarsis aircraft">
            <a:extLst>
              <a:ext uri="{FF2B5EF4-FFF2-40B4-BE49-F238E27FC236}">
                <a16:creationId xmlns:a16="http://schemas.microsoft.com/office/drawing/2014/main" id="{29E531EA-11D7-C3D0-D2D4-EC340B6E5E0F}"/>
              </a:ext>
            </a:extLst>
          </p:cNvPr>
          <p:cNvSpPr>
            <a:spLocks noGrp="1"/>
          </p:cNvSpPr>
          <p:nvPr/>
        </p:nvSpPr>
        <p:spPr>
          <a:xfrm>
            <a:off x="6057900" y="2724150"/>
            <a:ext cx="257175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Tarsis aircraft</a:t>
            </a:r>
          </a:p>
        </p:txBody>
      </p:sp>
      <p:sp>
        <p:nvSpPr>
          <p:cNvPr id="12" name="Spain · deliveries&#10;2028–30">
            <a:extLst>
              <a:ext uri="{FF2B5EF4-FFF2-40B4-BE49-F238E27FC236}">
                <a16:creationId xmlns:a16="http://schemas.microsoft.com/office/drawing/2014/main" id="{6C09F559-85B5-C126-7A75-494D0C468B27}"/>
              </a:ext>
            </a:extLst>
          </p:cNvPr>
          <p:cNvSpPr>
            <a:spLocks noGrp="1"/>
          </p:cNvSpPr>
          <p:nvPr/>
        </p:nvSpPr>
        <p:spPr>
          <a:xfrm>
            <a:off x="6057900" y="3028950"/>
            <a:ext cx="25717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Spain · deliveries</a:t>
            </a:r>
          </a:p>
          <a:p>
            <a:pPr>
              <a:defRPr sz="1200" b="0">
                <a:solidFill>
                  <a:srgbClr val="62666A"/>
                </a:solidFill>
                <a:latin typeface="Arial"/>
                <a:ea typeface="Arial"/>
                <a:cs typeface="Arial"/>
              </a:defRPr>
            </a:pPr>
            <a:r>
              <a:rPr sz="1200" b="0" dirty="0">
                <a:solidFill>
                  <a:srgbClr val="62666A"/>
                </a:solidFill>
                <a:latin typeface="Arial"/>
                <a:ea typeface="Arial"/>
                <a:cs typeface="Arial"/>
              </a:rPr>
              <a:t>2028–30</a:t>
            </a:r>
          </a:p>
        </p:txBody>
      </p:sp>
      <p:sp>
        <p:nvSpPr>
          <p:cNvPr id="16" name="source-footnote">
            <a:extLst>
              <a:ext uri="{FF2B5EF4-FFF2-40B4-BE49-F238E27FC236}">
                <a16:creationId xmlns:a16="http://schemas.microsoft.com/office/drawing/2014/main" id="{DE1B0235-A3F3-8428-11BC-D01BDB422CB7}"/>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Aircraft and systems, not radios  ·  DGA, 23 Jun 2026  ·  Auterion, 21 Sep 2026  ·  Indra, 9 Sep 2026</a:t>
            </a:r>
          </a:p>
        </p:txBody>
      </p:sp>
      <p:sp>
        <p:nvSpPr>
          <p:cNvPr id="21" name="Straight Connector 20">
            <a:extLst>
              <a:ext uri="{FF2B5EF4-FFF2-40B4-BE49-F238E27FC236}">
                <a16:creationId xmlns:a16="http://schemas.microsoft.com/office/drawing/2014/main" id="{67F6867D-9282-EEB1-2B3F-687F123DB4E6}"/>
              </a:ext>
            </a:extLst>
          </p:cNvPr>
          <p:cNvSpPr>
            <a:spLocks noGrp="1"/>
          </p:cNvSpPr>
          <p:nvPr/>
        </p:nvSpPr>
        <p:spPr>
          <a:xfrm>
            <a:off x="609600" y="4000500"/>
            <a:ext cx="7924800" cy="0"/>
          </a:xfrm>
          <a:prstGeom prst="line">
            <a:avLst/>
          </a:prstGeom>
          <a:noFill/>
          <a:ln w="9525">
            <a:solidFill>
              <a:srgbClr val="DADCE0"/>
            </a:solidFill>
          </a:ln>
        </p:spPr>
        <p:txBody>
          <a:bodyPr/>
          <a:lstStyle/>
          <a:p>
            <a:endParaRPr lang="en-US"/>
          </a:p>
        </p:txBody>
      </p:sp>
    </p:spTree>
    <p:extLst>
      <p:ext uri="{BB962C8B-B14F-4D97-AF65-F5344CB8AC3E}">
        <p14:creationId xmlns:p14="http://schemas.microsoft.com/office/powerpoint/2010/main" val="2568802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ection-label">
            <a:extLst>
              <a:ext uri="{FF2B5EF4-FFF2-40B4-BE49-F238E27FC236}">
                <a16:creationId xmlns:a16="http://schemas.microsoft.com/office/drawing/2014/main" id="{08C0161F-562E-4EF9-92B6-123DF21FE96F}"/>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Scope  /  Where I would start</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83469521-06F5-4DC8-BB8E-768571466A0A}"/>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06</a:t>
            </a:r>
          </a:p>
        </p:txBody>
      </p:sp>
      <p:sp>
        <p:nvSpPr>
          <p:cNvPr id="3" name="slide-title">
            <a:extLst>
              <a:ext uri="{FF2B5EF4-FFF2-40B4-BE49-F238E27FC236}">
                <a16:creationId xmlns:a16="http://schemas.microsoft.com/office/drawing/2014/main" id="{BC6BD8C0-CC35-466E-9DD0-2AF252D9A031}"/>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dirty="0">
                <a:solidFill>
                  <a:srgbClr val="202124"/>
                </a:solidFill>
                <a:latin typeface="Arial"/>
                <a:ea typeface="Arial"/>
                <a:cs typeface="Arial"/>
              </a:rPr>
              <a:t>Inside the South, I start</a:t>
            </a:r>
            <a:endParaRPr lang="en-US" sz="2325" b="1" dirty="0">
              <a:solidFill>
                <a:srgbClr val="202124"/>
              </a:solidFill>
              <a:latin typeface="Arial"/>
              <a:ea typeface="Arial"/>
              <a:cs typeface="Arial"/>
            </a:endParaRPr>
          </a:p>
          <a:p>
            <a:pPr>
              <a:defRPr sz="2325" b="1">
                <a:solidFill>
                  <a:srgbClr val="202124"/>
                </a:solidFill>
                <a:latin typeface="Arial"/>
                <a:ea typeface="Arial"/>
                <a:cs typeface="Arial"/>
              </a:defRPr>
            </a:pPr>
            <a:r>
              <a:rPr sz="2325" b="1" dirty="0">
                <a:solidFill>
                  <a:srgbClr val="202124"/>
                </a:solidFill>
                <a:latin typeface="Arial"/>
                <a:ea typeface="Arial"/>
                <a:cs typeface="Arial"/>
              </a:rPr>
              <a:t>where a decision is reachable</a:t>
            </a:r>
          </a:p>
        </p:txBody>
      </p:sp>
      <p:sp>
        <p:nvSpPr>
          <p:cNvPr id="4" name="1">
            <a:extLst>
              <a:ext uri="{FF2B5EF4-FFF2-40B4-BE49-F238E27FC236}">
                <a16:creationId xmlns:a16="http://schemas.microsoft.com/office/drawing/2014/main" id="{63E7BCE8-552C-4761-B6A2-6910D3490E2D}"/>
              </a:ext>
            </a:extLst>
          </p:cNvPr>
          <p:cNvSpPr>
            <a:spLocks noGrp="1"/>
          </p:cNvSpPr>
          <p:nvPr/>
        </p:nvSpPr>
        <p:spPr>
          <a:xfrm>
            <a:off x="609600" y="1676400"/>
            <a:ext cx="571500" cy="666750"/>
          </a:xfrm>
          <a:prstGeom prst="rect">
            <a:avLst/>
          </a:prstGeom>
          <a:noFill/>
          <a:ln w="0">
            <a:noFill/>
          </a:ln>
        </p:spPr>
        <p:txBody>
          <a:bodyPr lIns="0" tIns="0" rIns="0" bIns="0" anchor="t">
            <a:noAutofit/>
          </a:bodyPr>
          <a:lstStyle/>
          <a:p>
            <a:pPr>
              <a:defRPr sz="4500" b="1">
                <a:solidFill>
                  <a:srgbClr val="C62828"/>
                </a:solidFill>
                <a:latin typeface="Arial"/>
                <a:ea typeface="Arial"/>
                <a:cs typeface="Arial"/>
              </a:defRPr>
            </a:pPr>
            <a:r>
              <a:rPr sz="4500" b="1">
                <a:solidFill>
                  <a:srgbClr val="C62828"/>
                </a:solidFill>
                <a:latin typeface="Arial"/>
                <a:ea typeface="Arial"/>
                <a:cs typeface="Arial"/>
              </a:rPr>
              <a:t>1</a:t>
            </a:r>
          </a:p>
        </p:txBody>
      </p:sp>
      <p:sp>
        <p:nvSpPr>
          <p:cNvPr id="5" name="France">
            <a:extLst>
              <a:ext uri="{FF2B5EF4-FFF2-40B4-BE49-F238E27FC236}">
                <a16:creationId xmlns:a16="http://schemas.microsoft.com/office/drawing/2014/main" id="{9D5977CD-B24E-4930-AE7F-6D5283ADCD57}"/>
              </a:ext>
            </a:extLst>
          </p:cNvPr>
          <p:cNvSpPr>
            <a:spLocks noGrp="1"/>
          </p:cNvSpPr>
          <p:nvPr/>
        </p:nvSpPr>
        <p:spPr>
          <a:xfrm>
            <a:off x="60960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France</a:t>
            </a:r>
          </a:p>
        </p:txBody>
      </p:sp>
      <p:sp>
        <p:nvSpPr>
          <p:cNvPr id="6" name="Near-term ramp: DELCO order,&#10;Delair–Schaeffler line">
            <a:extLst>
              <a:ext uri="{FF2B5EF4-FFF2-40B4-BE49-F238E27FC236}">
                <a16:creationId xmlns:a16="http://schemas.microsoft.com/office/drawing/2014/main" id="{24CF603B-3668-4CB2-B4CA-24709B0D451E}"/>
              </a:ext>
            </a:extLst>
          </p:cNvPr>
          <p:cNvSpPr>
            <a:spLocks noGrp="1"/>
          </p:cNvSpPr>
          <p:nvPr/>
        </p:nvSpPr>
        <p:spPr>
          <a:xfrm>
            <a:off x="60960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Near-term ramp: DELCO order,</a:t>
            </a:r>
          </a:p>
          <a:p>
            <a:pPr>
              <a:defRPr sz="1200" b="0">
                <a:solidFill>
                  <a:srgbClr val="62666A"/>
                </a:solidFill>
                <a:latin typeface="Arial"/>
                <a:ea typeface="Arial"/>
                <a:cs typeface="Arial"/>
              </a:defRPr>
            </a:pPr>
            <a:r>
              <a:rPr sz="1200" b="0">
                <a:solidFill>
                  <a:srgbClr val="62666A"/>
                </a:solidFill>
                <a:latin typeface="Arial"/>
                <a:ea typeface="Arial"/>
                <a:cs typeface="Arial"/>
              </a:rPr>
              <a:t>Delair–Schaeffler line</a:t>
            </a:r>
          </a:p>
        </p:txBody>
      </p:sp>
      <p:sp>
        <p:nvSpPr>
          <p:cNvPr id="7" name="Ask Delair and Harmattan&#10;about the next platform">
            <a:extLst>
              <a:ext uri="{FF2B5EF4-FFF2-40B4-BE49-F238E27FC236}">
                <a16:creationId xmlns:a16="http://schemas.microsoft.com/office/drawing/2014/main" id="{C298BF85-D79A-4DA1-BC48-80DDF93520FF}"/>
              </a:ext>
            </a:extLst>
          </p:cNvPr>
          <p:cNvSpPr>
            <a:spLocks noGrp="1"/>
          </p:cNvSpPr>
          <p:nvPr/>
        </p:nvSpPr>
        <p:spPr>
          <a:xfrm>
            <a:off x="60960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Ask Delair and Harmattan</a:t>
            </a:r>
          </a:p>
          <a:p>
            <a:pPr>
              <a:defRPr sz="1275" b="1">
                <a:solidFill>
                  <a:srgbClr val="202124"/>
                </a:solidFill>
                <a:latin typeface="Arial"/>
                <a:ea typeface="Arial"/>
                <a:cs typeface="Arial"/>
              </a:defRPr>
            </a:pPr>
            <a:r>
              <a:rPr sz="1275" b="1">
                <a:solidFill>
                  <a:srgbClr val="202124"/>
                </a:solidFill>
                <a:latin typeface="Arial"/>
                <a:ea typeface="Arial"/>
                <a:cs typeface="Arial"/>
              </a:rPr>
              <a:t>about the next platform</a:t>
            </a:r>
          </a:p>
        </p:txBody>
      </p:sp>
      <p:sp>
        <p:nvSpPr>
          <p:cNvPr id="8" name="2">
            <a:extLst>
              <a:ext uri="{FF2B5EF4-FFF2-40B4-BE49-F238E27FC236}">
                <a16:creationId xmlns:a16="http://schemas.microsoft.com/office/drawing/2014/main" id="{6BAA354F-FB30-4FD6-96BC-57B7D33F3289}"/>
              </a:ext>
            </a:extLst>
          </p:cNvPr>
          <p:cNvSpPr>
            <a:spLocks noGrp="1"/>
          </p:cNvSpPr>
          <p:nvPr/>
        </p:nvSpPr>
        <p:spPr>
          <a:xfrm>
            <a:off x="3333750" y="1676400"/>
            <a:ext cx="571500" cy="666750"/>
          </a:xfrm>
          <a:prstGeom prst="rect">
            <a:avLst/>
          </a:prstGeom>
          <a:noFill/>
          <a:ln w="0">
            <a:noFill/>
          </a:ln>
        </p:spPr>
        <p:txBody>
          <a:bodyPr lIns="0" tIns="0" rIns="0" bIns="0" anchor="t">
            <a:noAutofit/>
          </a:bodyPr>
          <a:lstStyle/>
          <a:p>
            <a:pPr>
              <a:defRPr sz="4500" b="1">
                <a:solidFill>
                  <a:srgbClr val="8A8E93"/>
                </a:solidFill>
                <a:latin typeface="Arial"/>
                <a:ea typeface="Arial"/>
                <a:cs typeface="Arial"/>
              </a:defRPr>
            </a:pPr>
            <a:r>
              <a:rPr sz="4500" b="1">
                <a:solidFill>
                  <a:srgbClr val="8A8E93"/>
                </a:solidFill>
                <a:latin typeface="Arial"/>
                <a:ea typeface="Arial"/>
                <a:cs typeface="Arial"/>
              </a:rPr>
              <a:t>2</a:t>
            </a:r>
          </a:p>
        </p:txBody>
      </p:sp>
      <p:sp>
        <p:nvSpPr>
          <p:cNvPr id="9" name="Portugal">
            <a:extLst>
              <a:ext uri="{FF2B5EF4-FFF2-40B4-BE49-F238E27FC236}">
                <a16:creationId xmlns:a16="http://schemas.microsoft.com/office/drawing/2014/main" id="{225F6E65-6E70-47A9-A4F5-474ED304EBC4}"/>
              </a:ext>
            </a:extLst>
          </p:cNvPr>
          <p:cNvSpPr>
            <a:spLocks noGrp="1"/>
          </p:cNvSpPr>
          <p:nvPr/>
        </p:nvSpPr>
        <p:spPr>
          <a:xfrm>
            <a:off x="333375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Italy</a:t>
            </a:r>
          </a:p>
        </p:txBody>
      </p:sp>
      <p:sp>
        <p:nvSpPr>
          <p:cNvPr id="10" name="TEKEVER builds the AR5&#10;for the British Army">
            <a:extLst>
              <a:ext uri="{FF2B5EF4-FFF2-40B4-BE49-F238E27FC236}">
                <a16:creationId xmlns:a16="http://schemas.microsoft.com/office/drawing/2014/main" id="{9C97C8C3-6DB8-4669-950C-1F3AD6AD3A91}"/>
              </a:ext>
            </a:extLst>
          </p:cNvPr>
          <p:cNvSpPr>
            <a:spLocks noGrp="1"/>
          </p:cNvSpPr>
          <p:nvPr/>
        </p:nvSpPr>
        <p:spPr>
          <a:xfrm>
            <a:off x="333375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Leonardo–</a:t>
            </a:r>
            <a:r>
              <a:rPr sz="1200" b="0" dirty="0" err="1">
                <a:solidFill>
                  <a:srgbClr val="62666A"/>
                </a:solidFill>
                <a:latin typeface="Arial"/>
                <a:ea typeface="Arial"/>
                <a:cs typeface="Arial"/>
              </a:rPr>
              <a:t>Baykar</a:t>
            </a:r>
            <a:r>
              <a:rPr sz="1200" b="0" dirty="0">
                <a:solidFill>
                  <a:srgbClr val="62666A"/>
                </a:solidFill>
                <a:latin typeface="Arial"/>
                <a:ea typeface="Arial"/>
                <a:cs typeface="Arial"/>
              </a:rPr>
              <a:t> and Rheinmetall</a:t>
            </a:r>
          </a:p>
          <a:p>
            <a:pPr>
              <a:defRPr sz="1200" b="0">
                <a:solidFill>
                  <a:srgbClr val="62666A"/>
                </a:solidFill>
                <a:latin typeface="Arial"/>
                <a:ea typeface="Arial"/>
                <a:cs typeface="Arial"/>
              </a:defRPr>
            </a:pPr>
            <a:r>
              <a:rPr sz="1200" b="0" dirty="0">
                <a:solidFill>
                  <a:srgbClr val="62666A"/>
                </a:solidFill>
                <a:latin typeface="Arial"/>
                <a:ea typeface="Arial"/>
                <a:cs typeface="Arial"/>
              </a:rPr>
              <a:t>Italia in series production</a:t>
            </a:r>
          </a:p>
        </p:txBody>
      </p:sp>
      <p:sp>
        <p:nvSpPr>
          <p:cNvPr id="11" name="Find who decides,&#10;and who owns it today">
            <a:extLst>
              <a:ext uri="{FF2B5EF4-FFF2-40B4-BE49-F238E27FC236}">
                <a16:creationId xmlns:a16="http://schemas.microsoft.com/office/drawing/2014/main" id="{89F87B38-076F-42AD-B888-326D3D5E5A5D}"/>
              </a:ext>
            </a:extLst>
          </p:cNvPr>
          <p:cNvSpPr>
            <a:spLocks noGrp="1"/>
          </p:cNvSpPr>
          <p:nvPr/>
        </p:nvSpPr>
        <p:spPr>
          <a:xfrm>
            <a:off x="333375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Find the design authority</a:t>
            </a:r>
          </a:p>
          <a:p>
            <a:pPr>
              <a:defRPr sz="1275" b="1">
                <a:solidFill>
                  <a:srgbClr val="202124"/>
                </a:solidFill>
                <a:latin typeface="Arial"/>
                <a:ea typeface="Arial"/>
                <a:cs typeface="Arial"/>
              </a:defRPr>
            </a:pPr>
            <a:r>
              <a:rPr sz="1275" b="1">
                <a:solidFill>
                  <a:srgbClr val="202124"/>
                </a:solidFill>
                <a:latin typeface="Arial"/>
                <a:ea typeface="Arial"/>
                <a:cs typeface="Arial"/>
              </a:rPr>
              <a:t>behind each programme</a:t>
            </a:r>
          </a:p>
        </p:txBody>
      </p:sp>
      <p:sp>
        <p:nvSpPr>
          <p:cNvPr id="12" name="3">
            <a:extLst>
              <a:ext uri="{FF2B5EF4-FFF2-40B4-BE49-F238E27FC236}">
                <a16:creationId xmlns:a16="http://schemas.microsoft.com/office/drawing/2014/main" id="{389B040E-2077-4619-B864-06D0EE787CD2}"/>
              </a:ext>
            </a:extLst>
          </p:cNvPr>
          <p:cNvSpPr>
            <a:spLocks noGrp="1"/>
          </p:cNvSpPr>
          <p:nvPr/>
        </p:nvSpPr>
        <p:spPr>
          <a:xfrm>
            <a:off x="6057900" y="1676400"/>
            <a:ext cx="571500" cy="666750"/>
          </a:xfrm>
          <a:prstGeom prst="rect">
            <a:avLst/>
          </a:prstGeom>
          <a:noFill/>
          <a:ln w="0">
            <a:noFill/>
          </a:ln>
        </p:spPr>
        <p:txBody>
          <a:bodyPr lIns="0" tIns="0" rIns="0" bIns="0" anchor="t">
            <a:noAutofit/>
          </a:bodyPr>
          <a:lstStyle/>
          <a:p>
            <a:pPr>
              <a:defRPr sz="4500" b="1">
                <a:solidFill>
                  <a:srgbClr val="8A8E93"/>
                </a:solidFill>
                <a:latin typeface="Arial"/>
                <a:ea typeface="Arial"/>
                <a:cs typeface="Arial"/>
              </a:defRPr>
            </a:pPr>
            <a:r>
              <a:rPr sz="4500" b="1">
                <a:solidFill>
                  <a:srgbClr val="8A8E93"/>
                </a:solidFill>
                <a:latin typeface="Arial"/>
                <a:ea typeface="Arial"/>
                <a:cs typeface="Arial"/>
              </a:rPr>
              <a:t>3</a:t>
            </a:r>
          </a:p>
        </p:txBody>
      </p:sp>
      <p:sp>
        <p:nvSpPr>
          <p:cNvPr id="13" name="Italy  ·  Spain">
            <a:extLst>
              <a:ext uri="{FF2B5EF4-FFF2-40B4-BE49-F238E27FC236}">
                <a16:creationId xmlns:a16="http://schemas.microsoft.com/office/drawing/2014/main" id="{30B1B27E-F517-4051-97C9-BBC72B5D84A1}"/>
              </a:ext>
            </a:extLst>
          </p:cNvPr>
          <p:cNvSpPr>
            <a:spLocks noGrp="1"/>
          </p:cNvSpPr>
          <p:nvPr/>
        </p:nvSpPr>
        <p:spPr>
          <a:xfrm>
            <a:off x="6057900" y="2457450"/>
            <a:ext cx="2381250" cy="266700"/>
          </a:xfrm>
          <a:prstGeom prst="rect">
            <a:avLst/>
          </a:prstGeom>
          <a:noFill/>
          <a:ln w="0">
            <a:noFill/>
          </a:ln>
        </p:spPr>
        <p:txBody>
          <a:bodyPr lIns="0" tIns="0" rIns="0" bIns="0" anchor="t">
            <a:noAutofit/>
          </a:bodyPr>
          <a:lstStyle/>
          <a:p>
            <a:pPr>
              <a:defRPr sz="1650" b="1">
                <a:solidFill>
                  <a:srgbClr val="202124"/>
                </a:solidFill>
                <a:latin typeface="Arial"/>
                <a:ea typeface="Arial"/>
                <a:cs typeface="Arial"/>
              </a:defRPr>
            </a:pPr>
            <a:r>
              <a:rPr sz="1650" b="1">
                <a:solidFill>
                  <a:srgbClr val="202124"/>
                </a:solidFill>
                <a:latin typeface="Arial"/>
                <a:ea typeface="Arial"/>
                <a:cs typeface="Arial"/>
              </a:rPr>
              <a:t>Spain  ·  Portugal</a:t>
            </a:r>
          </a:p>
        </p:txBody>
      </p:sp>
      <p:sp>
        <p:nvSpPr>
          <p:cNvPr id="14" name="LBA and RWM in production;&#10;Tarsis deliveries from 2028">
            <a:extLst>
              <a:ext uri="{FF2B5EF4-FFF2-40B4-BE49-F238E27FC236}">
                <a16:creationId xmlns:a16="http://schemas.microsoft.com/office/drawing/2014/main" id="{91191633-F49E-4571-A7A7-42058EC55B7A}"/>
              </a:ext>
            </a:extLst>
          </p:cNvPr>
          <p:cNvSpPr>
            <a:spLocks noGrp="1"/>
          </p:cNvSpPr>
          <p:nvPr/>
        </p:nvSpPr>
        <p:spPr>
          <a:xfrm>
            <a:off x="6057900" y="2819400"/>
            <a:ext cx="238125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Tarsis deliveries from 2028;</a:t>
            </a:r>
          </a:p>
          <a:p>
            <a:pPr>
              <a:defRPr sz="1200" b="0">
                <a:solidFill>
                  <a:srgbClr val="62666A"/>
                </a:solidFill>
                <a:latin typeface="Arial"/>
                <a:ea typeface="Arial"/>
                <a:cs typeface="Arial"/>
              </a:defRPr>
            </a:pPr>
            <a:r>
              <a:rPr sz="1200" b="0">
                <a:solidFill>
                  <a:srgbClr val="62666A"/>
                </a:solidFill>
                <a:latin typeface="Arial"/>
                <a:ea typeface="Arial"/>
                <a:cs typeface="Arial"/>
              </a:rPr>
              <a:t>TEKEVER builds AR5 in the UK</a:t>
            </a:r>
          </a:p>
        </p:txBody>
      </p:sp>
      <p:sp>
        <p:nvSpPr>
          <p:cNvPr id="15" name="Qualify before&#10;leading with them">
            <a:extLst>
              <a:ext uri="{FF2B5EF4-FFF2-40B4-BE49-F238E27FC236}">
                <a16:creationId xmlns:a16="http://schemas.microsoft.com/office/drawing/2014/main" id="{1B3A490C-A5EF-48BA-A7A3-1A2D958EA11D}"/>
              </a:ext>
            </a:extLst>
          </p:cNvPr>
          <p:cNvSpPr>
            <a:spLocks noGrp="1"/>
          </p:cNvSpPr>
          <p:nvPr/>
        </p:nvSpPr>
        <p:spPr>
          <a:xfrm>
            <a:off x="6057900" y="3333750"/>
            <a:ext cx="2381250" cy="41910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Build through the primes;</a:t>
            </a:r>
          </a:p>
          <a:p>
            <a:pPr>
              <a:defRPr sz="1275" b="1">
                <a:solidFill>
                  <a:srgbClr val="202124"/>
                </a:solidFill>
                <a:latin typeface="Arial"/>
                <a:ea typeface="Arial"/>
                <a:cs typeface="Arial"/>
              </a:defRPr>
            </a:pPr>
            <a:r>
              <a:rPr sz="1275" b="1">
                <a:solidFill>
                  <a:srgbClr val="202124"/>
                </a:solidFill>
                <a:latin typeface="Arial"/>
                <a:ea typeface="Arial"/>
                <a:cs typeface="Arial"/>
              </a:rPr>
              <a:t>programmes from 2028</a:t>
            </a:r>
          </a:p>
        </p:txBody>
      </p:sp>
      <p:sp>
        <p:nvSpPr>
          <p:cNvPr id="16" name="Straight Connector 15">
            <a:extLst>
              <a:ext uri="{FF2B5EF4-FFF2-40B4-BE49-F238E27FC236}">
                <a16:creationId xmlns:a16="http://schemas.microsoft.com/office/drawing/2014/main" id="{C06F4E55-76AC-4EE3-9C7E-22FEA6EA372B}"/>
              </a:ext>
            </a:extLst>
          </p:cNvPr>
          <p:cNvSpPr>
            <a:spLocks noGrp="1"/>
          </p:cNvSpPr>
          <p:nvPr/>
        </p:nvSpPr>
        <p:spPr>
          <a:xfrm>
            <a:off x="609600" y="4000500"/>
            <a:ext cx="7924800" cy="0"/>
          </a:xfrm>
          <a:prstGeom prst="line">
            <a:avLst/>
          </a:prstGeom>
          <a:noFill/>
          <a:ln w="9525">
            <a:solidFill>
              <a:srgbClr val="DADCE0"/>
            </a:solidFill>
          </a:ln>
        </p:spPr>
        <p:txBody>
          <a:bodyPr/>
          <a:lstStyle/>
          <a:p>
            <a:endParaRPr lang="en-US"/>
          </a:p>
        </p:txBody>
      </p:sp>
      <p:sp>
        <p:nvSpPr>
          <p:cNvPr id="17" name="bottom-line">
            <a:extLst>
              <a:ext uri="{FF2B5EF4-FFF2-40B4-BE49-F238E27FC236}">
                <a16:creationId xmlns:a16="http://schemas.microsoft.com/office/drawing/2014/main" id="{3B8F067D-B63A-4C61-97B1-3B842DEB5E14}"/>
              </a:ext>
            </a:extLst>
          </p:cNvPr>
          <p:cNvSpPr>
            <a:spLocks noGrp="1"/>
          </p:cNvSpPr>
          <p:nvPr/>
        </p:nvSpPr>
        <p:spPr>
          <a:xfrm>
            <a:off x="609600" y="4171950"/>
            <a:ext cx="7924800" cy="247650"/>
          </a:xfrm>
          <a:prstGeom prst="rect">
            <a:avLst/>
          </a:prstGeom>
          <a:noFill/>
          <a:ln w="0">
            <a:noFill/>
          </a:ln>
        </p:spPr>
        <p:txBody>
          <a:bodyPr lIns="0" tIns="0" rIns="0" bIns="0" anchor="t">
            <a:noAutofit/>
          </a:bodyPr>
          <a:lstStyle/>
          <a:p>
            <a:pPr>
              <a:defRPr sz="1500" b="1">
                <a:solidFill>
                  <a:srgbClr val="C62828"/>
                </a:solidFill>
                <a:latin typeface="Arial"/>
                <a:ea typeface="Arial"/>
                <a:cs typeface="Arial"/>
              </a:defRPr>
            </a:pPr>
            <a:r>
              <a:rPr sz="1500" b="1">
                <a:solidFill>
                  <a:srgbClr val="C62828"/>
                </a:solidFill>
                <a:latin typeface="Arial"/>
                <a:ea typeface="Arial"/>
                <a:cs typeface="Arial"/>
              </a:rPr>
              <a:t>One owner for the South. A live decision in your book goes to the top.</a:t>
            </a:r>
          </a:p>
        </p:txBody>
      </p:sp>
      <p:sp>
        <p:nvSpPr>
          <p:cNvPr id="18" name="source-footnote">
            <a:extLst>
              <a:ext uri="{FF2B5EF4-FFF2-40B4-BE49-F238E27FC236}">
                <a16:creationId xmlns:a16="http://schemas.microsoft.com/office/drawing/2014/main" id="{0C0DFA99-B774-43AA-85B5-FE2D114FDFEC}"/>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Proposed order for discovery. No account availability, current supplier or Doodle status assumed.</a:t>
            </a:r>
          </a:p>
        </p:txBody>
      </p:sp>
    </p:spTree>
    <p:extLst>
      <p:ext uri="{BB962C8B-B14F-4D97-AF65-F5344CB8AC3E}">
        <p14:creationId xmlns:p14="http://schemas.microsoft.com/office/powerpoint/2010/main" val="1838779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ection-label">
            <a:extLst>
              <a:ext uri="{FF2B5EF4-FFF2-40B4-BE49-F238E27FC236}">
                <a16:creationId xmlns:a16="http://schemas.microsoft.com/office/drawing/2014/main" id="{6DFFD659-CB43-40C7-8453-FD152D83A6B3}"/>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Market  /  Where Doodle fits</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705B1CE1-7B94-4FB3-83D6-A834E3120719}"/>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04</a:t>
            </a:r>
          </a:p>
        </p:txBody>
      </p:sp>
      <p:sp>
        <p:nvSpPr>
          <p:cNvPr id="3" name="slide-title">
            <a:extLst>
              <a:ext uri="{FF2B5EF4-FFF2-40B4-BE49-F238E27FC236}">
                <a16:creationId xmlns:a16="http://schemas.microsoft.com/office/drawing/2014/main" id="{B12A8C5C-189A-4856-BA7C-0F6D01DEDBA6}"/>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lang="en-US" sz="2325" b="1" dirty="0">
                <a:solidFill>
                  <a:srgbClr val="202124"/>
                </a:solidFill>
                <a:latin typeface="Arial"/>
                <a:ea typeface="Arial"/>
                <a:cs typeface="Arial"/>
              </a:rPr>
              <a:t>An OEM designs the link in once:</a:t>
            </a:r>
          </a:p>
          <a:p>
            <a:pPr>
              <a:defRPr sz="2325" b="1">
                <a:solidFill>
                  <a:srgbClr val="202124"/>
                </a:solidFill>
                <a:latin typeface="Arial"/>
                <a:ea typeface="Arial"/>
                <a:cs typeface="Arial"/>
              </a:defRPr>
            </a:pPr>
            <a:r>
              <a:rPr sz="2325" b="1" dirty="0">
                <a:solidFill>
                  <a:srgbClr val="202124"/>
                </a:solidFill>
                <a:latin typeface="Arial"/>
                <a:ea typeface="Arial"/>
                <a:cs typeface="Arial"/>
              </a:rPr>
              <a:t>Sky Mantis 2 shows how</a:t>
            </a:r>
          </a:p>
        </p:txBody>
      </p:sp>
      <p:sp>
        <p:nvSpPr>
          <p:cNvPr id="4" name="THE NEED">
            <a:extLst>
              <a:ext uri="{FF2B5EF4-FFF2-40B4-BE49-F238E27FC236}">
                <a16:creationId xmlns:a16="http://schemas.microsoft.com/office/drawing/2014/main" id="{DFC9935F-6398-49B7-A91D-82CD18456813}"/>
              </a:ext>
            </a:extLst>
          </p:cNvPr>
          <p:cNvSpPr>
            <a:spLocks noGrp="1"/>
          </p:cNvSpPr>
          <p:nvPr/>
        </p:nvSpPr>
        <p:spPr>
          <a:xfrm>
            <a:off x="609600" y="16764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THE NEED</a:t>
            </a:r>
          </a:p>
        </p:txBody>
      </p:sp>
      <p:sp>
        <p:nvSpPr>
          <p:cNvPr id="5" name="Straight Connector 4">
            <a:extLst>
              <a:ext uri="{FF2B5EF4-FFF2-40B4-BE49-F238E27FC236}">
                <a16:creationId xmlns:a16="http://schemas.microsoft.com/office/drawing/2014/main" id="{02ACEAAE-3A11-4F71-8839-3C54BFA22A1D}"/>
              </a:ext>
            </a:extLst>
          </p:cNvPr>
          <p:cNvSpPr>
            <a:spLocks noGrp="1"/>
          </p:cNvSpPr>
          <p:nvPr/>
        </p:nvSpPr>
        <p:spPr>
          <a:xfrm>
            <a:off x="609600" y="1885950"/>
            <a:ext cx="2381250" cy="0"/>
          </a:xfrm>
          <a:prstGeom prst="line">
            <a:avLst/>
          </a:prstGeom>
          <a:noFill/>
          <a:ln w="9525">
            <a:solidFill>
              <a:srgbClr val="DADCE0"/>
            </a:solidFill>
          </a:ln>
        </p:spPr>
        <p:txBody>
          <a:bodyPr/>
          <a:lstStyle/>
          <a:p>
            <a:endParaRPr lang="en-US"/>
          </a:p>
        </p:txBody>
      </p:sp>
      <p:sp>
        <p:nvSpPr>
          <p:cNvPr id="6" name="HD video, telemetry and&#10;mesh on a compact UAS,&#10;in jamme">
            <a:extLst>
              <a:ext uri="{FF2B5EF4-FFF2-40B4-BE49-F238E27FC236}">
                <a16:creationId xmlns:a16="http://schemas.microsoft.com/office/drawing/2014/main" id="{C4ADAF3B-01C9-4C0E-ACA9-E859AF7EC48B}"/>
              </a:ext>
            </a:extLst>
          </p:cNvPr>
          <p:cNvSpPr>
            <a:spLocks noGrp="1"/>
          </p:cNvSpPr>
          <p:nvPr/>
        </p:nvSpPr>
        <p:spPr>
          <a:xfrm>
            <a:off x="609600" y="2019300"/>
            <a:ext cx="2381250" cy="7810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a:solidFill>
                  <a:srgbClr val="202124"/>
                </a:solidFill>
                <a:latin typeface="Arial"/>
                <a:ea typeface="Arial"/>
                <a:cs typeface="Arial"/>
              </a:rPr>
              <a:t>HD video, telemetry and</a:t>
            </a:r>
          </a:p>
          <a:p>
            <a:pPr>
              <a:defRPr sz="1575" b="0">
                <a:solidFill>
                  <a:srgbClr val="202124"/>
                </a:solidFill>
                <a:latin typeface="Arial"/>
                <a:ea typeface="Arial"/>
                <a:cs typeface="Arial"/>
              </a:defRPr>
            </a:pPr>
            <a:r>
              <a:rPr sz="1575" b="0">
                <a:solidFill>
                  <a:srgbClr val="202124"/>
                </a:solidFill>
                <a:latin typeface="Arial"/>
                <a:ea typeface="Arial"/>
                <a:cs typeface="Arial"/>
              </a:rPr>
              <a:t>mesh on a compact UAS,</a:t>
            </a:r>
          </a:p>
          <a:p>
            <a:pPr>
              <a:defRPr sz="1575" b="0">
                <a:solidFill>
                  <a:srgbClr val="202124"/>
                </a:solidFill>
                <a:latin typeface="Arial"/>
                <a:ea typeface="Arial"/>
                <a:cs typeface="Arial"/>
              </a:defRPr>
            </a:pPr>
            <a:r>
              <a:rPr sz="1575" b="0">
                <a:solidFill>
                  <a:srgbClr val="202124"/>
                </a:solidFill>
                <a:latin typeface="Arial"/>
                <a:ea typeface="Arial"/>
                <a:cs typeface="Arial"/>
              </a:rPr>
              <a:t>in jammed spectrum</a:t>
            </a:r>
          </a:p>
        </p:txBody>
      </p:sp>
      <p:sp>
        <p:nvSpPr>
          <p:cNvPr id="7" name="arrow">
            <a:extLst>
              <a:ext uri="{FF2B5EF4-FFF2-40B4-BE49-F238E27FC236}">
                <a16:creationId xmlns:a16="http://schemas.microsoft.com/office/drawing/2014/main" id="{12E2FD7B-EB07-4D14-BF80-3871ADDC26F2}"/>
              </a:ext>
            </a:extLst>
          </p:cNvPr>
          <p:cNvSpPr>
            <a:spLocks noGrp="1"/>
          </p:cNvSpPr>
          <p:nvPr/>
        </p:nvSpPr>
        <p:spPr>
          <a:xfrm>
            <a:off x="3048000" y="2000250"/>
            <a:ext cx="266700" cy="266700"/>
          </a:xfrm>
          <a:prstGeom prst="rect">
            <a:avLst/>
          </a:prstGeom>
          <a:noFill/>
          <a:ln w="0">
            <a:noFill/>
          </a:ln>
        </p:spPr>
        <p:txBody>
          <a:bodyPr lIns="0" tIns="0" rIns="0" bIns="0" anchor="t">
            <a:noAutofit/>
          </a:bodyPr>
          <a:lstStyle/>
          <a:p>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8" name="THE DOODLE ANSWER">
            <a:extLst>
              <a:ext uri="{FF2B5EF4-FFF2-40B4-BE49-F238E27FC236}">
                <a16:creationId xmlns:a16="http://schemas.microsoft.com/office/drawing/2014/main" id="{90DE5125-388B-4811-81D9-51BD69058548}"/>
              </a:ext>
            </a:extLst>
          </p:cNvPr>
          <p:cNvSpPr>
            <a:spLocks noGrp="1"/>
          </p:cNvSpPr>
          <p:nvPr/>
        </p:nvSpPr>
        <p:spPr>
          <a:xfrm>
            <a:off x="3333750" y="16764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THE DOODLE ANSWER</a:t>
            </a:r>
          </a:p>
        </p:txBody>
      </p:sp>
      <p:sp>
        <p:nvSpPr>
          <p:cNvPr id="9" name="Straight Connector 8">
            <a:extLst>
              <a:ext uri="{FF2B5EF4-FFF2-40B4-BE49-F238E27FC236}">
                <a16:creationId xmlns:a16="http://schemas.microsoft.com/office/drawing/2014/main" id="{327C0039-8308-4EA3-9617-807CFA51C497}"/>
              </a:ext>
            </a:extLst>
          </p:cNvPr>
          <p:cNvSpPr>
            <a:spLocks noGrp="1"/>
          </p:cNvSpPr>
          <p:nvPr/>
        </p:nvSpPr>
        <p:spPr>
          <a:xfrm>
            <a:off x="3333750" y="1885950"/>
            <a:ext cx="2381250" cy="0"/>
          </a:xfrm>
          <a:prstGeom prst="line">
            <a:avLst/>
          </a:prstGeom>
          <a:noFill/>
          <a:ln w="9525">
            <a:solidFill>
              <a:srgbClr val="DADCE0"/>
            </a:solidFill>
          </a:ln>
        </p:spPr>
        <p:txBody>
          <a:bodyPr/>
          <a:lstStyle/>
          <a:p>
            <a:endParaRPr lang="en-US"/>
          </a:p>
        </p:txBody>
      </p:sp>
      <p:sp>
        <p:nvSpPr>
          <p:cNvPr id="10" name="Mini Mesh Rider,&#10;designed into&#10;Sky Mantis 2">
            <a:extLst>
              <a:ext uri="{FF2B5EF4-FFF2-40B4-BE49-F238E27FC236}">
                <a16:creationId xmlns:a16="http://schemas.microsoft.com/office/drawing/2014/main" id="{2AFA406E-2654-46D8-A93C-ADDB813D6E64}"/>
              </a:ext>
            </a:extLst>
          </p:cNvPr>
          <p:cNvSpPr>
            <a:spLocks noGrp="1"/>
          </p:cNvSpPr>
          <p:nvPr/>
        </p:nvSpPr>
        <p:spPr>
          <a:xfrm>
            <a:off x="3333750" y="2019300"/>
            <a:ext cx="2381250" cy="781050"/>
          </a:xfrm>
          <a:prstGeom prst="rect">
            <a:avLst/>
          </a:prstGeom>
          <a:noFill/>
          <a:ln w="0">
            <a:noFill/>
          </a:ln>
        </p:spPr>
        <p:txBody>
          <a:bodyPr lIns="0" tIns="0" rIns="0" bIns="0" anchor="t">
            <a:noAutofit/>
          </a:bodyPr>
          <a:lstStyle/>
          <a:p>
            <a:pPr>
              <a:defRPr sz="1575" b="0">
                <a:solidFill>
                  <a:srgbClr val="202124"/>
                </a:solidFill>
                <a:latin typeface="Arial"/>
                <a:ea typeface="Arial"/>
                <a:cs typeface="Arial"/>
              </a:defRPr>
            </a:pPr>
            <a:r>
              <a:rPr sz="1575" b="0" dirty="0">
                <a:solidFill>
                  <a:srgbClr val="202124"/>
                </a:solidFill>
                <a:latin typeface="Arial"/>
                <a:ea typeface="Arial"/>
                <a:cs typeface="Arial"/>
              </a:rPr>
              <a:t>Mini Mesh Rider,</a:t>
            </a:r>
          </a:p>
          <a:p>
            <a:pPr>
              <a:defRPr sz="1575" b="0">
                <a:solidFill>
                  <a:srgbClr val="202124"/>
                </a:solidFill>
                <a:latin typeface="Arial"/>
                <a:ea typeface="Arial"/>
                <a:cs typeface="Arial"/>
              </a:defRPr>
            </a:pPr>
            <a:r>
              <a:rPr sz="1575" b="0" dirty="0">
                <a:solidFill>
                  <a:srgbClr val="202124"/>
                </a:solidFill>
                <a:latin typeface="Arial"/>
                <a:ea typeface="Arial"/>
                <a:cs typeface="Arial"/>
              </a:rPr>
              <a:t>designed into</a:t>
            </a:r>
          </a:p>
          <a:p>
            <a:pPr>
              <a:defRPr sz="1575" b="0">
                <a:solidFill>
                  <a:srgbClr val="202124"/>
                </a:solidFill>
                <a:latin typeface="Arial"/>
                <a:ea typeface="Arial"/>
                <a:cs typeface="Arial"/>
              </a:defRPr>
            </a:pPr>
            <a:r>
              <a:rPr sz="1575" b="0" dirty="0">
                <a:solidFill>
                  <a:srgbClr val="202124"/>
                </a:solidFill>
                <a:latin typeface="Arial"/>
                <a:ea typeface="Arial"/>
                <a:cs typeface="Arial"/>
              </a:rPr>
              <a:t>Sky Mantis 2</a:t>
            </a:r>
          </a:p>
        </p:txBody>
      </p:sp>
      <p:sp>
        <p:nvSpPr>
          <p:cNvPr id="11" name="arrow">
            <a:extLst>
              <a:ext uri="{FF2B5EF4-FFF2-40B4-BE49-F238E27FC236}">
                <a16:creationId xmlns:a16="http://schemas.microsoft.com/office/drawing/2014/main" id="{54947648-A0B1-4AF2-B336-732149B3BFFE}"/>
              </a:ext>
            </a:extLst>
          </p:cNvPr>
          <p:cNvSpPr>
            <a:spLocks noGrp="1"/>
          </p:cNvSpPr>
          <p:nvPr/>
        </p:nvSpPr>
        <p:spPr>
          <a:xfrm>
            <a:off x="5772150" y="2000250"/>
            <a:ext cx="266700" cy="266700"/>
          </a:xfrm>
          <a:prstGeom prst="rect">
            <a:avLst/>
          </a:prstGeom>
          <a:noFill/>
          <a:ln w="0">
            <a:noFill/>
          </a:ln>
        </p:spPr>
        <p:txBody>
          <a:bodyPr lIns="0" tIns="0" rIns="0" bIns="0" anchor="t">
            <a:noAutofit/>
          </a:bodyPr>
          <a:lstStyle/>
          <a:p>
            <a:pPr>
              <a:defRPr sz="1650" b="0">
                <a:solidFill>
                  <a:srgbClr val="8A8E93"/>
                </a:solidFill>
                <a:latin typeface="Arial"/>
                <a:ea typeface="Arial"/>
                <a:cs typeface="Arial"/>
              </a:defRPr>
            </a:pPr>
            <a:r>
              <a:rPr sz="1650" b="0">
                <a:solidFill>
                  <a:srgbClr val="8A8E93"/>
                </a:solidFill>
                <a:latin typeface="Arial"/>
                <a:ea typeface="Arial"/>
                <a:cs typeface="Arial"/>
              </a:rPr>
              <a:t>→</a:t>
            </a:r>
          </a:p>
        </p:txBody>
      </p:sp>
      <p:sp>
        <p:nvSpPr>
          <p:cNvPr id="12" name="MY QUESTION TO THE NEXT OEM">
            <a:extLst>
              <a:ext uri="{FF2B5EF4-FFF2-40B4-BE49-F238E27FC236}">
                <a16:creationId xmlns:a16="http://schemas.microsoft.com/office/drawing/2014/main" id="{E209B813-B5AA-4766-AF41-47D5D5E4FD3A}"/>
              </a:ext>
            </a:extLst>
          </p:cNvPr>
          <p:cNvSpPr>
            <a:spLocks noGrp="1"/>
          </p:cNvSpPr>
          <p:nvPr/>
        </p:nvSpPr>
        <p:spPr>
          <a:xfrm>
            <a:off x="6057900" y="1676400"/>
            <a:ext cx="2381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MY QUESTION TO THE NEXT OEM</a:t>
            </a:r>
          </a:p>
        </p:txBody>
      </p:sp>
      <p:sp>
        <p:nvSpPr>
          <p:cNvPr id="13" name="Straight Connector 12">
            <a:extLst>
              <a:ext uri="{FF2B5EF4-FFF2-40B4-BE49-F238E27FC236}">
                <a16:creationId xmlns:a16="http://schemas.microsoft.com/office/drawing/2014/main" id="{D4609EA0-D9B9-4232-BD9E-3D86FDE07486}"/>
              </a:ext>
            </a:extLst>
          </p:cNvPr>
          <p:cNvSpPr>
            <a:spLocks noGrp="1"/>
          </p:cNvSpPr>
          <p:nvPr/>
        </p:nvSpPr>
        <p:spPr>
          <a:xfrm>
            <a:off x="6057900" y="1885950"/>
            <a:ext cx="2381250" cy="0"/>
          </a:xfrm>
          <a:prstGeom prst="line">
            <a:avLst/>
          </a:prstGeom>
          <a:noFill/>
          <a:ln w="19050">
            <a:solidFill>
              <a:srgbClr val="C62828"/>
            </a:solidFill>
          </a:ln>
        </p:spPr>
        <p:txBody>
          <a:bodyPr/>
          <a:lstStyle/>
          <a:p>
            <a:endParaRPr lang="en-US"/>
          </a:p>
        </p:txBody>
      </p:sp>
      <p:sp>
        <p:nvSpPr>
          <p:cNvPr id="14" name="What must your next&#10;platform’s link deliver?">
            <a:extLst>
              <a:ext uri="{FF2B5EF4-FFF2-40B4-BE49-F238E27FC236}">
                <a16:creationId xmlns:a16="http://schemas.microsoft.com/office/drawing/2014/main" id="{D5C89FD2-B48F-401D-B52F-A7E9160908C4}"/>
              </a:ext>
            </a:extLst>
          </p:cNvPr>
          <p:cNvSpPr>
            <a:spLocks noGrp="1"/>
          </p:cNvSpPr>
          <p:nvPr/>
        </p:nvSpPr>
        <p:spPr>
          <a:xfrm>
            <a:off x="6057900" y="2019300"/>
            <a:ext cx="2381250" cy="781050"/>
          </a:xfrm>
          <a:prstGeom prst="rect">
            <a:avLst/>
          </a:prstGeom>
          <a:noFill/>
          <a:ln w="0">
            <a:noFill/>
          </a:ln>
        </p:spPr>
        <p:txBody>
          <a:bodyPr lIns="0" tIns="0" rIns="0" bIns="0" anchor="t">
            <a:noAutofit/>
          </a:bodyPr>
          <a:lstStyle/>
          <a:p>
            <a:pPr>
              <a:defRPr sz="1575" b="1">
                <a:solidFill>
                  <a:srgbClr val="202124"/>
                </a:solidFill>
                <a:latin typeface="Arial"/>
                <a:ea typeface="Arial"/>
                <a:cs typeface="Arial"/>
              </a:defRPr>
            </a:pPr>
            <a:r>
              <a:rPr sz="1575" b="1">
                <a:solidFill>
                  <a:srgbClr val="202124"/>
                </a:solidFill>
                <a:latin typeface="Arial"/>
                <a:ea typeface="Arial"/>
                <a:cs typeface="Arial"/>
              </a:rPr>
              <a:t>What must your next</a:t>
            </a:r>
          </a:p>
          <a:p>
            <a:pPr>
              <a:defRPr sz="1575" b="1">
                <a:solidFill>
                  <a:srgbClr val="202124"/>
                </a:solidFill>
                <a:latin typeface="Arial"/>
                <a:ea typeface="Arial"/>
                <a:cs typeface="Arial"/>
              </a:defRPr>
            </a:pPr>
            <a:r>
              <a:rPr sz="1575" b="1">
                <a:solidFill>
                  <a:srgbClr val="202124"/>
                </a:solidFill>
                <a:latin typeface="Arial"/>
                <a:ea typeface="Arial"/>
                <a:cs typeface="Arial"/>
              </a:rPr>
              <a:t>platform’s link deliver?</a:t>
            </a:r>
          </a:p>
        </p:txBody>
      </p:sp>
      <p:sp>
        <p:nvSpPr>
          <p:cNvPr id="15" name="Straight Connector 14">
            <a:extLst>
              <a:ext uri="{FF2B5EF4-FFF2-40B4-BE49-F238E27FC236}">
                <a16:creationId xmlns:a16="http://schemas.microsoft.com/office/drawing/2014/main" id="{6ED9EE16-8906-4F68-BBF7-5DAAAA82487C}"/>
              </a:ext>
            </a:extLst>
          </p:cNvPr>
          <p:cNvSpPr>
            <a:spLocks noGrp="1"/>
          </p:cNvSpPr>
          <p:nvPr/>
        </p:nvSpPr>
        <p:spPr>
          <a:xfrm>
            <a:off x="609600" y="3028950"/>
            <a:ext cx="7924800" cy="0"/>
          </a:xfrm>
          <a:prstGeom prst="line">
            <a:avLst/>
          </a:prstGeom>
          <a:noFill/>
          <a:ln w="9525">
            <a:solidFill>
              <a:srgbClr val="DADCE0"/>
            </a:solidFill>
          </a:ln>
        </p:spPr>
        <p:txBody>
          <a:bodyPr/>
          <a:lstStyle/>
          <a:p>
            <a:endParaRPr lang="en-US"/>
          </a:p>
        </p:txBody>
      </p:sp>
      <p:sp>
        <p:nvSpPr>
          <p:cNvPr id="16" name="Why it matters">
            <a:extLst>
              <a:ext uri="{FF2B5EF4-FFF2-40B4-BE49-F238E27FC236}">
                <a16:creationId xmlns:a16="http://schemas.microsoft.com/office/drawing/2014/main" id="{08195B7A-667E-4373-8708-9E3739F40016}"/>
              </a:ext>
            </a:extLst>
          </p:cNvPr>
          <p:cNvSpPr>
            <a:spLocks noGrp="1"/>
          </p:cNvSpPr>
          <p:nvPr/>
        </p:nvSpPr>
        <p:spPr>
          <a:xfrm>
            <a:off x="609600" y="316230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Why it matters</a:t>
            </a:r>
          </a:p>
        </p:txBody>
      </p:sp>
      <p:sp>
        <p:nvSpPr>
          <p:cNvPr id="17" name="Designed in once, ordered with every platform built, if">
            <a:extLst>
              <a:ext uri="{FF2B5EF4-FFF2-40B4-BE49-F238E27FC236}">
                <a16:creationId xmlns:a16="http://schemas.microsoft.com/office/drawing/2014/main" id="{C3FF2A63-D1E2-4226-9DB8-C9DDDF2C6214}"/>
              </a:ext>
            </a:extLst>
          </p:cNvPr>
          <p:cNvSpPr>
            <a:spLocks noGrp="1"/>
          </p:cNvSpPr>
          <p:nvPr/>
        </p:nvSpPr>
        <p:spPr>
          <a:xfrm>
            <a:off x="2857500" y="316230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Designed in once, ordered with every platform built, if the platform sells.</a:t>
            </a:r>
          </a:p>
        </p:txBody>
      </p:sp>
      <p:sp>
        <p:nvSpPr>
          <p:cNvPr id="20" name="Follow a requirement">
            <a:extLst>
              <a:ext uri="{FF2B5EF4-FFF2-40B4-BE49-F238E27FC236}">
                <a16:creationId xmlns:a16="http://schemas.microsoft.com/office/drawing/2014/main" id="{B2A4845F-7600-439B-B158-881EF736B621}"/>
              </a:ext>
            </a:extLst>
          </p:cNvPr>
          <p:cNvSpPr>
            <a:spLocks noGrp="1"/>
          </p:cNvSpPr>
          <p:nvPr/>
        </p:nvSpPr>
        <p:spPr>
          <a:xfrm>
            <a:off x="609600" y="352044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Follow a requirement</a:t>
            </a:r>
          </a:p>
        </p:txBody>
      </p:sp>
      <p:sp>
        <p:nvSpPr>
          <p:cNvPr id="21" name="Ground, maritime and wearable radios are in the catalog">
            <a:extLst>
              <a:ext uri="{FF2B5EF4-FFF2-40B4-BE49-F238E27FC236}">
                <a16:creationId xmlns:a16="http://schemas.microsoft.com/office/drawing/2014/main" id="{DC652439-21B9-47A5-9515-FCFA1CDA6127}"/>
              </a:ext>
            </a:extLst>
          </p:cNvPr>
          <p:cNvSpPr>
            <a:spLocks noGrp="1"/>
          </p:cNvSpPr>
          <p:nvPr/>
        </p:nvSpPr>
        <p:spPr>
          <a:xfrm>
            <a:off x="2857500" y="352044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Ground, maritime and wearable radios are in the catalogue too.</a:t>
            </a:r>
          </a:p>
        </p:txBody>
      </p:sp>
      <p:sp>
        <p:nvSpPr>
          <p:cNvPr id="22" name="Not promised">
            <a:extLst>
              <a:ext uri="{FF2B5EF4-FFF2-40B4-BE49-F238E27FC236}">
                <a16:creationId xmlns:a16="http://schemas.microsoft.com/office/drawing/2014/main" id="{59C9EC31-DF5D-4DD6-B081-09A2625A8511}"/>
              </a:ext>
            </a:extLst>
          </p:cNvPr>
          <p:cNvSpPr>
            <a:spLocks noGrp="1"/>
          </p:cNvSpPr>
          <p:nvPr/>
        </p:nvSpPr>
        <p:spPr>
          <a:xfrm>
            <a:off x="609600" y="388620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Not promised</a:t>
            </a:r>
          </a:p>
        </p:txBody>
      </p:sp>
      <p:sp>
        <p:nvSpPr>
          <p:cNvPr id="26" name="Added text 26">
            <a:extLst>
              <a:ext uri="{FF2B5EF4-FFF2-40B4-BE49-F238E27FC236}">
                <a16:creationId xmlns:a16="http://schemas.microsoft.com/office/drawing/2014/main" id="{59C9EC31-DF5D-4DD6-B081-09A2625A8511}"/>
              </a:ext>
            </a:extLst>
          </p:cNvPr>
          <p:cNvSpPr>
            <a:spLocks noGrp="1"/>
          </p:cNvSpPr>
          <p:nvPr/>
        </p:nvSpPr>
        <p:spPr>
          <a:xfrm>
            <a:off x="609600" y="4251960"/>
            <a:ext cx="2095500" cy="209550"/>
          </a:xfrm>
          <a:prstGeom prst="rect">
            <a:avLst/>
          </a:prstGeom>
          <a:noFill/>
          <a:ln w="0">
            <a:noFill/>
          </a:ln>
        </p:spPr>
        <p:txBody>
          <a:bodyPr lIns="0" tIns="0" rIns="0" bIns="0" anchor="t">
            <a:noAutofit/>
          </a:bodyPr>
          <a:lstStyle/>
          <a:p>
            <a:pPr>
              <a:defRPr sz="1275" b="1">
                <a:solidFill>
                  <a:srgbClr val="202124"/>
                </a:solidFill>
                <a:latin typeface="Arial"/>
                <a:ea typeface="Arial"/>
                <a:cs typeface="Arial"/>
              </a:defRPr>
            </a:pPr>
            <a:r>
              <a:rPr sz="1275" b="1">
                <a:solidFill>
                  <a:srgbClr val="202124"/>
                </a:solidFill>
                <a:latin typeface="Arial"/>
                <a:ea typeface="Arial"/>
                <a:cs typeface="Arial"/>
              </a:rPr>
              <a:t>Travels</a:t>
            </a:r>
          </a:p>
        </p:txBody>
      </p:sp>
      <p:sp>
        <p:nvSpPr>
          <p:cNvPr id="23" name="Range or approvals: Sales Engineering and the customer ">
            <a:extLst>
              <a:ext uri="{FF2B5EF4-FFF2-40B4-BE49-F238E27FC236}">
                <a16:creationId xmlns:a16="http://schemas.microsoft.com/office/drawing/2014/main" id="{87DEC6E3-3278-4C72-8A06-1A472D700B1A}"/>
              </a:ext>
            </a:extLst>
          </p:cNvPr>
          <p:cNvSpPr>
            <a:spLocks noGrp="1"/>
          </p:cNvSpPr>
          <p:nvPr/>
        </p:nvSpPr>
        <p:spPr>
          <a:xfrm>
            <a:off x="2857500" y="388620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Range or approvals: Sales Engineering and the customer set the test.</a:t>
            </a:r>
          </a:p>
        </p:txBody>
      </p:sp>
      <p:sp>
        <p:nvSpPr>
          <p:cNvPr id="27" name="Added text 27">
            <a:extLst>
              <a:ext uri="{FF2B5EF4-FFF2-40B4-BE49-F238E27FC236}">
                <a16:creationId xmlns:a16="http://schemas.microsoft.com/office/drawing/2014/main" id="{87DEC6E3-3278-4C72-8A06-1A472D700B1A}"/>
              </a:ext>
            </a:extLst>
          </p:cNvPr>
          <p:cNvSpPr>
            <a:spLocks noGrp="1"/>
          </p:cNvSpPr>
          <p:nvPr/>
        </p:nvSpPr>
        <p:spPr>
          <a:xfrm>
            <a:off x="2857500" y="4251960"/>
            <a:ext cx="5676900" cy="209550"/>
          </a:xfrm>
          <a:prstGeom prst="rect">
            <a:avLst/>
          </a:prstGeom>
          <a:noFill/>
          <a:ln w="0">
            <a:noFill/>
          </a:ln>
        </p:spPr>
        <p:txBody>
          <a:bodyPr lIns="0" tIns="0" rIns="0" bIns="0" anchor="t">
            <a:noAutofit/>
          </a:bodyPr>
          <a:lstStyle/>
          <a:p>
            <a:pPr>
              <a:defRPr sz="1275" b="0">
                <a:solidFill>
                  <a:srgbClr val="62666A"/>
                </a:solidFill>
                <a:latin typeface="Arial"/>
                <a:ea typeface="Arial"/>
                <a:cs typeface="Arial"/>
              </a:defRPr>
            </a:pPr>
            <a:r>
              <a:rPr sz="1275" b="0">
                <a:solidFill>
                  <a:srgbClr val="62666A"/>
                </a:solidFill>
                <a:latin typeface="Arial"/>
                <a:ea typeface="Arial"/>
                <a:cs typeface="Arial"/>
              </a:rPr>
              <a:t>Works in any country: decisions sit with the platform, not the border.</a:t>
            </a:r>
          </a:p>
        </p:txBody>
      </p:sp>
      <p:sp>
        <p:nvSpPr>
          <p:cNvPr id="24" name="source-footnote">
            <a:extLst>
              <a:ext uri="{FF2B5EF4-FFF2-40B4-BE49-F238E27FC236}">
                <a16:creationId xmlns:a16="http://schemas.microsoft.com/office/drawing/2014/main" id="{AAA5F9FB-52B9-4DF3-B95B-C7CE4D88593E}"/>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Source: Doodle Labs, Evolve Dynamics case study, 13 Sep 2025. Catalogue: Air, Land, Sea, Wearable.</a:t>
            </a:r>
          </a:p>
        </p:txBody>
      </p:sp>
    </p:spTree>
    <p:extLst>
      <p:ext uri="{BB962C8B-B14F-4D97-AF65-F5344CB8AC3E}">
        <p14:creationId xmlns:p14="http://schemas.microsoft.com/office/powerpoint/2010/main" val="993607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28996760-248C-4666-B3E4-7C0051314503}"/>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dirty="0">
                <a:solidFill>
                  <a:srgbClr val="62666A"/>
                </a:solidFill>
                <a:latin typeface="Arial"/>
                <a:ea typeface="Arial"/>
                <a:cs typeface="Arial"/>
              </a:rPr>
              <a:t>New territory</a:t>
            </a:r>
            <a:endParaRPr sz="900" b="0" dirty="0">
              <a:solidFill>
                <a:srgbClr val="62666A"/>
              </a:solidFill>
              <a:latin typeface="Arial"/>
              <a:ea typeface="Arial"/>
              <a:cs typeface="Arial"/>
            </a:endParaRPr>
          </a:p>
        </p:txBody>
      </p:sp>
      <p:sp>
        <p:nvSpPr>
          <p:cNvPr id="2" name="page-number">
            <a:extLst>
              <a:ext uri="{FF2B5EF4-FFF2-40B4-BE49-F238E27FC236}">
                <a16:creationId xmlns:a16="http://schemas.microsoft.com/office/drawing/2014/main" id="{13C99A81-DDEB-48A9-8A4E-985C0FDE52F1}"/>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07</a:t>
            </a:r>
          </a:p>
        </p:txBody>
      </p:sp>
      <p:sp>
        <p:nvSpPr>
          <p:cNvPr id="3" name="slide-title">
            <a:extLst>
              <a:ext uri="{FF2B5EF4-FFF2-40B4-BE49-F238E27FC236}">
                <a16:creationId xmlns:a16="http://schemas.microsoft.com/office/drawing/2014/main" id="{F3E4EBF7-A919-4363-9729-22A4AF2E2320}"/>
              </a:ext>
            </a:extLst>
          </p:cNvPr>
          <p:cNvSpPr>
            <a:spLocks noGrp="1"/>
          </p:cNvSpPr>
          <p:nvPr/>
        </p:nvSpPr>
        <p:spPr>
          <a:xfrm>
            <a:off x="609600" y="666750"/>
            <a:ext cx="7924800" cy="838202"/>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lang="en-US" sz="2325" b="1" dirty="0">
                <a:solidFill>
                  <a:srgbClr val="202124"/>
                </a:solidFill>
                <a:latin typeface="Arial"/>
                <a:ea typeface="Arial"/>
                <a:cs typeface="Arial"/>
              </a:rPr>
              <a:t>Any new country or named account:</a:t>
            </a:r>
            <a:br>
              <a:rPr lang="en-US" sz="2325" b="1" dirty="0">
                <a:solidFill>
                  <a:srgbClr val="202124"/>
                </a:solidFill>
                <a:latin typeface="Arial"/>
                <a:ea typeface="Arial"/>
                <a:cs typeface="Arial"/>
              </a:rPr>
            </a:br>
            <a:r>
              <a:rPr lang="en-US" sz="2325" b="1" dirty="0">
                <a:solidFill>
                  <a:srgbClr val="202124"/>
                </a:solidFill>
                <a:latin typeface="Arial"/>
                <a:ea typeface="Arial"/>
                <a:cs typeface="Arial"/>
              </a:rPr>
              <a:t>the same opening move</a:t>
            </a:r>
          </a:p>
        </p:txBody>
      </p:sp>
      <p:sp>
        <p:nvSpPr>
          <p:cNvPr id="4" name="quote">
            <a:extLst>
              <a:ext uri="{FF2B5EF4-FFF2-40B4-BE49-F238E27FC236}">
                <a16:creationId xmlns:a16="http://schemas.microsoft.com/office/drawing/2014/main" id="{BA4C7FE3-A3A2-4D75-B2BA-7721602423AE}"/>
              </a:ext>
            </a:extLst>
          </p:cNvPr>
          <p:cNvSpPr>
            <a:spLocks noGrp="1"/>
          </p:cNvSpPr>
          <p:nvPr/>
        </p:nvSpPr>
        <p:spPr>
          <a:xfrm>
            <a:off x="609600" y="1828801"/>
            <a:ext cx="7924800" cy="60960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dirty="0" u="none" i="0">
                <a:solidFill>
                  <a:srgbClr val="202124"/>
                </a:solidFill>
                <a:latin typeface="Arial"/>
                <a:ea typeface="Arial"/>
                <a:cs typeface="Arial"/>
              </a:rPr>
              <a:t>“For your next platform, who leads the datalink requirement, and when do you freeze the radio architecture?”</a:t>
            </a:r>
          </a:p>
        </p:txBody>
      </p:sp>
      <p:sp>
        <p:nvSpPr>
          <p:cNvPr id="5" name="WHO">
            <a:extLst>
              <a:ext uri="{FF2B5EF4-FFF2-40B4-BE49-F238E27FC236}">
                <a16:creationId xmlns:a16="http://schemas.microsoft.com/office/drawing/2014/main" id="{6AFFE775-45A1-4DEF-B9B7-8767E48AEF95}"/>
              </a:ext>
            </a:extLst>
          </p:cNvPr>
          <p:cNvSpPr>
            <a:spLocks noGrp="1"/>
          </p:cNvSpPr>
          <p:nvPr/>
        </p:nvSpPr>
        <p:spPr>
          <a:xfrm>
            <a:off x="609600" y="27813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WHO</a:t>
            </a:r>
          </a:p>
        </p:txBody>
      </p:sp>
      <p:sp>
        <p:nvSpPr>
          <p:cNvPr id="6" name="Straight Connector 5">
            <a:extLst>
              <a:ext uri="{FF2B5EF4-FFF2-40B4-BE49-F238E27FC236}">
                <a16:creationId xmlns:a16="http://schemas.microsoft.com/office/drawing/2014/main" id="{A0016EAD-94A5-40AF-AFA7-7CE404BB1DEF}"/>
              </a:ext>
            </a:extLst>
          </p:cNvPr>
          <p:cNvSpPr>
            <a:spLocks noGrp="1"/>
          </p:cNvSpPr>
          <p:nvPr/>
        </p:nvSpPr>
        <p:spPr>
          <a:xfrm>
            <a:off x="609600" y="2990850"/>
            <a:ext cx="2381250" cy="0"/>
          </a:xfrm>
          <a:prstGeom prst="line">
            <a:avLst/>
          </a:prstGeom>
          <a:noFill/>
          <a:ln w="9525">
            <a:solidFill>
              <a:srgbClr val="DADCE0"/>
            </a:solidFill>
          </a:ln>
        </p:spPr>
        <p:txBody>
          <a:bodyPr/>
          <a:lstStyle/>
          <a:p>
            <a:endParaRPr lang="en-US"/>
          </a:p>
        </p:txBody>
      </p:sp>
      <p:sp>
        <p:nvSpPr>
          <p:cNvPr id="7" name="Design or&#10;product lead">
            <a:extLst>
              <a:ext uri="{FF2B5EF4-FFF2-40B4-BE49-F238E27FC236}">
                <a16:creationId xmlns:a16="http://schemas.microsoft.com/office/drawing/2014/main" id="{2B606B86-86C3-4147-B534-D29D5BD78586}"/>
              </a:ext>
            </a:extLst>
          </p:cNvPr>
          <p:cNvSpPr>
            <a:spLocks noGrp="1"/>
          </p:cNvSpPr>
          <p:nvPr/>
        </p:nvSpPr>
        <p:spPr>
          <a:xfrm>
            <a:off x="609600" y="3124200"/>
            <a:ext cx="2381250" cy="47625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Design or</a:t>
            </a:r>
          </a:p>
          <a:p>
            <a:pPr>
              <a:defRPr sz="1500" b="0">
                <a:solidFill>
                  <a:srgbClr val="202124"/>
                </a:solidFill>
                <a:latin typeface="Arial"/>
                <a:ea typeface="Arial"/>
                <a:cs typeface="Arial"/>
              </a:defRPr>
            </a:pPr>
            <a:r>
              <a:rPr sz="1500" b="0">
                <a:solidFill>
                  <a:srgbClr val="202124"/>
                </a:solidFill>
                <a:latin typeface="Arial"/>
                <a:ea typeface="Arial"/>
                <a:cs typeface="Arial"/>
              </a:rPr>
              <a:t>product lead</a:t>
            </a:r>
          </a:p>
        </p:txBody>
      </p:sp>
      <p:sp>
        <p:nvSpPr>
          <p:cNvPr id="8" name="ROUTE">
            <a:extLst>
              <a:ext uri="{FF2B5EF4-FFF2-40B4-BE49-F238E27FC236}">
                <a16:creationId xmlns:a16="http://schemas.microsoft.com/office/drawing/2014/main" id="{7791359F-BD3F-4DF7-9871-DB9BC7C31CF6}"/>
              </a:ext>
            </a:extLst>
          </p:cNvPr>
          <p:cNvSpPr>
            <a:spLocks noGrp="1"/>
          </p:cNvSpPr>
          <p:nvPr/>
        </p:nvSpPr>
        <p:spPr>
          <a:xfrm>
            <a:off x="3333750" y="2781300"/>
            <a:ext cx="2381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ROUTE</a:t>
            </a:r>
          </a:p>
        </p:txBody>
      </p:sp>
      <p:sp>
        <p:nvSpPr>
          <p:cNvPr id="9" name="Straight Connector 8">
            <a:extLst>
              <a:ext uri="{FF2B5EF4-FFF2-40B4-BE49-F238E27FC236}">
                <a16:creationId xmlns:a16="http://schemas.microsoft.com/office/drawing/2014/main" id="{C8EAF1CB-5909-45D7-A9EF-2F6A91745D51}"/>
              </a:ext>
            </a:extLst>
          </p:cNvPr>
          <p:cNvSpPr>
            <a:spLocks noGrp="1"/>
          </p:cNvSpPr>
          <p:nvPr/>
        </p:nvSpPr>
        <p:spPr>
          <a:xfrm>
            <a:off x="3333750" y="2990850"/>
            <a:ext cx="2381250" cy="0"/>
          </a:xfrm>
          <a:prstGeom prst="line">
            <a:avLst/>
          </a:prstGeom>
          <a:noFill/>
          <a:ln w="9525">
            <a:solidFill>
              <a:srgbClr val="DADCE0"/>
            </a:solidFill>
          </a:ln>
        </p:spPr>
        <p:txBody>
          <a:bodyPr/>
          <a:lstStyle/>
          <a:p>
            <a:endParaRPr lang="en-US"/>
          </a:p>
        </p:txBody>
      </p:sp>
      <p:sp>
        <p:nvSpPr>
          <p:cNvPr id="10" name="Direct first. A partner only&#10;if it owns the requirement">
            <a:extLst>
              <a:ext uri="{FF2B5EF4-FFF2-40B4-BE49-F238E27FC236}">
                <a16:creationId xmlns:a16="http://schemas.microsoft.com/office/drawing/2014/main" id="{AA5551D0-680D-4E20-83EA-687791400C24}"/>
              </a:ext>
            </a:extLst>
          </p:cNvPr>
          <p:cNvSpPr>
            <a:spLocks noGrp="1"/>
          </p:cNvSpPr>
          <p:nvPr/>
        </p:nvSpPr>
        <p:spPr>
          <a:xfrm>
            <a:off x="3333750" y="3124200"/>
            <a:ext cx="2381250" cy="47625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Direct first. A partner only</a:t>
            </a:r>
          </a:p>
          <a:p>
            <a:pPr>
              <a:defRPr sz="1500" b="0">
                <a:solidFill>
                  <a:srgbClr val="202124"/>
                </a:solidFill>
                <a:latin typeface="Arial"/>
                <a:ea typeface="Arial"/>
                <a:cs typeface="Arial"/>
              </a:defRPr>
            </a:pPr>
            <a:r>
              <a:rPr sz="1500" b="0">
                <a:solidFill>
                  <a:srgbClr val="202124"/>
                </a:solidFill>
                <a:latin typeface="Arial"/>
                <a:ea typeface="Arial"/>
                <a:cs typeface="Arial"/>
              </a:rPr>
              <a:t>if it owns the requirement</a:t>
            </a:r>
          </a:p>
        </p:txBody>
      </p:sp>
      <p:sp>
        <p:nvSpPr>
          <p:cNvPr id="11" name="WHAT I ASK FOR">
            <a:extLst>
              <a:ext uri="{FF2B5EF4-FFF2-40B4-BE49-F238E27FC236}">
                <a16:creationId xmlns:a16="http://schemas.microsoft.com/office/drawing/2014/main" id="{9AD9FB7C-1F10-4DEB-8927-1A4D759EBFEF}"/>
              </a:ext>
            </a:extLst>
          </p:cNvPr>
          <p:cNvSpPr>
            <a:spLocks noGrp="1"/>
          </p:cNvSpPr>
          <p:nvPr/>
        </p:nvSpPr>
        <p:spPr>
          <a:xfrm>
            <a:off x="6057900" y="2781300"/>
            <a:ext cx="2381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WHAT I ASK FOR</a:t>
            </a:r>
          </a:p>
        </p:txBody>
      </p:sp>
      <p:sp>
        <p:nvSpPr>
          <p:cNvPr id="12" name="Straight Connector 11">
            <a:extLst>
              <a:ext uri="{FF2B5EF4-FFF2-40B4-BE49-F238E27FC236}">
                <a16:creationId xmlns:a16="http://schemas.microsoft.com/office/drawing/2014/main" id="{0A9EF306-1DC4-4B38-8CC0-E13CBFEBB2B9}"/>
              </a:ext>
            </a:extLst>
          </p:cNvPr>
          <p:cNvSpPr>
            <a:spLocks noGrp="1"/>
          </p:cNvSpPr>
          <p:nvPr/>
        </p:nvSpPr>
        <p:spPr>
          <a:xfrm>
            <a:off x="6057900" y="2990850"/>
            <a:ext cx="2381250" cy="0"/>
          </a:xfrm>
          <a:prstGeom prst="line">
            <a:avLst/>
          </a:prstGeom>
          <a:noFill/>
          <a:ln w="19050">
            <a:solidFill>
              <a:srgbClr val="C62828"/>
            </a:solidFill>
          </a:ln>
        </p:spPr>
        <p:txBody>
          <a:bodyPr/>
          <a:lstStyle/>
          <a:p>
            <a:endParaRPr lang="en-US"/>
          </a:p>
        </p:txBody>
      </p:sp>
      <p:sp>
        <p:nvSpPr>
          <p:cNvPr id="13" name="Buyer, evaluator and&#10;the next decision date">
            <a:extLst>
              <a:ext uri="{FF2B5EF4-FFF2-40B4-BE49-F238E27FC236}">
                <a16:creationId xmlns:a16="http://schemas.microsoft.com/office/drawing/2014/main" id="{C178BA53-CB0F-4F96-9956-6DFE6987C964}"/>
              </a:ext>
            </a:extLst>
          </p:cNvPr>
          <p:cNvSpPr>
            <a:spLocks noGrp="1"/>
          </p:cNvSpPr>
          <p:nvPr/>
        </p:nvSpPr>
        <p:spPr>
          <a:xfrm>
            <a:off x="6057900" y="3124200"/>
            <a:ext cx="2381250" cy="476250"/>
          </a:xfrm>
          <a:prstGeom prst="rect">
            <a:avLst/>
          </a:prstGeom>
          <a:noFill/>
          <a:ln w="0">
            <a:noFill/>
          </a:ln>
        </p:spPr>
        <p:txBody>
          <a:bodyPr lIns="0" tIns="0" rIns="0" bIns="0" anchor="t">
            <a:noAutofit/>
          </a:bodyPr>
          <a:lstStyle/>
          <a:p>
            <a:pPr>
              <a:defRPr sz="1500" b="1">
                <a:solidFill>
                  <a:srgbClr val="202124"/>
                </a:solidFill>
                <a:latin typeface="Arial"/>
                <a:ea typeface="Arial"/>
                <a:cs typeface="Arial"/>
              </a:defRPr>
            </a:pPr>
            <a:r>
              <a:rPr sz="1500" b="1">
                <a:solidFill>
                  <a:srgbClr val="202124"/>
                </a:solidFill>
                <a:latin typeface="Arial"/>
                <a:ea typeface="Arial"/>
                <a:cs typeface="Arial"/>
              </a:rPr>
              <a:t>Buyer, evaluator and</a:t>
            </a:r>
          </a:p>
          <a:p>
            <a:pPr>
              <a:defRPr sz="1500" b="1">
                <a:solidFill>
                  <a:srgbClr val="202124"/>
                </a:solidFill>
                <a:latin typeface="Arial"/>
                <a:ea typeface="Arial"/>
                <a:cs typeface="Arial"/>
              </a:defRPr>
            </a:pPr>
            <a:r>
              <a:rPr sz="1500" b="1">
                <a:solidFill>
                  <a:srgbClr val="202124"/>
                </a:solidFill>
                <a:latin typeface="Arial"/>
                <a:ea typeface="Arial"/>
                <a:cs typeface="Arial"/>
              </a:rPr>
              <a:t>the next decision date</a:t>
            </a:r>
          </a:p>
        </p:txBody>
      </p:sp>
      <p:sp>
        <p:nvSpPr>
          <p:cNvPr id="14" name="Straight Connector 13">
            <a:extLst>
              <a:ext uri="{FF2B5EF4-FFF2-40B4-BE49-F238E27FC236}">
                <a16:creationId xmlns:a16="http://schemas.microsoft.com/office/drawing/2014/main" id="{D4609D64-39E9-4331-AADF-42F1F6290DCB}"/>
              </a:ext>
            </a:extLst>
          </p:cNvPr>
          <p:cNvSpPr>
            <a:spLocks noGrp="1"/>
          </p:cNvSpPr>
          <p:nvPr/>
        </p:nvSpPr>
        <p:spPr>
          <a:xfrm>
            <a:off x="609600" y="3924300"/>
            <a:ext cx="7924800" cy="0"/>
          </a:xfrm>
          <a:prstGeom prst="line">
            <a:avLst/>
          </a:prstGeom>
          <a:noFill/>
          <a:ln w="9525">
            <a:solidFill>
              <a:srgbClr val="DADCE0"/>
            </a:solidFill>
          </a:ln>
        </p:spPr>
        <p:txBody>
          <a:bodyPr/>
          <a:lstStyle/>
          <a:p>
            <a:endParaRPr lang="en-US"/>
          </a:p>
        </p:txBody>
      </p:sp>
      <p:sp>
        <p:nvSpPr>
          <p:cNvPr id="15" name="bottom-line">
            <a:extLst>
              <a:ext uri="{FF2B5EF4-FFF2-40B4-BE49-F238E27FC236}">
                <a16:creationId xmlns:a16="http://schemas.microsoft.com/office/drawing/2014/main" id="{8A5691C6-A39B-4DCD-B3CE-48543C2398C7}"/>
              </a:ext>
            </a:extLst>
          </p:cNvPr>
          <p:cNvSpPr>
            <a:spLocks noGrp="1"/>
          </p:cNvSpPr>
          <p:nvPr/>
        </p:nvSpPr>
        <p:spPr>
          <a:xfrm>
            <a:off x="609600" y="407670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Radio fixed for this generation? Note when the next is decided, and move on.</a:t>
            </a:r>
          </a:p>
        </p:txBody>
      </p:sp>
      <p:sp>
        <p:nvSpPr>
          <p:cNvPr id="19" name="Added text 19">
            <a:extLst>
              <a:ext uri="{FF2B5EF4-FFF2-40B4-BE49-F238E27FC236}">
                <a16:creationId xmlns:a16="http://schemas.microsoft.com/office/drawing/2014/main" id="{8A5691C6-A39B-4DCD-B3CE-48543C2398C7}"/>
              </a:ext>
            </a:extLst>
          </p:cNvPr>
          <p:cNvSpPr>
            <a:spLocks noGrp="1"/>
          </p:cNvSpPr>
          <p:nvPr/>
        </p:nvSpPr>
        <p:spPr>
          <a:xfrm>
            <a:off x="609600" y="466344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1" dirty="0">
                <a:solidFill>
                  <a:srgbClr val="C62828"/>
                </a:solidFill>
                <a:latin typeface="Arial"/>
                <a:ea typeface="Arial"/>
                <a:cs typeface="Arial"/>
              </a:rPr>
              <a:t>Anywhere in Europe, give me a priority OEM account: I run this play and report at day 30.</a:t>
            </a:r>
          </a:p>
        </p:txBody>
      </p:sp>
      <p:sp>
        <p:nvSpPr>
          <p:cNvPr id="18" name="Added text 18">
            <a:extLst>
              <a:ext uri="{FF2B5EF4-FFF2-40B4-BE49-F238E27FC236}">
                <a16:creationId xmlns:a16="http://schemas.microsoft.com/office/drawing/2014/main" id="{8A5691C6-A39B-4DCD-B3CE-48543C2398C7}"/>
              </a:ext>
            </a:extLst>
          </p:cNvPr>
          <p:cNvSpPr>
            <a:spLocks noGrp="1"/>
          </p:cNvSpPr>
          <p:nvPr/>
        </p:nvSpPr>
        <p:spPr>
          <a:xfrm>
            <a:off x="609600" y="4370832"/>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lang="en-US" sz="1350" b="1" dirty="0">
                <a:solidFill>
                  <a:srgbClr val="62666A"/>
                </a:solidFill>
                <a:latin typeface="Arial"/>
                <a:ea typeface="Arial"/>
                <a:cs typeface="Arial"/>
              </a:rPr>
              <a:t>How I opened Portugal’s grid operator from zero: a partner who held the relationship.</a:t>
            </a:r>
            <a:endParaRPr sz="1350" b="1" dirty="0">
              <a:solidFill>
                <a:srgbClr val="62666A"/>
              </a:solidFill>
              <a:latin typeface="Arial"/>
              <a:ea typeface="Arial"/>
              <a:cs typeface="Arial"/>
            </a:endParaRPr>
          </a:p>
        </p:txBody>
      </p:sp>
    </p:spTree>
    <p:extLst>
      <p:ext uri="{BB962C8B-B14F-4D97-AF65-F5344CB8AC3E}">
        <p14:creationId xmlns:p14="http://schemas.microsoft.com/office/powerpoint/2010/main" val="1753681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ection-label">
            <a:extLst>
              <a:ext uri="{FF2B5EF4-FFF2-40B4-BE49-F238E27FC236}">
                <a16:creationId xmlns:a16="http://schemas.microsoft.com/office/drawing/2014/main" id="{D6722F5F-5C11-47A0-B730-539B3B13EE77}"/>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Lead qualification</a:t>
            </a:r>
          </a:p>
        </p:txBody>
      </p:sp>
      <p:sp>
        <p:nvSpPr>
          <p:cNvPr id="2" name="page-number">
            <a:extLst>
              <a:ext uri="{FF2B5EF4-FFF2-40B4-BE49-F238E27FC236}">
                <a16:creationId xmlns:a16="http://schemas.microsoft.com/office/drawing/2014/main" id="{51526653-2483-4F3D-9D36-082E8C7FA7D5}"/>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08</a:t>
            </a:r>
          </a:p>
        </p:txBody>
      </p:sp>
      <p:sp>
        <p:nvSpPr>
          <p:cNvPr id="3" name="slide-title">
            <a:extLst>
              <a:ext uri="{FF2B5EF4-FFF2-40B4-BE49-F238E27FC236}">
                <a16:creationId xmlns:a16="http://schemas.microsoft.com/office/drawing/2014/main" id="{7A5A2D40-4775-48A6-A624-FA8961AEE697}"/>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Only customer commitments move</a:t>
            </a:r>
          </a:p>
          <a:p>
            <a:pPr>
              <a:defRPr sz="2325" b="1">
                <a:solidFill>
                  <a:srgbClr val="202124"/>
                </a:solidFill>
                <a:latin typeface="Arial"/>
                <a:ea typeface="Arial"/>
                <a:cs typeface="Arial"/>
              </a:defRPr>
            </a:pPr>
            <a:r>
              <a:rPr sz="2325" b="1">
                <a:solidFill>
                  <a:srgbClr val="202124"/>
                </a:solidFill>
                <a:latin typeface="Arial"/>
                <a:ea typeface="Arial"/>
                <a:cs typeface="Arial"/>
              </a:rPr>
              <a:t>an opportunity into my forecast</a:t>
            </a:r>
          </a:p>
        </p:txBody>
      </p:sp>
      <p:sp>
        <p:nvSpPr>
          <p:cNvPr id="4" name="I ASK">
            <a:extLst>
              <a:ext uri="{FF2B5EF4-FFF2-40B4-BE49-F238E27FC236}">
                <a16:creationId xmlns:a16="http://schemas.microsoft.com/office/drawing/2014/main" id="{B63BC899-9693-4D37-A309-8A404F92189D}"/>
              </a:ext>
            </a:extLst>
          </p:cNvPr>
          <p:cNvSpPr>
            <a:spLocks noGrp="1"/>
          </p:cNvSpPr>
          <p:nvPr/>
        </p:nvSpPr>
        <p:spPr>
          <a:xfrm>
            <a:off x="609600" y="1619250"/>
            <a:ext cx="6667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I ASK</a:t>
            </a:r>
          </a:p>
        </p:txBody>
      </p:sp>
      <p:sp>
        <p:nvSpPr>
          <p:cNvPr id="5" name="Problem and programme?   ·   Buyer and evaluator?   ·  ">
            <a:extLst>
              <a:ext uri="{FF2B5EF4-FFF2-40B4-BE49-F238E27FC236}">
                <a16:creationId xmlns:a16="http://schemas.microsoft.com/office/drawing/2014/main" id="{1FC7BE31-5B19-4B49-8B5C-0A35B4BE1678}"/>
              </a:ext>
            </a:extLst>
          </p:cNvPr>
          <p:cNvSpPr>
            <a:spLocks noGrp="1"/>
          </p:cNvSpPr>
          <p:nvPr/>
        </p:nvSpPr>
        <p:spPr>
          <a:xfrm>
            <a:off x="1333500" y="1581150"/>
            <a:ext cx="7200900" cy="228600"/>
          </a:xfrm>
          <a:prstGeom prst="rect">
            <a:avLst/>
          </a:prstGeom>
          <a:noFill/>
          <a:ln w="0">
            <a:noFill/>
          </a:ln>
        </p:spPr>
        <p:txBody>
          <a:bodyPr lIns="0" tIns="0" rIns="0" bIns="0" anchor="t">
            <a:noAutofit/>
          </a:bodyPr>
          <a:lstStyle/>
          <a:p>
            <a:pPr>
              <a:defRPr sz="1350" b="1">
                <a:solidFill>
                  <a:srgbClr val="202124"/>
                </a:solidFill>
                <a:latin typeface="Arial"/>
                <a:ea typeface="Arial"/>
                <a:cs typeface="Arial"/>
              </a:defRPr>
            </a:pPr>
            <a:r>
              <a:rPr sz="1350" b="1">
                <a:solidFill>
                  <a:srgbClr val="202124"/>
                </a:solidFill>
                <a:latin typeface="Arial"/>
                <a:ea typeface="Arial"/>
                <a:cs typeface="Arial"/>
              </a:rPr>
              <a:t>Problem and programme?   ·   Buyer and evaluator?   ·   Decision and date?</a:t>
            </a:r>
          </a:p>
        </p:txBody>
      </p:sp>
      <p:sp>
        <p:nvSpPr>
          <p:cNvPr id="6" name="Interest">
            <a:extLst>
              <a:ext uri="{FF2B5EF4-FFF2-40B4-BE49-F238E27FC236}">
                <a16:creationId xmlns:a16="http://schemas.microsoft.com/office/drawing/2014/main" id="{C31AB12D-535C-4D7F-A8CB-CF2F295B0B55}"/>
              </a:ext>
            </a:extLst>
          </p:cNvPr>
          <p:cNvSpPr>
            <a:spLocks noGrp="1"/>
          </p:cNvSpPr>
          <p:nvPr/>
        </p:nvSpPr>
        <p:spPr>
          <a:xfrm>
            <a:off x="1866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Interest</a:t>
            </a:r>
          </a:p>
        </p:txBody>
      </p:sp>
      <p:sp>
        <p:nvSpPr>
          <p:cNvPr id="7" name="Programme&#10;and need">
            <a:extLst>
              <a:ext uri="{FF2B5EF4-FFF2-40B4-BE49-F238E27FC236}">
                <a16:creationId xmlns:a16="http://schemas.microsoft.com/office/drawing/2014/main" id="{F28F5A60-5DCB-4A22-8F52-F1B559B14947}"/>
              </a:ext>
            </a:extLst>
          </p:cNvPr>
          <p:cNvSpPr>
            <a:spLocks noGrp="1"/>
          </p:cNvSpPr>
          <p:nvPr/>
        </p:nvSpPr>
        <p:spPr>
          <a:xfrm>
            <a:off x="1866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Programme</a:t>
            </a:r>
          </a:p>
          <a:p>
            <a:pPr>
              <a:defRPr sz="1200" b="0">
                <a:solidFill>
                  <a:srgbClr val="62666A"/>
                </a:solidFill>
                <a:latin typeface="Arial"/>
                <a:ea typeface="Arial"/>
                <a:cs typeface="Arial"/>
              </a:defRPr>
            </a:pPr>
            <a:r>
              <a:rPr sz="1200" b="0">
                <a:solidFill>
                  <a:srgbClr val="62666A"/>
                </a:solidFill>
                <a:latin typeface="Arial"/>
                <a:ea typeface="Arial"/>
                <a:cs typeface="Arial"/>
              </a:rPr>
              <a:t>and need</a:t>
            </a:r>
          </a:p>
        </p:txBody>
      </p:sp>
      <p:sp>
        <p:nvSpPr>
          <p:cNvPr id="8" name="My time only;&#10;not forecast">
            <a:extLst>
              <a:ext uri="{FF2B5EF4-FFF2-40B4-BE49-F238E27FC236}">
                <a16:creationId xmlns:a16="http://schemas.microsoft.com/office/drawing/2014/main" id="{EA40531C-4F5F-4AFD-8CF4-9FDA9C49DAA2}"/>
              </a:ext>
            </a:extLst>
          </p:cNvPr>
          <p:cNvSpPr>
            <a:spLocks noGrp="1"/>
          </p:cNvSpPr>
          <p:nvPr/>
        </p:nvSpPr>
        <p:spPr>
          <a:xfrm>
            <a:off x="1866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My time only;</a:t>
            </a:r>
          </a:p>
          <a:p>
            <a:pPr>
              <a:defRPr sz="1200" b="0">
                <a:solidFill>
                  <a:srgbClr val="202124"/>
                </a:solidFill>
                <a:latin typeface="Arial"/>
                <a:ea typeface="Arial"/>
                <a:cs typeface="Arial"/>
              </a:defRPr>
            </a:pPr>
            <a:r>
              <a:rPr sz="1200" b="0">
                <a:solidFill>
                  <a:srgbClr val="202124"/>
                </a:solidFill>
                <a:latin typeface="Arial"/>
                <a:ea typeface="Arial"/>
                <a:cs typeface="Arial"/>
              </a:rPr>
              <a:t>not forecast</a:t>
            </a:r>
          </a:p>
        </p:txBody>
      </p:sp>
      <p:sp>
        <p:nvSpPr>
          <p:cNvPr id="9" name="Evaluation">
            <a:extLst>
              <a:ext uri="{FF2B5EF4-FFF2-40B4-BE49-F238E27FC236}">
                <a16:creationId xmlns:a16="http://schemas.microsoft.com/office/drawing/2014/main" id="{1BD3B46F-ABCB-4AC9-9464-BC7C53DF2A9F}"/>
              </a:ext>
            </a:extLst>
          </p:cNvPr>
          <p:cNvSpPr>
            <a:spLocks noGrp="1"/>
          </p:cNvSpPr>
          <p:nvPr/>
        </p:nvSpPr>
        <p:spPr>
          <a:xfrm>
            <a:off x="32004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Evaluation</a:t>
            </a:r>
          </a:p>
        </p:txBody>
      </p:sp>
      <p:sp>
        <p:nvSpPr>
          <p:cNvPr id="10" name="Sponsor, criteria,&#10;review date">
            <a:extLst>
              <a:ext uri="{FF2B5EF4-FFF2-40B4-BE49-F238E27FC236}">
                <a16:creationId xmlns:a16="http://schemas.microsoft.com/office/drawing/2014/main" id="{8637575D-0C85-45E8-A039-4F009CB9FA06}"/>
              </a:ext>
            </a:extLst>
          </p:cNvPr>
          <p:cNvSpPr>
            <a:spLocks noGrp="1"/>
          </p:cNvSpPr>
          <p:nvPr/>
        </p:nvSpPr>
        <p:spPr>
          <a:xfrm>
            <a:off x="32004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Sponsor, criteria,</a:t>
            </a:r>
          </a:p>
          <a:p>
            <a:pPr>
              <a:defRPr sz="1200" b="0">
                <a:solidFill>
                  <a:srgbClr val="62666A"/>
                </a:solidFill>
                <a:latin typeface="Arial"/>
                <a:ea typeface="Arial"/>
                <a:cs typeface="Arial"/>
              </a:defRPr>
            </a:pPr>
            <a:r>
              <a:rPr sz="1200" b="0">
                <a:solidFill>
                  <a:srgbClr val="62666A"/>
                </a:solidFill>
                <a:latin typeface="Arial"/>
                <a:ea typeface="Arial"/>
                <a:cs typeface="Arial"/>
              </a:rPr>
              <a:t>review date</a:t>
            </a:r>
          </a:p>
        </p:txBody>
      </p:sp>
      <p:sp>
        <p:nvSpPr>
          <p:cNvPr id="11" name="I request SE&#10;and a kit">
            <a:extLst>
              <a:ext uri="{FF2B5EF4-FFF2-40B4-BE49-F238E27FC236}">
                <a16:creationId xmlns:a16="http://schemas.microsoft.com/office/drawing/2014/main" id="{B3CA1784-5C03-4B83-850B-DCAA13608DD9}"/>
              </a:ext>
            </a:extLst>
          </p:cNvPr>
          <p:cNvSpPr>
            <a:spLocks noGrp="1"/>
          </p:cNvSpPr>
          <p:nvPr/>
        </p:nvSpPr>
        <p:spPr>
          <a:xfrm>
            <a:off x="32004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I request SE</a:t>
            </a:r>
          </a:p>
          <a:p>
            <a:pPr>
              <a:defRPr sz="1200" b="0">
                <a:solidFill>
                  <a:srgbClr val="202124"/>
                </a:solidFill>
                <a:latin typeface="Arial"/>
                <a:ea typeface="Arial"/>
                <a:cs typeface="Arial"/>
              </a:defRPr>
            </a:pPr>
            <a:r>
              <a:rPr sz="1200" b="0">
                <a:solidFill>
                  <a:srgbClr val="202124"/>
                </a:solidFill>
                <a:latin typeface="Arial"/>
                <a:ea typeface="Arial"/>
                <a:cs typeface="Arial"/>
              </a:rPr>
              <a:t>and a kit</a:t>
            </a:r>
          </a:p>
        </p:txBody>
      </p:sp>
      <p:sp>
        <p:nvSpPr>
          <p:cNvPr id="12" name="Design-in">
            <a:extLst>
              <a:ext uri="{FF2B5EF4-FFF2-40B4-BE49-F238E27FC236}">
                <a16:creationId xmlns:a16="http://schemas.microsoft.com/office/drawing/2014/main" id="{8FB6D1AC-7B4C-4005-8349-0979ED33C262}"/>
              </a:ext>
            </a:extLst>
          </p:cNvPr>
          <p:cNvSpPr>
            <a:spLocks noGrp="1"/>
          </p:cNvSpPr>
          <p:nvPr/>
        </p:nvSpPr>
        <p:spPr>
          <a:xfrm>
            <a:off x="4533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Design-in</a:t>
            </a:r>
          </a:p>
        </p:txBody>
      </p:sp>
      <p:sp>
        <p:nvSpPr>
          <p:cNvPr id="13" name="Selected for a&#10;named platform">
            <a:extLst>
              <a:ext uri="{FF2B5EF4-FFF2-40B4-BE49-F238E27FC236}">
                <a16:creationId xmlns:a16="http://schemas.microsoft.com/office/drawing/2014/main" id="{206C5C89-CF20-4A27-8CF7-D9511AC73252}"/>
              </a:ext>
            </a:extLst>
          </p:cNvPr>
          <p:cNvSpPr>
            <a:spLocks noGrp="1"/>
          </p:cNvSpPr>
          <p:nvPr/>
        </p:nvSpPr>
        <p:spPr>
          <a:xfrm>
            <a:off x="4533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Selected for a</a:t>
            </a:r>
          </a:p>
          <a:p>
            <a:pPr>
              <a:defRPr sz="1200" b="0">
                <a:solidFill>
                  <a:srgbClr val="62666A"/>
                </a:solidFill>
                <a:latin typeface="Arial"/>
                <a:ea typeface="Arial"/>
                <a:cs typeface="Arial"/>
              </a:defRPr>
            </a:pPr>
            <a:r>
              <a:rPr sz="1200" b="0">
                <a:solidFill>
                  <a:srgbClr val="62666A"/>
                </a:solidFill>
                <a:latin typeface="Arial"/>
                <a:ea typeface="Arial"/>
                <a:cs typeface="Arial"/>
              </a:rPr>
              <a:t>named platform</a:t>
            </a:r>
          </a:p>
        </p:txBody>
      </p:sp>
      <p:sp>
        <p:nvSpPr>
          <p:cNvPr id="14" name="Forecast: qty ×&#10;price × period">
            <a:extLst>
              <a:ext uri="{FF2B5EF4-FFF2-40B4-BE49-F238E27FC236}">
                <a16:creationId xmlns:a16="http://schemas.microsoft.com/office/drawing/2014/main" id="{51D5412F-A513-4B35-906A-F2AE154F6A5D}"/>
              </a:ext>
            </a:extLst>
          </p:cNvPr>
          <p:cNvSpPr>
            <a:spLocks noGrp="1"/>
          </p:cNvSpPr>
          <p:nvPr/>
        </p:nvSpPr>
        <p:spPr>
          <a:xfrm>
            <a:off x="4533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Radios × units</a:t>
            </a:r>
          </a:p>
          <a:p>
            <a:pPr>
              <a:defRPr sz="1200" b="0">
                <a:solidFill>
                  <a:srgbClr val="202124"/>
                </a:solidFill>
                <a:latin typeface="Arial"/>
                <a:ea typeface="Arial"/>
                <a:cs typeface="Arial"/>
              </a:defRPr>
            </a:pPr>
            <a:r>
              <a:rPr sz="1200" b="0">
                <a:solidFill>
                  <a:srgbClr val="202124"/>
                </a:solidFill>
                <a:latin typeface="Arial"/>
                <a:ea typeface="Arial"/>
                <a:cs typeface="Arial"/>
              </a:rPr>
              <a:t>× price = forecast</a:t>
            </a:r>
          </a:p>
        </p:txBody>
      </p:sp>
      <p:sp>
        <p:nvSpPr>
          <p:cNvPr id="15" name="Order">
            <a:extLst>
              <a:ext uri="{FF2B5EF4-FFF2-40B4-BE49-F238E27FC236}">
                <a16:creationId xmlns:a16="http://schemas.microsoft.com/office/drawing/2014/main" id="{83D0A288-7B59-4259-8626-E9D270A25977}"/>
              </a:ext>
            </a:extLst>
          </p:cNvPr>
          <p:cNvSpPr>
            <a:spLocks noGrp="1"/>
          </p:cNvSpPr>
          <p:nvPr/>
        </p:nvSpPr>
        <p:spPr>
          <a:xfrm>
            <a:off x="58674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Order</a:t>
            </a:r>
          </a:p>
        </p:txBody>
      </p:sp>
      <p:sp>
        <p:nvSpPr>
          <p:cNvPr id="16" name="PO, quantities&#10;and dates">
            <a:extLst>
              <a:ext uri="{FF2B5EF4-FFF2-40B4-BE49-F238E27FC236}">
                <a16:creationId xmlns:a16="http://schemas.microsoft.com/office/drawing/2014/main" id="{391715DD-4CED-4F55-ACB2-E71B4FC9AA80}"/>
              </a:ext>
            </a:extLst>
          </p:cNvPr>
          <p:cNvSpPr>
            <a:spLocks noGrp="1"/>
          </p:cNvSpPr>
          <p:nvPr/>
        </p:nvSpPr>
        <p:spPr>
          <a:xfrm>
            <a:off x="58674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PO, quantities</a:t>
            </a:r>
          </a:p>
          <a:p>
            <a:pPr>
              <a:defRPr sz="1200" b="0">
                <a:solidFill>
                  <a:srgbClr val="62666A"/>
                </a:solidFill>
                <a:latin typeface="Arial"/>
                <a:ea typeface="Arial"/>
                <a:cs typeface="Arial"/>
              </a:defRPr>
            </a:pPr>
            <a:r>
              <a:rPr sz="1200" b="0">
                <a:solidFill>
                  <a:srgbClr val="62666A"/>
                </a:solidFill>
                <a:latin typeface="Arial"/>
                <a:ea typeface="Arial"/>
                <a:cs typeface="Arial"/>
              </a:rPr>
              <a:t>and dates</a:t>
            </a:r>
          </a:p>
        </p:txBody>
      </p:sp>
      <p:sp>
        <p:nvSpPr>
          <p:cNvPr id="17" name="Firm; delivery&#10;and support">
            <a:extLst>
              <a:ext uri="{FF2B5EF4-FFF2-40B4-BE49-F238E27FC236}">
                <a16:creationId xmlns:a16="http://schemas.microsoft.com/office/drawing/2014/main" id="{4E3BE3B7-17C9-471E-B5C8-B912C197FE09}"/>
              </a:ext>
            </a:extLst>
          </p:cNvPr>
          <p:cNvSpPr>
            <a:spLocks noGrp="1"/>
          </p:cNvSpPr>
          <p:nvPr/>
        </p:nvSpPr>
        <p:spPr>
          <a:xfrm>
            <a:off x="58674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Firm; delivery</a:t>
            </a:r>
          </a:p>
          <a:p>
            <a:pPr>
              <a:defRPr sz="1200" b="0">
                <a:solidFill>
                  <a:srgbClr val="202124"/>
                </a:solidFill>
                <a:latin typeface="Arial"/>
                <a:ea typeface="Arial"/>
                <a:cs typeface="Arial"/>
              </a:defRPr>
            </a:pPr>
            <a:r>
              <a:rPr sz="1200" b="0">
                <a:solidFill>
                  <a:srgbClr val="202124"/>
                </a:solidFill>
                <a:latin typeface="Arial"/>
                <a:ea typeface="Arial"/>
                <a:cs typeface="Arial"/>
              </a:rPr>
              <a:t>and support</a:t>
            </a:r>
          </a:p>
        </p:txBody>
      </p:sp>
      <p:sp>
        <p:nvSpPr>
          <p:cNvPr id="18" name="Revenue">
            <a:extLst>
              <a:ext uri="{FF2B5EF4-FFF2-40B4-BE49-F238E27FC236}">
                <a16:creationId xmlns:a16="http://schemas.microsoft.com/office/drawing/2014/main" id="{8FCD8FA2-16F6-415E-B8D7-8F5304313F1A}"/>
              </a:ext>
            </a:extLst>
          </p:cNvPr>
          <p:cNvSpPr>
            <a:spLocks noGrp="1"/>
          </p:cNvSpPr>
          <p:nvPr/>
        </p:nvSpPr>
        <p:spPr>
          <a:xfrm>
            <a:off x="7200900" y="2114550"/>
            <a:ext cx="1219200" cy="22860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Revenue</a:t>
            </a:r>
          </a:p>
        </p:txBody>
      </p:sp>
      <p:sp>
        <p:nvSpPr>
          <p:cNvPr id="19" name="Shipped under&#10;Doodle policy">
            <a:extLst>
              <a:ext uri="{FF2B5EF4-FFF2-40B4-BE49-F238E27FC236}">
                <a16:creationId xmlns:a16="http://schemas.microsoft.com/office/drawing/2014/main" id="{AF631A0E-853C-490E-8952-5048A28B3F62}"/>
              </a:ext>
            </a:extLst>
          </p:cNvPr>
          <p:cNvSpPr>
            <a:spLocks noGrp="1"/>
          </p:cNvSpPr>
          <p:nvPr/>
        </p:nvSpPr>
        <p:spPr>
          <a:xfrm>
            <a:off x="7200900" y="2533650"/>
            <a:ext cx="1219200" cy="38100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Shipped under</a:t>
            </a:r>
          </a:p>
          <a:p>
            <a:pPr>
              <a:defRPr sz="1200" b="0">
                <a:solidFill>
                  <a:srgbClr val="62666A"/>
                </a:solidFill>
                <a:latin typeface="Arial"/>
                <a:ea typeface="Arial"/>
                <a:cs typeface="Arial"/>
              </a:defRPr>
            </a:pPr>
            <a:r>
              <a:rPr sz="1200" b="0">
                <a:solidFill>
                  <a:srgbClr val="62666A"/>
                </a:solidFill>
                <a:latin typeface="Arial"/>
                <a:ea typeface="Arial"/>
                <a:cs typeface="Arial"/>
              </a:rPr>
              <a:t>Doodle policy</a:t>
            </a:r>
          </a:p>
        </p:txBody>
      </p:sp>
      <p:sp>
        <p:nvSpPr>
          <p:cNvPr id="20" name="Next platform&#10;and expansion">
            <a:extLst>
              <a:ext uri="{FF2B5EF4-FFF2-40B4-BE49-F238E27FC236}">
                <a16:creationId xmlns:a16="http://schemas.microsoft.com/office/drawing/2014/main" id="{CA61E267-792B-44B1-A9A9-6D4AE7249F01}"/>
              </a:ext>
            </a:extLst>
          </p:cNvPr>
          <p:cNvSpPr>
            <a:spLocks noGrp="1"/>
          </p:cNvSpPr>
          <p:nvPr/>
        </p:nvSpPr>
        <p:spPr>
          <a:xfrm>
            <a:off x="7200900" y="3181350"/>
            <a:ext cx="1219200" cy="381000"/>
          </a:xfrm>
          <a:prstGeom prst="rect">
            <a:avLst/>
          </a:prstGeom>
          <a:noFill/>
          <a:ln w="0">
            <a:noFill/>
          </a:ln>
        </p:spPr>
        <p:txBody>
          <a:bodyPr lIns="0" tIns="0" rIns="0" bIns="0" anchor="t">
            <a:noAutofit/>
          </a:bodyPr>
          <a:lstStyle/>
          <a:p>
            <a:pPr>
              <a:defRPr sz="1200" b="0">
                <a:solidFill>
                  <a:srgbClr val="202124"/>
                </a:solidFill>
                <a:latin typeface="Arial"/>
                <a:ea typeface="Arial"/>
                <a:cs typeface="Arial"/>
              </a:defRPr>
            </a:pPr>
            <a:r>
              <a:rPr sz="1200" b="0">
                <a:solidFill>
                  <a:srgbClr val="202124"/>
                </a:solidFill>
                <a:latin typeface="Arial"/>
                <a:ea typeface="Arial"/>
                <a:cs typeface="Arial"/>
              </a:rPr>
              <a:t>Next platform</a:t>
            </a:r>
          </a:p>
          <a:p>
            <a:pPr>
              <a:defRPr sz="1200" b="0">
                <a:solidFill>
                  <a:srgbClr val="202124"/>
                </a:solidFill>
                <a:latin typeface="Arial"/>
                <a:ea typeface="Arial"/>
                <a:cs typeface="Arial"/>
              </a:defRPr>
            </a:pPr>
            <a:r>
              <a:rPr sz="1200" b="0">
                <a:solidFill>
                  <a:srgbClr val="202124"/>
                </a:solidFill>
                <a:latin typeface="Arial"/>
                <a:ea typeface="Arial"/>
                <a:cs typeface="Arial"/>
              </a:rPr>
              <a:t>and expansion</a:t>
            </a:r>
          </a:p>
        </p:txBody>
      </p:sp>
      <p:sp>
        <p:nvSpPr>
          <p:cNvPr id="21" name="Straight Connector 20">
            <a:extLst>
              <a:ext uri="{FF2B5EF4-FFF2-40B4-BE49-F238E27FC236}">
                <a16:creationId xmlns:a16="http://schemas.microsoft.com/office/drawing/2014/main" id="{DCCB2D98-5760-4207-8DF4-C5F2B7FBD237}"/>
              </a:ext>
            </a:extLst>
          </p:cNvPr>
          <p:cNvSpPr>
            <a:spLocks noGrp="1"/>
          </p:cNvSpPr>
          <p:nvPr/>
        </p:nvSpPr>
        <p:spPr>
          <a:xfrm>
            <a:off x="1866900" y="2400300"/>
            <a:ext cx="6667500" cy="0"/>
          </a:xfrm>
          <a:prstGeom prst="line">
            <a:avLst/>
          </a:prstGeom>
          <a:noFill/>
          <a:ln w="9525">
            <a:solidFill>
              <a:srgbClr val="DADCE0"/>
            </a:solidFill>
          </a:ln>
        </p:spPr>
        <p:txBody>
          <a:bodyPr/>
          <a:lstStyle/>
          <a:p>
            <a:endParaRPr lang="en-US"/>
          </a:p>
        </p:txBody>
      </p:sp>
      <p:sp>
        <p:nvSpPr>
          <p:cNvPr id="22" name="CUSTOMER GIVES">
            <a:extLst>
              <a:ext uri="{FF2B5EF4-FFF2-40B4-BE49-F238E27FC236}">
                <a16:creationId xmlns:a16="http://schemas.microsoft.com/office/drawing/2014/main" id="{CBDD3D80-823D-41BF-80B3-222A13D254A4}"/>
              </a:ext>
            </a:extLst>
          </p:cNvPr>
          <p:cNvSpPr>
            <a:spLocks noGrp="1"/>
          </p:cNvSpPr>
          <p:nvPr/>
        </p:nvSpPr>
        <p:spPr>
          <a:xfrm>
            <a:off x="609600" y="2562225"/>
            <a:ext cx="1143000" cy="304800"/>
          </a:xfrm>
          <a:prstGeom prst="rect">
            <a:avLst/>
          </a:prstGeom>
          <a:noFill/>
          <a:ln w="0">
            <a:noFill/>
          </a:ln>
        </p:spPr>
        <p:txBody>
          <a:bodyPr lIns="0" tIns="0" rIns="0" bIns="0" anchor="t">
            <a:noAutofit/>
          </a:bodyPr>
          <a:lstStyle/>
          <a:p>
            <a:pPr>
              <a:defRPr sz="825" b="1">
                <a:solidFill>
                  <a:srgbClr val="62666A"/>
                </a:solidFill>
                <a:latin typeface="Arial"/>
                <a:ea typeface="Arial"/>
                <a:cs typeface="Arial"/>
              </a:defRPr>
            </a:pPr>
            <a:r>
              <a:rPr sz="825" b="1">
                <a:solidFill>
                  <a:srgbClr val="62666A"/>
                </a:solidFill>
                <a:latin typeface="Arial"/>
                <a:ea typeface="Arial"/>
                <a:cs typeface="Arial"/>
              </a:rPr>
              <a:t>CUSTOMER GIVES</a:t>
            </a:r>
          </a:p>
        </p:txBody>
      </p:sp>
      <p:sp>
        <p:nvSpPr>
          <p:cNvPr id="23" name="I DO">
            <a:extLst>
              <a:ext uri="{FF2B5EF4-FFF2-40B4-BE49-F238E27FC236}">
                <a16:creationId xmlns:a16="http://schemas.microsoft.com/office/drawing/2014/main" id="{9A710B82-F5F6-4AEA-97C7-41B8BE8FEECF}"/>
              </a:ext>
            </a:extLst>
          </p:cNvPr>
          <p:cNvSpPr>
            <a:spLocks noGrp="1"/>
          </p:cNvSpPr>
          <p:nvPr/>
        </p:nvSpPr>
        <p:spPr>
          <a:xfrm>
            <a:off x="609600" y="3209925"/>
            <a:ext cx="1143000" cy="152400"/>
          </a:xfrm>
          <a:prstGeom prst="rect">
            <a:avLst/>
          </a:prstGeom>
          <a:noFill/>
          <a:ln w="0">
            <a:noFill/>
          </a:ln>
        </p:spPr>
        <p:txBody>
          <a:bodyPr lIns="0" tIns="0" rIns="0" bIns="0" anchor="t">
            <a:noAutofit/>
          </a:bodyPr>
          <a:lstStyle/>
          <a:p>
            <a:pPr>
              <a:defRPr sz="825" b="1">
                <a:solidFill>
                  <a:srgbClr val="62666A"/>
                </a:solidFill>
                <a:latin typeface="Arial"/>
                <a:ea typeface="Arial"/>
                <a:cs typeface="Arial"/>
              </a:defRPr>
            </a:pPr>
            <a:r>
              <a:rPr sz="825" b="1">
                <a:solidFill>
                  <a:srgbClr val="62666A"/>
                </a:solidFill>
                <a:latin typeface="Arial"/>
                <a:ea typeface="Arial"/>
                <a:cs typeface="Arial"/>
              </a:rPr>
              <a:t>I DO</a:t>
            </a:r>
          </a:p>
        </p:txBody>
      </p:sp>
      <p:sp>
        <p:nvSpPr>
          <p:cNvPr id="24" name="Straight Connector 23">
            <a:extLst>
              <a:ext uri="{FF2B5EF4-FFF2-40B4-BE49-F238E27FC236}">
                <a16:creationId xmlns:a16="http://schemas.microsoft.com/office/drawing/2014/main" id="{CF49721B-E471-41D7-8216-972C61D18A97}"/>
              </a:ext>
            </a:extLst>
          </p:cNvPr>
          <p:cNvSpPr>
            <a:spLocks noGrp="1"/>
          </p:cNvSpPr>
          <p:nvPr/>
        </p:nvSpPr>
        <p:spPr>
          <a:xfrm>
            <a:off x="609600" y="3028950"/>
            <a:ext cx="7924800" cy="0"/>
          </a:xfrm>
          <a:prstGeom prst="line">
            <a:avLst/>
          </a:prstGeom>
          <a:noFill/>
          <a:ln w="9525">
            <a:solidFill>
              <a:srgbClr val="DADCE0"/>
            </a:solidFill>
          </a:ln>
        </p:spPr>
        <p:txBody>
          <a:bodyPr/>
          <a:lstStyle/>
          <a:p>
            <a:endParaRPr lang="en-US"/>
          </a:p>
        </p:txBody>
      </p:sp>
      <p:sp>
        <p:nvSpPr>
          <p:cNvPr id="25" name="Straight Connector 24">
            <a:extLst>
              <a:ext uri="{FF2B5EF4-FFF2-40B4-BE49-F238E27FC236}">
                <a16:creationId xmlns:a16="http://schemas.microsoft.com/office/drawing/2014/main" id="{437D4278-B08C-4FD6-85FA-6DF38EA584EB}"/>
              </a:ext>
            </a:extLst>
          </p:cNvPr>
          <p:cNvSpPr>
            <a:spLocks noGrp="1"/>
          </p:cNvSpPr>
          <p:nvPr/>
        </p:nvSpPr>
        <p:spPr>
          <a:xfrm>
            <a:off x="609600" y="3695700"/>
            <a:ext cx="7924800" cy="0"/>
          </a:xfrm>
          <a:prstGeom prst="line">
            <a:avLst/>
          </a:prstGeom>
          <a:noFill/>
          <a:ln w="9525">
            <a:solidFill>
              <a:srgbClr val="DADCE0"/>
            </a:solidFill>
          </a:ln>
        </p:spPr>
        <p:txBody>
          <a:bodyPr/>
          <a:lstStyle/>
          <a:p>
            <a:endParaRPr lang="en-US"/>
          </a:p>
        </p:txBody>
      </p:sp>
      <p:sp>
        <p:nvSpPr>
          <p:cNvPr id="26" name="bottom-line">
            <a:extLst>
              <a:ext uri="{FF2B5EF4-FFF2-40B4-BE49-F238E27FC236}">
                <a16:creationId xmlns:a16="http://schemas.microsoft.com/office/drawing/2014/main" id="{3A810B19-FB65-435A-9615-71DB83CE9F56}"/>
              </a:ext>
            </a:extLst>
          </p:cNvPr>
          <p:cNvSpPr>
            <a:spLocks noGrp="1"/>
          </p:cNvSpPr>
          <p:nvPr/>
        </p:nvSpPr>
        <p:spPr>
          <a:xfrm>
            <a:off x="609600" y="3905250"/>
            <a:ext cx="7924800" cy="247650"/>
          </a:xfrm>
          <a:prstGeom prst="rect">
            <a:avLst/>
          </a:prstGeom>
          <a:noFill/>
          <a:ln w="0">
            <a:noFill/>
          </a:ln>
        </p:spPr>
        <p:txBody>
          <a:bodyPr lIns="0" tIns="0" rIns="0" bIns="0" anchor="t">
            <a:noAutofit/>
          </a:bodyPr>
          <a:lstStyle/>
          <a:p>
            <a:pPr>
              <a:defRPr sz="1500" b="1">
                <a:solidFill>
                  <a:srgbClr val="C62828"/>
                </a:solidFill>
                <a:latin typeface="Arial"/>
                <a:ea typeface="Arial"/>
                <a:cs typeface="Arial"/>
              </a:defRPr>
            </a:pPr>
            <a:r>
              <a:rPr sz="1500" b="1">
                <a:solidFill>
                  <a:srgbClr val="C62828"/>
                </a:solidFill>
                <a:latin typeface="Arial"/>
                <a:ea typeface="Arial"/>
                <a:cs typeface="Arial"/>
              </a:rPr>
              <a:t>Misses the agreed step  →  nurture with a trigger, or stop and record why.</a:t>
            </a:r>
          </a:p>
        </p:txBody>
      </p:sp>
      <p:sp>
        <p:nvSpPr>
          <p:cNvPr id="27" name="source-footnote">
            <a:extLst>
              <a:ext uri="{FF2B5EF4-FFF2-40B4-BE49-F238E27FC236}">
                <a16:creationId xmlns:a16="http://schemas.microsoft.com/office/drawing/2014/main" id="{C5B9E94D-0C4D-450B-84DD-724B31AE4D65}"/>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 framework ceiling is not an order; an unweighted pipeline is not a forecast. Stage names would follow Doodle’s CRM.</a:t>
            </a:r>
          </a:p>
        </p:txBody>
      </p:sp>
    </p:spTree>
    <p:extLst>
      <p:ext uri="{BB962C8B-B14F-4D97-AF65-F5344CB8AC3E}">
        <p14:creationId xmlns:p14="http://schemas.microsoft.com/office/powerpoint/2010/main" val="1010442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ection-label">
            <a:extLst>
              <a:ext uri="{FF2B5EF4-FFF2-40B4-BE49-F238E27FC236}">
                <a16:creationId xmlns:a16="http://schemas.microsoft.com/office/drawing/2014/main" id="{927B0F25-68B1-4A5B-B1BC-C32A702E5C27}"/>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Reseller strategy</a:t>
            </a:r>
          </a:p>
        </p:txBody>
      </p:sp>
      <p:sp>
        <p:nvSpPr>
          <p:cNvPr id="2" name="page-number">
            <a:extLst>
              <a:ext uri="{FF2B5EF4-FFF2-40B4-BE49-F238E27FC236}">
                <a16:creationId xmlns:a16="http://schemas.microsoft.com/office/drawing/2014/main" id="{C484A258-ADE9-475D-A730-B258A7390C8C}"/>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09</a:t>
            </a:r>
          </a:p>
        </p:txBody>
      </p:sp>
      <p:sp>
        <p:nvSpPr>
          <p:cNvPr id="3" name="slide-title">
            <a:extLst>
              <a:ext uri="{FF2B5EF4-FFF2-40B4-BE49-F238E27FC236}">
                <a16:creationId xmlns:a16="http://schemas.microsoft.com/office/drawing/2014/main" id="{B20EE964-75F3-4830-92A9-E8D86E10B5B6}"/>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A reseller earns support by bringing</a:t>
            </a:r>
          </a:p>
          <a:p>
            <a:pPr>
              <a:defRPr sz="2325" b="1">
                <a:solidFill>
                  <a:srgbClr val="202124"/>
                </a:solidFill>
                <a:latin typeface="Arial"/>
                <a:ea typeface="Arial"/>
                <a:cs typeface="Arial"/>
              </a:defRPr>
            </a:pPr>
            <a:r>
              <a:rPr sz="2325" b="1">
                <a:solidFill>
                  <a:srgbClr val="202124"/>
                </a:solidFill>
                <a:latin typeface="Arial"/>
                <a:ea typeface="Arial"/>
                <a:cs typeface="Arial"/>
              </a:rPr>
              <a:t>a named customer and real work</a:t>
            </a:r>
          </a:p>
        </p:txBody>
      </p:sp>
      <p:sp>
        <p:nvSpPr>
          <p:cNvPr id="4" name="claim">
            <a:extLst>
              <a:ext uri="{FF2B5EF4-FFF2-40B4-BE49-F238E27FC236}">
                <a16:creationId xmlns:a16="http://schemas.microsoft.com/office/drawing/2014/main" id="{2E1AD10D-9D21-4031-AACF-E387F8570D32}"/>
              </a:ext>
            </a:extLst>
          </p:cNvPr>
          <p:cNvSpPr>
            <a:spLocks noGrp="1"/>
          </p:cNvSpPr>
          <p:nvPr/>
        </p:nvSpPr>
        <p:spPr>
          <a:xfrm>
            <a:off x="609600" y="1562100"/>
            <a:ext cx="7924800" cy="22860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a:solidFill>
                  <a:srgbClr val="62666A"/>
                </a:solidFill>
                <a:latin typeface="Arial"/>
                <a:ea typeface="Arial"/>
                <a:cs typeface="Arial"/>
              </a:rPr>
              <a:t>The claim to test:  “We can introduce you to several defence customers.”</a:t>
            </a:r>
          </a:p>
        </p:txBody>
      </p:sp>
      <p:sp>
        <p:nvSpPr>
          <p:cNvPr id="5" name="Access">
            <a:extLst>
              <a:ext uri="{FF2B5EF4-FFF2-40B4-BE49-F238E27FC236}">
                <a16:creationId xmlns:a16="http://schemas.microsoft.com/office/drawing/2014/main" id="{06CBC5C0-A6AB-47B9-BD50-1012DC16487F}"/>
              </a:ext>
            </a:extLst>
          </p:cNvPr>
          <p:cNvSpPr>
            <a:spLocks noGrp="1"/>
          </p:cNvSpPr>
          <p:nvPr/>
        </p:nvSpPr>
        <p:spPr>
          <a:xfrm>
            <a:off x="60960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Access</a:t>
            </a:r>
          </a:p>
        </p:txBody>
      </p:sp>
      <p:sp>
        <p:nvSpPr>
          <p:cNvPr id="6" name="Straight Connector 5">
            <a:extLst>
              <a:ext uri="{FF2B5EF4-FFF2-40B4-BE49-F238E27FC236}">
                <a16:creationId xmlns:a16="http://schemas.microsoft.com/office/drawing/2014/main" id="{EF6C5779-0333-4031-BA15-9D89FBEB58D8}"/>
              </a:ext>
            </a:extLst>
          </p:cNvPr>
          <p:cNvSpPr>
            <a:spLocks noGrp="1"/>
          </p:cNvSpPr>
          <p:nvPr/>
        </p:nvSpPr>
        <p:spPr>
          <a:xfrm>
            <a:off x="609600" y="2495550"/>
            <a:ext cx="2381250" cy="0"/>
          </a:xfrm>
          <a:prstGeom prst="line">
            <a:avLst/>
          </a:prstGeom>
          <a:noFill/>
          <a:ln w="9525">
            <a:solidFill>
              <a:srgbClr val="DADCE0"/>
            </a:solidFill>
          </a:ln>
        </p:spPr>
        <p:txBody>
          <a:bodyPr/>
          <a:lstStyle/>
          <a:p>
            <a:endParaRPr lang="en-US"/>
          </a:p>
        </p:txBody>
      </p:sp>
      <p:sp>
        <p:nvSpPr>
          <p:cNvPr id="7" name="Names the buyer and&#10;evaluator in one&#10;live programme">
            <a:extLst>
              <a:ext uri="{FF2B5EF4-FFF2-40B4-BE49-F238E27FC236}">
                <a16:creationId xmlns:a16="http://schemas.microsoft.com/office/drawing/2014/main" id="{89D6825E-7960-45C7-829A-33F2250C018D}"/>
              </a:ext>
            </a:extLst>
          </p:cNvPr>
          <p:cNvSpPr>
            <a:spLocks noGrp="1"/>
          </p:cNvSpPr>
          <p:nvPr/>
        </p:nvSpPr>
        <p:spPr>
          <a:xfrm>
            <a:off x="60960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Names the buyer and</a:t>
            </a:r>
          </a:p>
          <a:p>
            <a:pPr>
              <a:defRPr sz="1350" b="0">
                <a:solidFill>
                  <a:srgbClr val="62666A"/>
                </a:solidFill>
                <a:latin typeface="Arial"/>
                <a:ea typeface="Arial"/>
                <a:cs typeface="Arial"/>
              </a:defRPr>
            </a:pPr>
            <a:r>
              <a:rPr sz="1350" b="0" dirty="0">
                <a:solidFill>
                  <a:srgbClr val="62666A"/>
                </a:solidFill>
                <a:latin typeface="Arial"/>
                <a:ea typeface="Arial"/>
                <a:cs typeface="Arial"/>
              </a:rPr>
              <a:t>evaluator in one</a:t>
            </a:r>
          </a:p>
          <a:p>
            <a:pPr>
              <a:defRPr sz="1350" b="0">
                <a:solidFill>
                  <a:srgbClr val="62666A"/>
                </a:solidFill>
                <a:latin typeface="Arial"/>
                <a:ea typeface="Arial"/>
                <a:cs typeface="Arial"/>
              </a:defRPr>
            </a:pPr>
            <a:r>
              <a:rPr sz="1350" b="0" dirty="0">
                <a:solidFill>
                  <a:srgbClr val="62666A"/>
                </a:solidFill>
                <a:latin typeface="Arial"/>
                <a:ea typeface="Arial"/>
                <a:cs typeface="Arial"/>
              </a:rPr>
              <a:t>live </a:t>
            </a:r>
            <a:r>
              <a:rPr sz="1350" b="0" dirty="0" err="1">
                <a:solidFill>
                  <a:srgbClr val="62666A"/>
                </a:solidFill>
                <a:latin typeface="Arial"/>
                <a:ea typeface="Arial"/>
                <a:cs typeface="Arial"/>
              </a:rPr>
              <a:t>programme</a:t>
            </a:r>
            <a:endParaRPr sz="1350" b="0" dirty="0">
              <a:solidFill>
                <a:srgbClr val="62666A"/>
              </a:solidFill>
              <a:latin typeface="Arial"/>
              <a:ea typeface="Arial"/>
              <a:cs typeface="Arial"/>
            </a:endParaRPr>
          </a:p>
        </p:txBody>
      </p:sp>
      <p:sp>
        <p:nvSpPr>
          <p:cNvPr id="8" name="Support">
            <a:extLst>
              <a:ext uri="{FF2B5EF4-FFF2-40B4-BE49-F238E27FC236}">
                <a16:creationId xmlns:a16="http://schemas.microsoft.com/office/drawing/2014/main" id="{774E7413-18B3-42DA-8AD8-30CA3C0BEF76}"/>
              </a:ext>
            </a:extLst>
          </p:cNvPr>
          <p:cNvSpPr>
            <a:spLocks noGrp="1"/>
          </p:cNvSpPr>
          <p:nvPr/>
        </p:nvSpPr>
        <p:spPr>
          <a:xfrm>
            <a:off x="333375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Support</a:t>
            </a:r>
          </a:p>
        </p:txBody>
      </p:sp>
      <p:sp>
        <p:nvSpPr>
          <p:cNvPr id="9" name="Straight Connector 8">
            <a:extLst>
              <a:ext uri="{FF2B5EF4-FFF2-40B4-BE49-F238E27FC236}">
                <a16:creationId xmlns:a16="http://schemas.microsoft.com/office/drawing/2014/main" id="{4661D872-C854-406A-A9C9-7D18D46AA276}"/>
              </a:ext>
            </a:extLst>
          </p:cNvPr>
          <p:cNvSpPr>
            <a:spLocks noGrp="1"/>
          </p:cNvSpPr>
          <p:nvPr/>
        </p:nvSpPr>
        <p:spPr>
          <a:xfrm>
            <a:off x="3333750" y="2495550"/>
            <a:ext cx="2381250" cy="0"/>
          </a:xfrm>
          <a:prstGeom prst="line">
            <a:avLst/>
          </a:prstGeom>
          <a:noFill/>
          <a:ln w="9525">
            <a:solidFill>
              <a:srgbClr val="DADCE0"/>
            </a:solidFill>
          </a:ln>
        </p:spPr>
        <p:txBody>
          <a:bodyPr/>
          <a:lstStyle/>
          <a:p>
            <a:endParaRPr lang="en-US"/>
          </a:p>
        </p:txBody>
      </p:sp>
      <p:sp>
        <p:nvSpPr>
          <p:cNvPr id="10" name="Takes first-line&#10;integration questions,&#10;SE behind it">
            <a:extLst>
              <a:ext uri="{FF2B5EF4-FFF2-40B4-BE49-F238E27FC236}">
                <a16:creationId xmlns:a16="http://schemas.microsoft.com/office/drawing/2014/main" id="{CCA32BB6-CF02-43C4-B105-5243F5A5DB88}"/>
              </a:ext>
            </a:extLst>
          </p:cNvPr>
          <p:cNvSpPr>
            <a:spLocks noGrp="1"/>
          </p:cNvSpPr>
          <p:nvPr/>
        </p:nvSpPr>
        <p:spPr>
          <a:xfrm>
            <a:off x="333375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Takes first-line</a:t>
            </a:r>
          </a:p>
          <a:p>
            <a:pPr>
              <a:defRPr sz="1350" b="0">
                <a:solidFill>
                  <a:srgbClr val="62666A"/>
                </a:solidFill>
                <a:latin typeface="Arial"/>
                <a:ea typeface="Arial"/>
                <a:cs typeface="Arial"/>
              </a:defRPr>
            </a:pPr>
            <a:r>
              <a:rPr sz="1350" b="0" dirty="0">
                <a:solidFill>
                  <a:srgbClr val="62666A"/>
                </a:solidFill>
                <a:latin typeface="Arial"/>
                <a:ea typeface="Arial"/>
                <a:cs typeface="Arial"/>
              </a:rPr>
              <a:t>integration questions,</a:t>
            </a:r>
          </a:p>
          <a:p>
            <a:pPr>
              <a:defRPr sz="1350" b="0">
                <a:solidFill>
                  <a:srgbClr val="62666A"/>
                </a:solidFill>
                <a:latin typeface="Arial"/>
                <a:ea typeface="Arial"/>
                <a:cs typeface="Arial"/>
              </a:defRPr>
            </a:pPr>
            <a:r>
              <a:rPr sz="1350" b="0" dirty="0">
                <a:solidFill>
                  <a:srgbClr val="62666A"/>
                </a:solidFill>
                <a:latin typeface="Arial"/>
                <a:ea typeface="Arial"/>
                <a:cs typeface="Arial"/>
              </a:rPr>
              <a:t>SE behind it</a:t>
            </a:r>
          </a:p>
        </p:txBody>
      </p:sp>
      <p:sp>
        <p:nvSpPr>
          <p:cNvPr id="11" name="Economics">
            <a:extLst>
              <a:ext uri="{FF2B5EF4-FFF2-40B4-BE49-F238E27FC236}">
                <a16:creationId xmlns:a16="http://schemas.microsoft.com/office/drawing/2014/main" id="{0BD96915-5A63-45DC-BC23-3FF551B33D50}"/>
              </a:ext>
            </a:extLst>
          </p:cNvPr>
          <p:cNvSpPr>
            <a:spLocks noGrp="1"/>
          </p:cNvSpPr>
          <p:nvPr/>
        </p:nvSpPr>
        <p:spPr>
          <a:xfrm>
            <a:off x="6057900" y="2114550"/>
            <a:ext cx="2381250" cy="285750"/>
          </a:xfrm>
          <a:prstGeom prst="rect">
            <a:avLst/>
          </a:prstGeom>
          <a:noFill/>
          <a:ln w="0">
            <a:noFill/>
          </a:ln>
        </p:spPr>
        <p:txBody>
          <a:bodyPr lIns="0" tIns="0" rIns="0" bIns="0" anchor="t">
            <a:noAutofit/>
          </a:bodyPr>
          <a:lstStyle/>
          <a:p>
            <a:pPr>
              <a:defRPr sz="1950" b="1">
                <a:solidFill>
                  <a:srgbClr val="202124"/>
                </a:solidFill>
                <a:latin typeface="Arial"/>
                <a:ea typeface="Arial"/>
                <a:cs typeface="Arial"/>
              </a:defRPr>
            </a:pPr>
            <a:r>
              <a:rPr sz="1950" b="1">
                <a:solidFill>
                  <a:srgbClr val="202124"/>
                </a:solidFill>
                <a:latin typeface="Arial"/>
                <a:ea typeface="Arial"/>
                <a:cs typeface="Arial"/>
              </a:rPr>
              <a:t>Economics</a:t>
            </a:r>
          </a:p>
        </p:txBody>
      </p:sp>
      <p:sp>
        <p:nvSpPr>
          <p:cNvPr id="12" name="Straight Connector 11">
            <a:extLst>
              <a:ext uri="{FF2B5EF4-FFF2-40B4-BE49-F238E27FC236}">
                <a16:creationId xmlns:a16="http://schemas.microsoft.com/office/drawing/2014/main" id="{E1D39290-FB48-4F63-9B6C-B7B9B51DCF7D}"/>
              </a:ext>
            </a:extLst>
          </p:cNvPr>
          <p:cNvSpPr>
            <a:spLocks noGrp="1"/>
          </p:cNvSpPr>
          <p:nvPr/>
        </p:nvSpPr>
        <p:spPr>
          <a:xfrm>
            <a:off x="6057900" y="2495550"/>
            <a:ext cx="2381250" cy="0"/>
          </a:xfrm>
          <a:prstGeom prst="line">
            <a:avLst/>
          </a:prstGeom>
          <a:noFill/>
          <a:ln w="9525">
            <a:solidFill>
              <a:srgbClr val="DADCE0"/>
            </a:solidFill>
          </a:ln>
        </p:spPr>
        <p:txBody>
          <a:bodyPr/>
          <a:lstStyle/>
          <a:p>
            <a:endParaRPr lang="en-US"/>
          </a:p>
        </p:txBody>
      </p:sp>
      <p:sp>
        <p:nvSpPr>
          <p:cNvPr id="13" name="Its margin pays for&#10;work Doodle would&#10;otherwise do">
            <a:extLst>
              <a:ext uri="{FF2B5EF4-FFF2-40B4-BE49-F238E27FC236}">
                <a16:creationId xmlns:a16="http://schemas.microsoft.com/office/drawing/2014/main" id="{994E89FD-3387-456E-80D9-1B63B3F7519B}"/>
              </a:ext>
            </a:extLst>
          </p:cNvPr>
          <p:cNvSpPr>
            <a:spLocks noGrp="1"/>
          </p:cNvSpPr>
          <p:nvPr/>
        </p:nvSpPr>
        <p:spPr>
          <a:xfrm>
            <a:off x="6057900" y="2628900"/>
            <a:ext cx="2381250" cy="628650"/>
          </a:xfrm>
          <a:prstGeom prst="rect">
            <a:avLst/>
          </a:prstGeom>
          <a:noFill/>
          <a:ln w="0">
            <a:noFill/>
          </a:ln>
        </p:spPr>
        <p:txBody>
          <a:bodyPr lIns="0" tIns="0" rIns="0" bIns="0" anchor="t">
            <a:noAutofit/>
          </a:bodyPr>
          <a:lstStyle/>
          <a:p>
            <a:pPr>
              <a:defRPr sz="1350" b="0">
                <a:solidFill>
                  <a:srgbClr val="62666A"/>
                </a:solidFill>
                <a:latin typeface="Arial"/>
                <a:ea typeface="Arial"/>
                <a:cs typeface="Arial"/>
              </a:defRPr>
            </a:pPr>
            <a:r>
              <a:rPr sz="1350" b="0" dirty="0">
                <a:solidFill>
                  <a:srgbClr val="62666A"/>
                </a:solidFill>
                <a:latin typeface="Arial"/>
                <a:ea typeface="Arial"/>
                <a:cs typeface="Arial"/>
              </a:rPr>
              <a:t>Its margin pays for</a:t>
            </a:r>
          </a:p>
          <a:p>
            <a:pPr>
              <a:defRPr sz="1350" b="0">
                <a:solidFill>
                  <a:srgbClr val="62666A"/>
                </a:solidFill>
                <a:latin typeface="Arial"/>
                <a:ea typeface="Arial"/>
                <a:cs typeface="Arial"/>
              </a:defRPr>
            </a:pPr>
            <a:r>
              <a:rPr sz="1350" b="0" dirty="0">
                <a:solidFill>
                  <a:srgbClr val="62666A"/>
                </a:solidFill>
                <a:latin typeface="Arial"/>
                <a:ea typeface="Arial"/>
                <a:cs typeface="Arial"/>
              </a:rPr>
              <a:t>work Doodle would</a:t>
            </a:r>
          </a:p>
          <a:p>
            <a:pPr>
              <a:defRPr sz="1350" b="0">
                <a:solidFill>
                  <a:srgbClr val="62666A"/>
                </a:solidFill>
                <a:latin typeface="Arial"/>
                <a:ea typeface="Arial"/>
                <a:cs typeface="Arial"/>
              </a:defRPr>
            </a:pPr>
            <a:r>
              <a:rPr sz="1350" b="0" dirty="0">
                <a:solidFill>
                  <a:srgbClr val="62666A"/>
                </a:solidFill>
                <a:latin typeface="Arial"/>
                <a:ea typeface="Arial"/>
                <a:cs typeface="Arial"/>
              </a:rPr>
              <a:t>otherwise do</a:t>
            </a:r>
          </a:p>
        </p:txBody>
      </p:sp>
      <p:sp>
        <p:nvSpPr>
          <p:cNvPr id="14" name="Straight Connector 13">
            <a:extLst>
              <a:ext uri="{FF2B5EF4-FFF2-40B4-BE49-F238E27FC236}">
                <a16:creationId xmlns:a16="http://schemas.microsoft.com/office/drawing/2014/main" id="{C88440CE-C9BD-4892-B88D-B84B8ECDC5EF}"/>
              </a:ext>
            </a:extLst>
          </p:cNvPr>
          <p:cNvSpPr>
            <a:spLocks noGrp="1"/>
          </p:cNvSpPr>
          <p:nvPr/>
        </p:nvSpPr>
        <p:spPr>
          <a:xfrm>
            <a:off x="609600" y="3562350"/>
            <a:ext cx="7924800" cy="0"/>
          </a:xfrm>
          <a:prstGeom prst="line">
            <a:avLst/>
          </a:prstGeom>
          <a:noFill/>
          <a:ln w="9525">
            <a:solidFill>
              <a:srgbClr val="DADCE0"/>
            </a:solidFill>
          </a:ln>
        </p:spPr>
        <p:txBody>
          <a:bodyPr/>
          <a:lstStyle/>
          <a:p>
            <a:endParaRPr lang="en-US"/>
          </a:p>
        </p:txBody>
      </p:sp>
      <p:sp>
        <p:nvSpPr>
          <p:cNvPr id="15" name="bottom-line">
            <a:extLst>
              <a:ext uri="{FF2B5EF4-FFF2-40B4-BE49-F238E27FC236}">
                <a16:creationId xmlns:a16="http://schemas.microsoft.com/office/drawing/2014/main" id="{766E2D50-C775-422A-91D2-1774EC80CA83}"/>
              </a:ext>
            </a:extLst>
          </p:cNvPr>
          <p:cNvSpPr>
            <a:spLocks noGrp="1"/>
          </p:cNvSpPr>
          <p:nvPr/>
        </p:nvSpPr>
        <p:spPr>
          <a:xfrm>
            <a:off x="609600" y="3733800"/>
            <a:ext cx="7924800" cy="247650"/>
          </a:xfrm>
          <a:prstGeom prst="rect">
            <a:avLst/>
          </a:prstGeom>
          <a:noFill/>
          <a:ln w="0">
            <a:noFill/>
          </a:ln>
        </p:spPr>
        <p:txBody>
          <a:bodyPr lIns="0" tIns="0" rIns="0" bIns="0" anchor="t">
            <a:noAutofit/>
          </a:bodyPr>
          <a:lstStyle/>
          <a:p>
            <a:pPr>
              <a:defRPr sz="1575" b="1">
                <a:solidFill>
                  <a:srgbClr val="C62828"/>
                </a:solidFill>
                <a:latin typeface="Arial"/>
                <a:ea typeface="Arial"/>
                <a:cs typeface="Arial"/>
              </a:defRPr>
            </a:pPr>
            <a:r>
              <a:rPr sz="1575" b="1" dirty="0">
                <a:solidFill>
                  <a:srgbClr val="C62828"/>
                </a:solidFill>
                <a:latin typeface="Arial"/>
                <a:ea typeface="Arial"/>
                <a:cs typeface="Arial"/>
              </a:rPr>
              <a:t>Start with one named opportunity and a review date.</a:t>
            </a:r>
          </a:p>
        </p:txBody>
      </p:sp>
      <p:sp>
        <p:nvSpPr>
          <p:cNvPr id="16" name="bottom-line-2">
            <a:extLst>
              <a:ext uri="{FF2B5EF4-FFF2-40B4-BE49-F238E27FC236}">
                <a16:creationId xmlns:a16="http://schemas.microsoft.com/office/drawing/2014/main" id="{9E31B96D-188A-477C-BD6F-78D3E52393C2}"/>
              </a:ext>
            </a:extLst>
          </p:cNvPr>
          <p:cNvSpPr>
            <a:spLocks noGrp="1"/>
          </p:cNvSpPr>
          <p:nvPr/>
        </p:nvSpPr>
        <p:spPr>
          <a:xfrm>
            <a:off x="609600" y="4076700"/>
            <a:ext cx="7924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dirty="0">
                <a:solidFill>
                  <a:srgbClr val="202124"/>
                </a:solidFill>
                <a:latin typeface="Arial"/>
                <a:ea typeface="Arial"/>
                <a:cs typeface="Arial"/>
              </a:rPr>
              <a:t>Expand if it moves the customer. Stop investing if it cannot name one.</a:t>
            </a:r>
          </a:p>
        </p:txBody>
      </p:sp>
      <p:sp>
        <p:nvSpPr>
          <p:cNvPr id="19" name="Added text 19">
            <a:extLst>
              <a:ext uri="{FF2B5EF4-FFF2-40B4-BE49-F238E27FC236}">
                <a16:creationId xmlns:a16="http://schemas.microsoft.com/office/drawing/2014/main" id="{9E31B96D-188A-477C-BD6F-78D3E52393C2}"/>
              </a:ext>
            </a:extLst>
          </p:cNvPr>
          <p:cNvSpPr>
            <a:spLocks noGrp="1"/>
          </p:cNvSpPr>
          <p:nvPr/>
        </p:nvSpPr>
        <p:spPr>
          <a:xfrm>
            <a:off x="609600" y="4389120"/>
            <a:ext cx="7924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dirty="0">
                <a:solidFill>
                  <a:srgbClr val="202124"/>
                </a:solidFill>
                <a:latin typeface="Arial"/>
                <a:ea typeface="Arial"/>
                <a:cs typeface="Arial"/>
              </a:rPr>
              <a:t>In Europe the winnable channel is often private-label: the radio inside a partner’s own product.</a:t>
            </a:r>
          </a:p>
        </p:txBody>
      </p:sp>
      <p:sp>
        <p:nvSpPr>
          <p:cNvPr id="17" name="source-footnote">
            <a:extLst>
              <a:ext uri="{FF2B5EF4-FFF2-40B4-BE49-F238E27FC236}">
                <a16:creationId xmlns:a16="http://schemas.microsoft.com/office/drawing/2014/main" id="{0F77766E-B268-4E53-9728-76864C881312}"/>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Roles differ: a stock-only distributor handles fulfilment, not demand. UXV’s published work is an integrator role.</a:t>
            </a:r>
          </a:p>
        </p:txBody>
      </p:sp>
    </p:spTree>
    <p:extLst>
      <p:ext uri="{BB962C8B-B14F-4D97-AF65-F5344CB8AC3E}">
        <p14:creationId xmlns:p14="http://schemas.microsoft.com/office/powerpoint/2010/main" val="527673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25A506AD-B93B-4D86-8DA1-5ACB9289C9BD}"/>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ACD876BC-C112-4FE3-BFFE-E66752ADF68E}"/>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10</a:t>
            </a:r>
          </a:p>
        </p:txBody>
      </p:sp>
      <p:sp>
        <p:nvSpPr>
          <p:cNvPr id="3" name="slide-title">
            <a:extLst>
              <a:ext uri="{FF2B5EF4-FFF2-40B4-BE49-F238E27FC236}">
                <a16:creationId xmlns:a16="http://schemas.microsoft.com/office/drawing/2014/main" id="{27119692-BE6B-45D8-97EB-5E3EEEE55321}"/>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1–30  ·  Protect current customers,</a:t>
            </a:r>
          </a:p>
          <a:p>
            <a:pPr>
              <a:defRPr sz="2325" b="1">
                <a:solidFill>
                  <a:srgbClr val="202124"/>
                </a:solidFill>
                <a:latin typeface="Arial"/>
                <a:ea typeface="Arial"/>
                <a:cs typeface="Arial"/>
              </a:defRPr>
            </a:pPr>
            <a:r>
              <a:rPr sz="2325" b="1">
                <a:solidFill>
                  <a:srgbClr val="202124"/>
                </a:solidFill>
                <a:latin typeface="Arial"/>
                <a:ea typeface="Arial"/>
                <a:cs typeface="Arial"/>
              </a:rPr>
              <a:t>open the first conversations</a:t>
            </a:r>
          </a:p>
        </p:txBody>
      </p:sp>
      <p:sp>
        <p:nvSpPr>
          <p:cNvPr id="4" name="marker-30">
            <a:extLst>
              <a:ext uri="{FF2B5EF4-FFF2-40B4-BE49-F238E27FC236}">
                <a16:creationId xmlns:a16="http://schemas.microsoft.com/office/drawing/2014/main" id="{EEA30C29-0D49-4310-BDF7-836AF01BC00C}"/>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30</a:t>
            </a:r>
          </a:p>
        </p:txBody>
      </p:sp>
      <p:sp>
        <p:nvSpPr>
          <p:cNvPr id="5" name="marker-60">
            <a:extLst>
              <a:ext uri="{FF2B5EF4-FFF2-40B4-BE49-F238E27FC236}">
                <a16:creationId xmlns:a16="http://schemas.microsoft.com/office/drawing/2014/main" id="{3879A65D-D1B1-4197-991F-62B7E4E5A2B1}"/>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a:ext uri="{FF2B5EF4-FFF2-40B4-BE49-F238E27FC236}">
                <a16:creationId xmlns:a16="http://schemas.microsoft.com/office/drawing/2014/main" id="{ECF866EE-6FDD-4CB5-BC38-297F28AE23F9}"/>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9" name="Straight Connector 8">
            <a:extLst>
              <a:ext uri="{FF2B5EF4-FFF2-40B4-BE49-F238E27FC236}">
                <a16:creationId xmlns:a16="http://schemas.microsoft.com/office/drawing/2014/main" id="{34286C96-F5D5-4E70-A33B-06800459C4CF}"/>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exists today">
            <a:extLst>
              <a:ext uri="{FF2B5EF4-FFF2-40B4-BE49-F238E27FC236}">
                <a16:creationId xmlns:a16="http://schemas.microsoft.com/office/drawing/2014/main" id="{158745AF-E91F-4F0A-9367-8564A62D3035}"/>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exists today</a:t>
            </a:r>
          </a:p>
        </p:txBody>
      </p:sp>
      <p:sp>
        <p:nvSpPr>
          <p:cNvPr id="11" name="Assigned accounts, open orders">
            <a:extLst>
              <a:ext uri="{FF2B5EF4-FFF2-40B4-BE49-F238E27FC236}">
                <a16:creationId xmlns:a16="http://schemas.microsoft.com/office/drawing/2014/main" id="{67B7F3BE-0545-4941-8818-D30CF7AECE75}"/>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Assigned accounts, open orders</a:t>
            </a:r>
          </a:p>
        </p:txBody>
      </p:sp>
      <p:sp>
        <p:nvSpPr>
          <p:cNvPr id="12" name="Live evaluations, delivery risks">
            <a:extLst>
              <a:ext uri="{FF2B5EF4-FFF2-40B4-BE49-F238E27FC236}">
                <a16:creationId xmlns:a16="http://schemas.microsoft.com/office/drawing/2014/main" id="{E2CA716B-C328-4642-A188-6CA27992E272}"/>
              </a:ext>
            </a:extLst>
          </p:cNvPr>
          <p:cNvSpPr>
            <a:spLocks noGrp="1"/>
          </p:cNvSpPr>
          <p:nvPr/>
        </p:nvSpPr>
        <p:spPr>
          <a:xfrm>
            <a:off x="6096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Live evaluations, delivery risks</a:t>
            </a:r>
          </a:p>
        </p:txBody>
      </p:sp>
      <p:sp>
        <p:nvSpPr>
          <p:cNvPr id="14" name="Sales Engineering capacity">
            <a:extLst>
              <a:ext uri="{FF2B5EF4-FFF2-40B4-BE49-F238E27FC236}">
                <a16:creationId xmlns:a16="http://schemas.microsoft.com/office/drawing/2014/main" id="{EBF68B23-F760-470A-810C-3E64D3A79472}"/>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Sales Engineering capacity</a:t>
            </a:r>
          </a:p>
        </p:txBody>
      </p:sp>
      <p:sp>
        <p:nvSpPr>
          <p:cNvPr id="15" name="ico-Context">
            <a:extLst>
              <a:ext uri="{FF2B5EF4-FFF2-40B4-BE49-F238E27FC236}">
                <a16:creationId xmlns:a16="http://schemas.microsoft.com/office/drawing/2014/main" id="{C42FC54C-0E2C-474A-9955-58C20916616D}"/>
              </a:ext>
            </a:extLst>
          </p:cNvPr>
          <p:cNvSpPr>
            <a:spLocks noGrp="1"/>
          </p:cNvSpPr>
          <p:nvPr/>
        </p:nvSpPr>
        <p:spPr>
          <a:xfrm>
            <a:off x="3333750" y="1619250"/>
            <a:ext cx="108585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dirty="0">
                <a:solidFill>
                  <a:srgbClr val="202124"/>
                </a:solidFill>
                <a:latin typeface="Arial"/>
                <a:ea typeface="Arial"/>
                <a:cs typeface="Arial"/>
              </a:rPr>
              <a:t>Do</a:t>
            </a:r>
          </a:p>
        </p:txBody>
      </p:sp>
      <p:sp>
        <p:nvSpPr>
          <p:cNvPr id="17" name="Straight Connector 16">
            <a:extLst>
              <a:ext uri="{FF2B5EF4-FFF2-40B4-BE49-F238E27FC236}">
                <a16:creationId xmlns:a16="http://schemas.microsoft.com/office/drawing/2014/main" id="{7BA5DD8C-D24B-4BD4-B55D-B030D94C6C33}"/>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Protect and open&#10;in parallel">
            <a:extLst>
              <a:ext uri="{FF2B5EF4-FFF2-40B4-BE49-F238E27FC236}">
                <a16:creationId xmlns:a16="http://schemas.microsoft.com/office/drawing/2014/main" id="{D44BCB12-BB4C-45E1-9475-7FC4A0E54917}"/>
              </a:ext>
            </a:extLst>
          </p:cNvPr>
          <p:cNvSpPr>
            <a:spLocks noGrp="1"/>
          </p:cNvSpPr>
          <p:nvPr/>
        </p:nvSpPr>
        <p:spPr>
          <a:xfrm>
            <a:off x="333375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Protect and open</a:t>
            </a:r>
          </a:p>
          <a:p>
            <a:pPr>
              <a:defRPr sz="1425" b="1">
                <a:solidFill>
                  <a:srgbClr val="202124"/>
                </a:solidFill>
                <a:latin typeface="Arial"/>
                <a:ea typeface="Arial"/>
                <a:cs typeface="Arial"/>
              </a:defRPr>
            </a:pPr>
            <a:r>
              <a:rPr sz="1425" b="1">
                <a:solidFill>
                  <a:srgbClr val="202124"/>
                </a:solidFill>
                <a:latin typeface="Arial"/>
                <a:ea typeface="Arial"/>
                <a:cs typeface="Arial"/>
              </a:rPr>
              <a:t>in parallel</a:t>
            </a:r>
          </a:p>
        </p:txBody>
      </p:sp>
      <p:sp>
        <p:nvSpPr>
          <p:cNvPr id="19" name="Existing: act on urgent risks">
            <a:extLst>
              <a:ext uri="{FF2B5EF4-FFF2-40B4-BE49-F238E27FC236}">
                <a16:creationId xmlns:a16="http://schemas.microsoft.com/office/drawing/2014/main" id="{775E5025-409F-443D-8EC5-2B10428F9888}"/>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urgent risks, what’s next</a:t>
            </a:r>
          </a:p>
        </p:txBody>
      </p:sp>
      <p:sp>
        <p:nvSpPr>
          <p:cNvPr id="20" name="Existing: ask what comes next">
            <a:extLst>
              <a:ext uri="{FF2B5EF4-FFF2-40B4-BE49-F238E27FC236}">
                <a16:creationId xmlns:a16="http://schemas.microsoft.com/office/drawing/2014/main" id="{5FAB92CF-A05C-47E5-BBEC-0CDE6BB62A2E}"/>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reconcile my map with CRM</a:t>
            </a:r>
          </a:p>
        </p:txBody>
      </p:sp>
      <p:sp>
        <p:nvSpPr>
          <p:cNvPr id="21" name="New: reconcile my map with CRM">
            <a:extLst>
              <a:ext uri="{FF2B5EF4-FFF2-40B4-BE49-F238E27FC236}">
                <a16:creationId xmlns:a16="http://schemas.microsoft.com/office/drawing/2014/main" id="{CC4DCEEC-7B88-41DF-A4BC-8D3DB980CA86}"/>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first programme calls</a:t>
            </a:r>
          </a:p>
        </p:txBody>
      </p:sp>
      <p:sp>
        <p:nvSpPr>
          <p:cNvPr id="23" name="ico-Output">
            <a:extLst>
              <a:ext uri="{FF2B5EF4-FFF2-40B4-BE49-F238E27FC236}">
                <a16:creationId xmlns:a16="http://schemas.microsoft.com/office/drawing/2014/main" id="{4FC7E7C6-3D78-4875-A2AE-99EE6A240E03}"/>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DC0A1B63-605D-42F8-B0B6-1810938A8895}"/>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An agreed account&#10;baseline">
            <a:extLst>
              <a:ext uri="{FF2B5EF4-FFF2-40B4-BE49-F238E27FC236}">
                <a16:creationId xmlns:a16="http://schemas.microsoft.com/office/drawing/2014/main" id="{9D8AD680-C282-492A-B7DF-1F129AE86B72}"/>
              </a:ext>
            </a:extLst>
          </p:cNvPr>
          <p:cNvSpPr>
            <a:spLocks noGrp="1"/>
          </p:cNvSpPr>
          <p:nvPr/>
        </p:nvSpPr>
        <p:spPr>
          <a:xfrm>
            <a:off x="605790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An agreed account</a:t>
            </a:r>
          </a:p>
          <a:p>
            <a:pPr>
              <a:defRPr sz="1425" b="1">
                <a:solidFill>
                  <a:srgbClr val="202124"/>
                </a:solidFill>
                <a:latin typeface="Arial"/>
                <a:ea typeface="Arial"/>
                <a:cs typeface="Arial"/>
              </a:defRPr>
            </a:pPr>
            <a:r>
              <a:rPr sz="1425" b="1">
                <a:solidFill>
                  <a:srgbClr val="202124"/>
                </a:solidFill>
                <a:latin typeface="Arial"/>
                <a:ea typeface="Arial"/>
                <a:cs typeface="Arial"/>
              </a:rPr>
              <a:t>baseline</a:t>
            </a:r>
          </a:p>
        </p:txBody>
      </p:sp>
      <p:sp>
        <p:nvSpPr>
          <p:cNvPr id="27" name="Priorities with named owners">
            <a:extLst>
              <a:ext uri="{FF2B5EF4-FFF2-40B4-BE49-F238E27FC236}">
                <a16:creationId xmlns:a16="http://schemas.microsoft.com/office/drawing/2014/main" id="{CEA705B9-CDE0-4709-877F-A0DA234B94E5}"/>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20 priority accounts (proposed)</a:t>
            </a:r>
          </a:p>
        </p:txBody>
      </p:sp>
      <p:sp>
        <p:nvSpPr>
          <p:cNvPr id="28" name="A customer action and a date">
            <a:extLst>
              <a:ext uri="{FF2B5EF4-FFF2-40B4-BE49-F238E27FC236}">
                <a16:creationId xmlns:a16="http://schemas.microsoft.com/office/drawing/2014/main" id="{B64E1C76-B6F8-4188-9034-E886FA8A3BDB}"/>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Each with an owner and a date</a:t>
            </a:r>
          </a:p>
        </p:txBody>
      </p:sp>
      <p:sp>
        <p:nvSpPr>
          <p:cNvPr id="29" name="Stage criteria agreed">
            <a:extLst>
              <a:ext uri="{FF2B5EF4-FFF2-40B4-BE49-F238E27FC236}">
                <a16:creationId xmlns:a16="http://schemas.microsoft.com/office/drawing/2014/main" id="{2C93C6EC-B7ED-4303-9A6C-5A45C0D63C26}"/>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First customer meetings secured</a:t>
            </a:r>
          </a:p>
        </p:txBody>
      </p:sp>
      <p:sp>
        <p:nvSpPr>
          <p:cNvPr id="31" name="Straight Connector 30">
            <a:extLst>
              <a:ext uri="{FF2B5EF4-FFF2-40B4-BE49-F238E27FC236}">
                <a16:creationId xmlns:a16="http://schemas.microsoft.com/office/drawing/2014/main" id="{29438C69-6B0D-4F8D-8C44-585FC9143247}"/>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30-day output">
            <a:extLst>
              <a:ext uri="{FF2B5EF4-FFF2-40B4-BE49-F238E27FC236}">
                <a16:creationId xmlns:a16="http://schemas.microsoft.com/office/drawing/2014/main" id="{513D7343-3F68-4B4C-B609-A92169A16A16}"/>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30-day output</a:t>
            </a:r>
          </a:p>
        </p:txBody>
      </p:sp>
      <p:sp>
        <p:nvSpPr>
          <p:cNvPr id="33" name="Agreed priorities, each with an owner, a customer actio">
            <a:extLst>
              <a:ext uri="{FF2B5EF4-FFF2-40B4-BE49-F238E27FC236}">
                <a16:creationId xmlns:a16="http://schemas.microsoft.com/office/drawing/2014/main" id="{FFA5C520-B27C-431A-8D38-641ECF4FD20D}"/>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~20 priorities with owners, and first customer meetings secured.</a:t>
            </a:r>
          </a:p>
        </p:txBody>
      </p:sp>
      <p:sp>
        <p:nvSpPr>
          <p:cNvPr id="13" name="ico-Input">
            <a:extLst>
              <a:ext uri="{FF2B5EF4-FFF2-40B4-BE49-F238E27FC236}">
                <a16:creationId xmlns:a16="http://schemas.microsoft.com/office/drawing/2014/main" id="{CAC52694-D9ED-B701-572D-ECCC101C83AC}"/>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ea typeface="Arial"/>
                <a:cs typeface="Arial"/>
              </a:rPr>
              <a:t>Inherit</a:t>
            </a:r>
            <a:endParaRPr sz="1200" b="1" dirty="0">
              <a:solidFill>
                <a:srgbClr val="202124"/>
              </a:solidFill>
              <a:latin typeface="Arial"/>
              <a:ea typeface="Arial"/>
              <a:cs typeface="Arial"/>
            </a:endParaRPr>
          </a:p>
        </p:txBody>
      </p:sp>
    </p:spTree>
    <p:extLst>
      <p:ext uri="{BB962C8B-B14F-4D97-AF65-F5344CB8AC3E}">
        <p14:creationId xmlns:p14="http://schemas.microsoft.com/office/powerpoint/2010/main" val="1426743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EFD24E68-575D-49A7-A49F-78BEC8DA8566}"/>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3D28A327-4951-49C8-93B3-45E176FB9AF4}"/>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11</a:t>
            </a:r>
          </a:p>
        </p:txBody>
      </p:sp>
      <p:sp>
        <p:nvSpPr>
          <p:cNvPr id="3" name="slide-title">
            <a:extLst>
              <a:ext uri="{FF2B5EF4-FFF2-40B4-BE49-F238E27FC236}">
                <a16:creationId xmlns:a16="http://schemas.microsoft.com/office/drawing/2014/main" id="{8ECF3E2A-1271-4688-A8F8-0F17A4D95583}"/>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31–60  ·  Turn qualified interest</a:t>
            </a:r>
          </a:p>
          <a:p>
            <a:pPr>
              <a:defRPr sz="2325" b="1">
                <a:solidFill>
                  <a:srgbClr val="202124"/>
                </a:solidFill>
                <a:latin typeface="Arial"/>
                <a:ea typeface="Arial"/>
                <a:cs typeface="Arial"/>
              </a:defRPr>
            </a:pPr>
            <a:r>
              <a:rPr sz="2325" b="1">
                <a:solidFill>
                  <a:srgbClr val="202124"/>
                </a:solidFill>
                <a:latin typeface="Arial"/>
                <a:ea typeface="Arial"/>
                <a:cs typeface="Arial"/>
              </a:rPr>
              <a:t>into customer commitments</a:t>
            </a:r>
          </a:p>
        </p:txBody>
      </p:sp>
      <p:sp>
        <p:nvSpPr>
          <p:cNvPr id="4" name="marker-30">
            <a:extLst>
              <a:ext uri="{FF2B5EF4-FFF2-40B4-BE49-F238E27FC236}">
                <a16:creationId xmlns:a16="http://schemas.microsoft.com/office/drawing/2014/main" id="{474BB4FA-D0C2-47BE-A1DD-6FC9A39A0997}"/>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a:ext uri="{FF2B5EF4-FFF2-40B4-BE49-F238E27FC236}">
                <a16:creationId xmlns:a16="http://schemas.microsoft.com/office/drawing/2014/main" id="{70E9D49E-13F5-4CEA-98E8-74BD505757F9}"/>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60</a:t>
            </a:r>
          </a:p>
        </p:txBody>
      </p:sp>
      <p:sp>
        <p:nvSpPr>
          <p:cNvPr id="6" name="marker-90">
            <a:extLst>
              <a:ext uri="{FF2B5EF4-FFF2-40B4-BE49-F238E27FC236}">
                <a16:creationId xmlns:a16="http://schemas.microsoft.com/office/drawing/2014/main" id="{47021A9B-2893-411E-995D-7ABB034AA138}"/>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90</a:t>
            </a:r>
          </a:p>
        </p:txBody>
      </p:sp>
      <p:sp>
        <p:nvSpPr>
          <p:cNvPr id="9" name="Straight Connector 8">
            <a:extLst>
              <a:ext uri="{FF2B5EF4-FFF2-40B4-BE49-F238E27FC236}">
                <a16:creationId xmlns:a16="http://schemas.microsoft.com/office/drawing/2014/main" id="{02E6B075-3169-4444-8549-7316F5DD92DE}"/>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month one gave us">
            <a:extLst>
              <a:ext uri="{FF2B5EF4-FFF2-40B4-BE49-F238E27FC236}">
                <a16:creationId xmlns:a16="http://schemas.microsoft.com/office/drawing/2014/main" id="{02E08567-C878-4FB2-92D9-417E86D279EF}"/>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month one gave us</a:t>
            </a:r>
          </a:p>
        </p:txBody>
      </p:sp>
      <p:sp>
        <p:nvSpPr>
          <p:cNvPr id="11" name="Agreed priorities">
            <a:extLst>
              <a:ext uri="{FF2B5EF4-FFF2-40B4-BE49-F238E27FC236}">
                <a16:creationId xmlns:a16="http://schemas.microsoft.com/office/drawing/2014/main" id="{A982178C-E337-4ED9-B55B-1EEEAF61E252}"/>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Agreed priorities</a:t>
            </a:r>
          </a:p>
        </p:txBody>
      </p:sp>
      <p:sp>
        <p:nvSpPr>
          <p:cNvPr id="12" name="Customer requirements">
            <a:extLst>
              <a:ext uri="{FF2B5EF4-FFF2-40B4-BE49-F238E27FC236}">
                <a16:creationId xmlns:a16="http://schemas.microsoft.com/office/drawing/2014/main" id="{C1A1FC93-2772-439C-B495-E7F6D18DF852}"/>
              </a:ext>
            </a:extLst>
          </p:cNvPr>
          <p:cNvSpPr>
            <a:spLocks noGrp="1"/>
          </p:cNvSpPr>
          <p:nvPr/>
        </p:nvSpPr>
        <p:spPr>
          <a:xfrm>
            <a:off x="6096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Customer requirements</a:t>
            </a:r>
          </a:p>
        </p:txBody>
      </p:sp>
      <p:sp>
        <p:nvSpPr>
          <p:cNvPr id="14" name="Confirmed SE capacity">
            <a:extLst>
              <a:ext uri="{FF2B5EF4-FFF2-40B4-BE49-F238E27FC236}">
                <a16:creationId xmlns:a16="http://schemas.microsoft.com/office/drawing/2014/main" id="{31C31E77-6C43-46AA-BAE3-600B0C4BFF12}"/>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Confirmed SE capacity</a:t>
            </a:r>
          </a:p>
        </p:txBody>
      </p:sp>
      <p:sp>
        <p:nvSpPr>
          <p:cNvPr id="15" name="ico-Context">
            <a:extLst>
              <a:ext uri="{FF2B5EF4-FFF2-40B4-BE49-F238E27FC236}">
                <a16:creationId xmlns:a16="http://schemas.microsoft.com/office/drawing/2014/main" id="{E788C108-0EC5-4C6D-B0DD-79582CDB6DAF}"/>
              </a:ext>
            </a:extLst>
          </p:cNvPr>
          <p:cNvSpPr>
            <a:spLocks noGrp="1"/>
          </p:cNvSpPr>
          <p:nvPr/>
        </p:nvSpPr>
        <p:spPr>
          <a:xfrm>
            <a:off x="3333750" y="1619250"/>
            <a:ext cx="123825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dirty="0">
                <a:solidFill>
                  <a:srgbClr val="202124"/>
                </a:solidFill>
                <a:latin typeface="Arial"/>
                <a:ea typeface="Arial"/>
                <a:cs typeface="Arial"/>
              </a:rPr>
              <a:t>Do</a:t>
            </a:r>
            <a:endParaRPr sz="1200" b="1" dirty="0">
              <a:solidFill>
                <a:srgbClr val="202124"/>
              </a:solidFill>
              <a:latin typeface="Arial"/>
              <a:ea typeface="Arial"/>
              <a:cs typeface="Arial"/>
            </a:endParaRPr>
          </a:p>
        </p:txBody>
      </p:sp>
      <p:sp>
        <p:nvSpPr>
          <p:cNvPr id="17" name="Straight Connector 16">
            <a:extLst>
              <a:ext uri="{FF2B5EF4-FFF2-40B4-BE49-F238E27FC236}">
                <a16:creationId xmlns:a16="http://schemas.microsoft.com/office/drawing/2014/main" id="{DCF7B314-FD56-4D97-A7DD-EA71FEADFF1D}"/>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Commit only to real tests">
            <a:extLst>
              <a:ext uri="{FF2B5EF4-FFF2-40B4-BE49-F238E27FC236}">
                <a16:creationId xmlns:a16="http://schemas.microsoft.com/office/drawing/2014/main" id="{440CA295-E960-482A-AC27-56914C1E768F}"/>
              </a:ext>
            </a:extLst>
          </p:cNvPr>
          <p:cNvSpPr>
            <a:spLocks noGrp="1"/>
          </p:cNvSpPr>
          <p:nvPr/>
        </p:nvSpPr>
        <p:spPr>
          <a:xfrm>
            <a:off x="333375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Commit only to real tests</a:t>
            </a:r>
          </a:p>
        </p:txBody>
      </p:sp>
      <p:sp>
        <p:nvSpPr>
          <p:cNvPr id="19" name="Existing: scope expansion">
            <a:extLst>
              <a:ext uri="{FF2B5EF4-FFF2-40B4-BE49-F238E27FC236}">
                <a16:creationId xmlns:a16="http://schemas.microsoft.com/office/drawing/2014/main" id="{35229759-A128-463F-B025-4F226387F4FA}"/>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expansion, delivery</a:t>
            </a:r>
          </a:p>
        </p:txBody>
      </p:sp>
      <p:sp>
        <p:nvSpPr>
          <p:cNvPr id="20" name="Existing: keep delivery on track">
            <a:extLst>
              <a:ext uri="{FF2B5EF4-FFF2-40B4-BE49-F238E27FC236}">
                <a16:creationId xmlns:a16="http://schemas.microsoft.com/office/drawing/2014/main" id="{74DEFA97-448E-4E90-8085-10BD476494C2}"/>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sponsor, criteria, date</a:t>
            </a:r>
          </a:p>
        </p:txBody>
      </p:sp>
      <p:sp>
        <p:nvSpPr>
          <p:cNvPr id="21" name="New: sponsor, criteria, date">
            <a:extLst>
              <a:ext uri="{FF2B5EF4-FFF2-40B4-BE49-F238E27FC236}">
                <a16:creationId xmlns:a16="http://schemas.microsoft.com/office/drawing/2014/main" id="{B6850AB0-E10F-4606-B355-18711D35EA36}"/>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partner on a named deal</a:t>
            </a:r>
          </a:p>
        </p:txBody>
      </p:sp>
      <p:sp>
        <p:nvSpPr>
          <p:cNvPr id="23" name="ico-Output">
            <a:extLst>
              <a:ext uri="{FF2B5EF4-FFF2-40B4-BE49-F238E27FC236}">
                <a16:creationId xmlns:a16="http://schemas.microsoft.com/office/drawing/2014/main" id="{288A8BD2-EFAC-490F-90B8-E85F1ADEBEED}"/>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7397008F-B6D3-473A-BCD5-80CFD8B72F96}"/>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Evaluations with a&#10;customer behind them">
            <a:extLst>
              <a:ext uri="{FF2B5EF4-FFF2-40B4-BE49-F238E27FC236}">
                <a16:creationId xmlns:a16="http://schemas.microsoft.com/office/drawing/2014/main" id="{0133693E-3E22-4CCD-91F0-6FED00839C65}"/>
              </a:ext>
            </a:extLst>
          </p:cNvPr>
          <p:cNvSpPr>
            <a:spLocks noGrp="1"/>
          </p:cNvSpPr>
          <p:nvPr/>
        </p:nvSpPr>
        <p:spPr>
          <a:xfrm>
            <a:off x="6057900" y="1981200"/>
            <a:ext cx="23812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Evaluations with a</a:t>
            </a:r>
          </a:p>
          <a:p>
            <a:pPr>
              <a:defRPr sz="1425" b="1">
                <a:solidFill>
                  <a:srgbClr val="202124"/>
                </a:solidFill>
                <a:latin typeface="Arial"/>
                <a:ea typeface="Arial"/>
                <a:cs typeface="Arial"/>
              </a:defRPr>
            </a:pPr>
            <a:r>
              <a:rPr sz="1425" b="1">
                <a:solidFill>
                  <a:srgbClr val="202124"/>
                </a:solidFill>
                <a:latin typeface="Arial"/>
                <a:ea typeface="Arial"/>
                <a:cs typeface="Arial"/>
              </a:rPr>
              <a:t>customer behind them</a:t>
            </a:r>
          </a:p>
        </p:txBody>
      </p:sp>
      <p:sp>
        <p:nvSpPr>
          <p:cNvPr id="27" name="An owner and a review date">
            <a:extLst>
              <a:ext uri="{FF2B5EF4-FFF2-40B4-BE49-F238E27FC236}">
                <a16:creationId xmlns:a16="http://schemas.microsoft.com/office/drawing/2014/main" id="{49366C45-AF76-49D3-B19B-B25944DCACFA}"/>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4–6 live (proposed, sized to SE)</a:t>
            </a:r>
          </a:p>
        </p:txBody>
      </p:sp>
      <p:sp>
        <p:nvSpPr>
          <p:cNvPr id="28" name="A prioritised queue">
            <a:extLst>
              <a:ext uri="{FF2B5EF4-FFF2-40B4-BE49-F238E27FC236}">
                <a16:creationId xmlns:a16="http://schemas.microsoft.com/office/drawing/2014/main" id="{C6C3ED84-3E93-47FF-A373-5DC0AAA58AB3}"/>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An owner and a review date</a:t>
            </a:r>
          </a:p>
        </p:txBody>
      </p:sp>
      <p:sp>
        <p:nvSpPr>
          <p:cNvPr id="29" name="Blockers, with a recommendation">
            <a:extLst>
              <a:ext uri="{FF2B5EF4-FFF2-40B4-BE49-F238E27FC236}">
                <a16:creationId xmlns:a16="http://schemas.microsoft.com/office/drawing/2014/main" id="{24FA4A7E-05CF-4C15-86CA-4F57CACEFC95}"/>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Blockers, with a recommendation</a:t>
            </a:r>
          </a:p>
        </p:txBody>
      </p:sp>
      <p:sp>
        <p:nvSpPr>
          <p:cNvPr id="31" name="Straight Connector 30">
            <a:extLst>
              <a:ext uri="{FF2B5EF4-FFF2-40B4-BE49-F238E27FC236}">
                <a16:creationId xmlns:a16="http://schemas.microsoft.com/office/drawing/2014/main" id="{2631EF9A-FB27-499A-AAE9-43086D53B557}"/>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60-day output">
            <a:extLst>
              <a:ext uri="{FF2B5EF4-FFF2-40B4-BE49-F238E27FC236}">
                <a16:creationId xmlns:a16="http://schemas.microsoft.com/office/drawing/2014/main" id="{0F75EEFF-1145-4BBD-A304-BD017E5E2FA4}"/>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60-day output</a:t>
            </a:r>
          </a:p>
        </p:txBody>
      </p:sp>
      <p:sp>
        <p:nvSpPr>
          <p:cNvPr id="33" name="A customer commitment behind every active evaluation.">
            <a:extLst>
              <a:ext uri="{FF2B5EF4-FFF2-40B4-BE49-F238E27FC236}">
                <a16:creationId xmlns:a16="http://schemas.microsoft.com/office/drawing/2014/main" id="{656E4752-8C1E-4ACE-8E87-A8B7176558D6}"/>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4–6 evaluations, each with a customer commitment behind it.</a:t>
            </a:r>
          </a:p>
        </p:txBody>
      </p:sp>
      <p:sp>
        <p:nvSpPr>
          <p:cNvPr id="13" name="ico-Input">
            <a:extLst>
              <a:ext uri="{FF2B5EF4-FFF2-40B4-BE49-F238E27FC236}">
                <a16:creationId xmlns:a16="http://schemas.microsoft.com/office/drawing/2014/main" id="{FDBCB591-D54A-C2A7-60C4-A6B46D5B4F9C}"/>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rPr>
              <a:t>Inherit</a:t>
            </a:r>
            <a:endParaRPr sz="1200" b="1" dirty="0">
              <a:solidFill>
                <a:srgbClr val="202124"/>
              </a:solidFill>
              <a:latin typeface="Arial"/>
              <a:ea typeface="Arial"/>
              <a:cs typeface="Arial"/>
            </a:endParaRPr>
          </a:p>
        </p:txBody>
      </p:sp>
    </p:spTree>
    <p:extLst>
      <p:ext uri="{BB962C8B-B14F-4D97-AF65-F5344CB8AC3E}">
        <p14:creationId xmlns:p14="http://schemas.microsoft.com/office/powerpoint/2010/main" val="1508294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section-label">
            <a:extLst>
              <a:ext uri="{FF2B5EF4-FFF2-40B4-BE49-F238E27FC236}">
                <a16:creationId xmlns:a16="http://schemas.microsoft.com/office/drawing/2014/main" id="{9146D64D-066F-4387-ACE4-AED270C7F38B}"/>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30-60-90 plan</a:t>
            </a:r>
          </a:p>
        </p:txBody>
      </p:sp>
      <p:sp>
        <p:nvSpPr>
          <p:cNvPr id="2" name="page-number">
            <a:extLst>
              <a:ext uri="{FF2B5EF4-FFF2-40B4-BE49-F238E27FC236}">
                <a16:creationId xmlns:a16="http://schemas.microsoft.com/office/drawing/2014/main" id="{07985F08-D08F-430F-9301-DCE377438870}"/>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12</a:t>
            </a:r>
          </a:p>
        </p:txBody>
      </p:sp>
      <p:sp>
        <p:nvSpPr>
          <p:cNvPr id="3" name="slide-title">
            <a:extLst>
              <a:ext uri="{FF2B5EF4-FFF2-40B4-BE49-F238E27FC236}">
                <a16:creationId xmlns:a16="http://schemas.microsoft.com/office/drawing/2014/main" id="{6E3CBE4F-5306-4B7A-8645-79835BDF872C}"/>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Days 61–90  ·  Turn customer evidence</a:t>
            </a:r>
          </a:p>
          <a:p>
            <a:pPr>
              <a:defRPr sz="2325" b="1">
                <a:solidFill>
                  <a:srgbClr val="202124"/>
                </a:solidFill>
                <a:latin typeface="Arial"/>
                <a:ea typeface="Arial"/>
                <a:cs typeface="Arial"/>
              </a:defRPr>
            </a:pPr>
            <a:r>
              <a:rPr sz="2325" b="1">
                <a:solidFill>
                  <a:srgbClr val="202124"/>
                </a:solidFill>
                <a:latin typeface="Arial"/>
                <a:ea typeface="Arial"/>
                <a:cs typeface="Arial"/>
              </a:rPr>
              <a:t>into decisions and a forecast</a:t>
            </a:r>
          </a:p>
        </p:txBody>
      </p:sp>
      <p:sp>
        <p:nvSpPr>
          <p:cNvPr id="4" name="marker-30">
            <a:extLst>
              <a:ext uri="{FF2B5EF4-FFF2-40B4-BE49-F238E27FC236}">
                <a16:creationId xmlns:a16="http://schemas.microsoft.com/office/drawing/2014/main" id="{01108CD0-3219-4C31-84FF-EC2966CFF21C}"/>
              </a:ext>
            </a:extLst>
          </p:cNvPr>
          <p:cNvSpPr>
            <a:spLocks noGrp="1"/>
          </p:cNvSpPr>
          <p:nvPr/>
        </p:nvSpPr>
        <p:spPr>
          <a:xfrm>
            <a:off x="735330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30</a:t>
            </a:r>
          </a:p>
        </p:txBody>
      </p:sp>
      <p:sp>
        <p:nvSpPr>
          <p:cNvPr id="5" name="marker-60">
            <a:extLst>
              <a:ext uri="{FF2B5EF4-FFF2-40B4-BE49-F238E27FC236}">
                <a16:creationId xmlns:a16="http://schemas.microsoft.com/office/drawing/2014/main" id="{85F361FC-CBE4-49EF-B771-C679B924CBD3}"/>
              </a:ext>
            </a:extLst>
          </p:cNvPr>
          <p:cNvSpPr>
            <a:spLocks noGrp="1"/>
          </p:cNvSpPr>
          <p:nvPr/>
        </p:nvSpPr>
        <p:spPr>
          <a:xfrm>
            <a:off x="7639050" y="304800"/>
            <a:ext cx="247650" cy="152400"/>
          </a:xfrm>
          <a:prstGeom prst="rect">
            <a:avLst/>
          </a:prstGeom>
          <a:noFill/>
          <a:ln w="0">
            <a:noFill/>
          </a:ln>
        </p:spPr>
        <p:txBody>
          <a:bodyPr lIns="0" tIns="0" rIns="0" bIns="0" anchor="t">
            <a:noAutofit/>
          </a:bodyPr>
          <a:lstStyle/>
          <a:p>
            <a:pPr>
              <a:defRPr sz="900" b="1">
                <a:solidFill>
                  <a:srgbClr val="8A8E93"/>
                </a:solidFill>
                <a:latin typeface="Arial"/>
                <a:ea typeface="Arial"/>
                <a:cs typeface="Arial"/>
              </a:defRPr>
            </a:pPr>
            <a:r>
              <a:rPr sz="900" b="1">
                <a:solidFill>
                  <a:srgbClr val="8A8E93"/>
                </a:solidFill>
                <a:latin typeface="Arial"/>
                <a:ea typeface="Arial"/>
                <a:cs typeface="Arial"/>
              </a:rPr>
              <a:t>60</a:t>
            </a:r>
          </a:p>
        </p:txBody>
      </p:sp>
      <p:sp>
        <p:nvSpPr>
          <p:cNvPr id="6" name="marker-90">
            <a:extLst>
              <a:ext uri="{FF2B5EF4-FFF2-40B4-BE49-F238E27FC236}">
                <a16:creationId xmlns:a16="http://schemas.microsoft.com/office/drawing/2014/main" id="{123EB88D-2C9C-4A77-836C-C4F2DED79784}"/>
              </a:ext>
            </a:extLst>
          </p:cNvPr>
          <p:cNvSpPr>
            <a:spLocks noGrp="1"/>
          </p:cNvSpPr>
          <p:nvPr/>
        </p:nvSpPr>
        <p:spPr>
          <a:xfrm>
            <a:off x="7924800" y="304800"/>
            <a:ext cx="2476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90</a:t>
            </a:r>
          </a:p>
        </p:txBody>
      </p:sp>
      <p:sp>
        <p:nvSpPr>
          <p:cNvPr id="7" name="ico-Input">
            <a:extLst>
              <a:ext uri="{FF2B5EF4-FFF2-40B4-BE49-F238E27FC236}">
                <a16:creationId xmlns:a16="http://schemas.microsoft.com/office/drawing/2014/main" id="{AF3B28C9-CB8A-418C-8E48-C13ADD636D30}"/>
              </a:ext>
            </a:extLst>
          </p:cNvPr>
          <p:cNvSpPr>
            <a:spLocks noGrp="1"/>
          </p:cNvSpPr>
          <p:nvPr/>
        </p:nvSpPr>
        <p:spPr>
          <a:xfrm>
            <a:off x="609600" y="1619250"/>
            <a:ext cx="15240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lang="en-US" sz="1200" b="1" dirty="0">
                <a:solidFill>
                  <a:srgbClr val="202124"/>
                </a:solidFill>
                <a:latin typeface="Arial"/>
                <a:ea typeface="Arial"/>
                <a:cs typeface="Arial"/>
              </a:rPr>
              <a:t>Inherit</a:t>
            </a:r>
            <a:endParaRPr sz="1200" b="1" dirty="0">
              <a:solidFill>
                <a:srgbClr val="202124"/>
              </a:solidFill>
              <a:latin typeface="Arial"/>
              <a:ea typeface="Arial"/>
              <a:cs typeface="Arial"/>
            </a:endParaRPr>
          </a:p>
        </p:txBody>
      </p:sp>
      <p:sp>
        <p:nvSpPr>
          <p:cNvPr id="9" name="Straight Connector 8">
            <a:extLst>
              <a:ext uri="{FF2B5EF4-FFF2-40B4-BE49-F238E27FC236}">
                <a16:creationId xmlns:a16="http://schemas.microsoft.com/office/drawing/2014/main" id="{EE3C997C-81EF-4DB8-BE9E-35F3ABBC559F}"/>
              </a:ext>
            </a:extLst>
          </p:cNvPr>
          <p:cNvSpPr>
            <a:spLocks noGrp="1"/>
          </p:cNvSpPr>
          <p:nvPr/>
        </p:nvSpPr>
        <p:spPr>
          <a:xfrm>
            <a:off x="609600" y="1866900"/>
            <a:ext cx="2381250" cy="0"/>
          </a:xfrm>
          <a:prstGeom prst="line">
            <a:avLst/>
          </a:prstGeom>
          <a:noFill/>
          <a:ln w="9525">
            <a:solidFill>
              <a:srgbClr val="DADCE0"/>
            </a:solidFill>
          </a:ln>
        </p:spPr>
        <p:txBody>
          <a:bodyPr/>
          <a:lstStyle/>
          <a:p>
            <a:endParaRPr lang="en-US"/>
          </a:p>
        </p:txBody>
      </p:sp>
      <p:sp>
        <p:nvSpPr>
          <p:cNvPr id="10" name="What customers did">
            <a:extLst>
              <a:ext uri="{FF2B5EF4-FFF2-40B4-BE49-F238E27FC236}">
                <a16:creationId xmlns:a16="http://schemas.microsoft.com/office/drawing/2014/main" id="{35DC1E95-1233-49EF-BE15-0766D957DB49}"/>
              </a:ext>
            </a:extLst>
          </p:cNvPr>
          <p:cNvSpPr>
            <a:spLocks noGrp="1"/>
          </p:cNvSpPr>
          <p:nvPr/>
        </p:nvSpPr>
        <p:spPr>
          <a:xfrm>
            <a:off x="6096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What customers did</a:t>
            </a:r>
          </a:p>
        </p:txBody>
      </p:sp>
      <p:sp>
        <p:nvSpPr>
          <p:cNvPr id="11" name="Evaluation results, blockers">
            <a:extLst>
              <a:ext uri="{FF2B5EF4-FFF2-40B4-BE49-F238E27FC236}">
                <a16:creationId xmlns:a16="http://schemas.microsoft.com/office/drawing/2014/main" id="{525D7523-E0DD-4D54-94A6-883FD5E393DE}"/>
              </a:ext>
            </a:extLst>
          </p:cNvPr>
          <p:cNvSpPr>
            <a:spLocks noGrp="1"/>
          </p:cNvSpPr>
          <p:nvPr/>
        </p:nvSpPr>
        <p:spPr>
          <a:xfrm>
            <a:off x="6096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Evaluation results, blockers</a:t>
            </a:r>
          </a:p>
        </p:txBody>
      </p:sp>
      <p:sp>
        <p:nvSpPr>
          <p:cNvPr id="13" name="Production plans">
            <a:extLst>
              <a:ext uri="{FF2B5EF4-FFF2-40B4-BE49-F238E27FC236}">
                <a16:creationId xmlns:a16="http://schemas.microsoft.com/office/drawing/2014/main" id="{B8B21A6A-30B6-4880-882F-56A17A180EF9}"/>
              </a:ext>
            </a:extLst>
          </p:cNvPr>
          <p:cNvSpPr>
            <a:spLocks noGrp="1"/>
          </p:cNvSpPr>
          <p:nvPr/>
        </p:nvSpPr>
        <p:spPr>
          <a:xfrm>
            <a:off x="609600" y="2798064"/>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Production plans</a:t>
            </a:r>
          </a:p>
        </p:txBody>
      </p:sp>
      <p:sp>
        <p:nvSpPr>
          <p:cNvPr id="14" name="Applicable Doodle pricing">
            <a:extLst>
              <a:ext uri="{FF2B5EF4-FFF2-40B4-BE49-F238E27FC236}">
                <a16:creationId xmlns:a16="http://schemas.microsoft.com/office/drawing/2014/main" id="{D0BC3D8A-AF2D-413E-8791-C55CB92CC334}"/>
              </a:ext>
            </a:extLst>
          </p:cNvPr>
          <p:cNvSpPr>
            <a:spLocks noGrp="1"/>
          </p:cNvSpPr>
          <p:nvPr/>
        </p:nvSpPr>
        <p:spPr>
          <a:xfrm>
            <a:off x="609600" y="306324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dirty="0">
                <a:solidFill>
                  <a:srgbClr val="62666A"/>
                </a:solidFill>
                <a:latin typeface="Arial"/>
                <a:ea typeface="Arial"/>
                <a:cs typeface="Arial"/>
              </a:rPr>
              <a:t>Applicable Doodle pricing</a:t>
            </a:r>
          </a:p>
        </p:txBody>
      </p:sp>
      <p:sp>
        <p:nvSpPr>
          <p:cNvPr id="15" name="ico-Context">
            <a:extLst>
              <a:ext uri="{FF2B5EF4-FFF2-40B4-BE49-F238E27FC236}">
                <a16:creationId xmlns:a16="http://schemas.microsoft.com/office/drawing/2014/main" id="{8F88A430-5C4F-4793-84D2-7A59E4F58786}"/>
              </a:ext>
            </a:extLst>
          </p:cNvPr>
          <p:cNvSpPr>
            <a:spLocks noGrp="1"/>
          </p:cNvSpPr>
          <p:nvPr/>
        </p:nvSpPr>
        <p:spPr>
          <a:xfrm>
            <a:off x="3333750" y="1619250"/>
            <a:ext cx="685800" cy="190500"/>
          </a:xfrm>
          <a:prstGeom prst="rect">
            <a:avLst/>
          </a:prstGeom>
          <a:noFill/>
          <a:ln w="0">
            <a:noFill/>
          </a:ln>
        </p:spPr>
        <p:txBody>
          <a:bodyPr lIns="0" tIns="0" rIns="0" bIns="0" anchor="t">
            <a:noAutofit/>
          </a:bodyPr>
          <a:lstStyle/>
          <a:p>
            <a:pPr>
              <a:defRPr sz="1200" b="1">
                <a:solidFill>
                  <a:srgbClr val="202124"/>
                </a:solidFill>
                <a:latin typeface="Arial"/>
                <a:ea typeface="Arial"/>
                <a:cs typeface="Arial"/>
              </a:defRPr>
            </a:pPr>
            <a:r>
              <a:rPr sz="1200" b="1">
                <a:solidFill>
                  <a:srgbClr val="202124"/>
                </a:solidFill>
                <a:latin typeface="Arial"/>
                <a:ea typeface="Arial"/>
                <a:cs typeface="Arial"/>
              </a:rPr>
              <a:t>Do</a:t>
            </a:r>
          </a:p>
        </p:txBody>
      </p:sp>
      <p:sp>
        <p:nvSpPr>
          <p:cNvPr id="17" name="Straight Connector 16">
            <a:extLst>
              <a:ext uri="{FF2B5EF4-FFF2-40B4-BE49-F238E27FC236}">
                <a16:creationId xmlns:a16="http://schemas.microsoft.com/office/drawing/2014/main" id="{4254846C-DC2E-4BBB-A6AA-37375D568786}"/>
              </a:ext>
            </a:extLst>
          </p:cNvPr>
          <p:cNvSpPr>
            <a:spLocks noGrp="1"/>
          </p:cNvSpPr>
          <p:nvPr/>
        </p:nvSpPr>
        <p:spPr>
          <a:xfrm>
            <a:off x="3333750" y="1866900"/>
            <a:ext cx="2381250" cy="0"/>
          </a:xfrm>
          <a:prstGeom prst="line">
            <a:avLst/>
          </a:prstGeom>
          <a:noFill/>
          <a:ln w="9525">
            <a:solidFill>
              <a:srgbClr val="DADCE0"/>
            </a:solidFill>
          </a:ln>
        </p:spPr>
        <p:txBody>
          <a:bodyPr/>
          <a:lstStyle/>
          <a:p>
            <a:endParaRPr lang="en-US"/>
          </a:p>
        </p:txBody>
      </p:sp>
      <p:sp>
        <p:nvSpPr>
          <p:cNvPr id="18" name="Advance, nurture or stop">
            <a:extLst>
              <a:ext uri="{FF2B5EF4-FFF2-40B4-BE49-F238E27FC236}">
                <a16:creationId xmlns:a16="http://schemas.microsoft.com/office/drawing/2014/main" id="{0B54F573-5DB6-43A1-849F-A440BC93D15B}"/>
              </a:ext>
            </a:extLst>
          </p:cNvPr>
          <p:cNvSpPr>
            <a:spLocks noGrp="1"/>
          </p:cNvSpPr>
          <p:nvPr/>
        </p:nvSpPr>
        <p:spPr>
          <a:xfrm>
            <a:off x="333375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Advance, nurture or stop</a:t>
            </a:r>
          </a:p>
        </p:txBody>
      </p:sp>
      <p:sp>
        <p:nvSpPr>
          <p:cNvPr id="19" name="Existing: negotiate expansion">
            <a:extLst>
              <a:ext uri="{FF2B5EF4-FFF2-40B4-BE49-F238E27FC236}">
                <a16:creationId xmlns:a16="http://schemas.microsoft.com/office/drawing/2014/main" id="{E41D2AC2-CD42-490A-90B8-5695C0776DB6}"/>
              </a:ext>
            </a:extLst>
          </p:cNvPr>
          <p:cNvSpPr>
            <a:spLocks noGrp="1"/>
          </p:cNvSpPr>
          <p:nvPr/>
        </p:nvSpPr>
        <p:spPr>
          <a:xfrm>
            <a:off x="333375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expansion and orders</a:t>
            </a:r>
          </a:p>
        </p:txBody>
      </p:sp>
      <p:sp>
        <p:nvSpPr>
          <p:cNvPr id="20" name="Existing: orders where ready">
            <a:extLst>
              <a:ext uri="{FF2B5EF4-FFF2-40B4-BE49-F238E27FC236}">
                <a16:creationId xmlns:a16="http://schemas.microsoft.com/office/drawing/2014/main" id="{237F3B4D-83FE-444A-BED0-E6B87B58DC3D}"/>
              </a:ext>
            </a:extLst>
          </p:cNvPr>
          <p:cNvSpPr>
            <a:spLocks noGrp="1"/>
          </p:cNvSpPr>
          <p:nvPr/>
        </p:nvSpPr>
        <p:spPr>
          <a:xfrm>
            <a:off x="333375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next sourcing step</a:t>
            </a:r>
          </a:p>
        </p:txBody>
      </p:sp>
      <p:sp>
        <p:nvSpPr>
          <p:cNvPr id="21" name="New: next sourcing step">
            <a:extLst>
              <a:ext uri="{FF2B5EF4-FFF2-40B4-BE49-F238E27FC236}">
                <a16:creationId xmlns:a16="http://schemas.microsoft.com/office/drawing/2014/main" id="{5351DA0F-A232-4114-90F3-52F9D66D06A7}"/>
              </a:ext>
            </a:extLst>
          </p:cNvPr>
          <p:cNvSpPr>
            <a:spLocks noGrp="1"/>
          </p:cNvSpPr>
          <p:nvPr/>
        </p:nvSpPr>
        <p:spPr>
          <a:xfrm>
            <a:off x="333375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New: stop, with the reason</a:t>
            </a:r>
          </a:p>
        </p:txBody>
      </p:sp>
      <p:sp>
        <p:nvSpPr>
          <p:cNvPr id="23" name="ico-Output">
            <a:extLst>
              <a:ext uri="{FF2B5EF4-FFF2-40B4-BE49-F238E27FC236}">
                <a16:creationId xmlns:a16="http://schemas.microsoft.com/office/drawing/2014/main" id="{E60F3F62-4ECE-4B05-B46B-CC53649D3236}"/>
              </a:ext>
            </a:extLst>
          </p:cNvPr>
          <p:cNvSpPr>
            <a:spLocks noGrp="1"/>
          </p:cNvSpPr>
          <p:nvPr/>
        </p:nvSpPr>
        <p:spPr>
          <a:xfrm>
            <a:off x="6057900" y="1619250"/>
            <a:ext cx="685800" cy="190500"/>
          </a:xfrm>
          <a:prstGeom prst="rect">
            <a:avLst/>
          </a:prstGeom>
          <a:noFill/>
          <a:ln w="0">
            <a:noFill/>
          </a:ln>
        </p:spPr>
        <p:txBody>
          <a:bodyPr lIns="0" tIns="0" rIns="0" bIns="0" anchor="t">
            <a:noAutofit/>
          </a:bodyPr>
          <a:lstStyle/>
          <a:p>
            <a:pPr>
              <a:defRPr sz="1200" b="1">
                <a:solidFill>
                  <a:srgbClr val="C62828"/>
                </a:solidFill>
                <a:latin typeface="Arial"/>
                <a:ea typeface="Arial"/>
                <a:cs typeface="Arial"/>
              </a:defRPr>
            </a:pPr>
            <a:r>
              <a:rPr sz="1200" b="1">
                <a:solidFill>
                  <a:srgbClr val="C62828"/>
                </a:solidFill>
                <a:latin typeface="Arial"/>
                <a:ea typeface="Arial"/>
                <a:cs typeface="Arial"/>
              </a:rPr>
              <a:t>Deliver</a:t>
            </a:r>
          </a:p>
        </p:txBody>
      </p:sp>
      <p:sp>
        <p:nvSpPr>
          <p:cNvPr id="25" name="Straight Connector 24">
            <a:extLst>
              <a:ext uri="{FF2B5EF4-FFF2-40B4-BE49-F238E27FC236}">
                <a16:creationId xmlns:a16="http://schemas.microsoft.com/office/drawing/2014/main" id="{0B8F2C6E-3D30-4FB5-885E-41F0F8E6FF12}"/>
              </a:ext>
            </a:extLst>
          </p:cNvPr>
          <p:cNvSpPr>
            <a:spLocks noGrp="1"/>
          </p:cNvSpPr>
          <p:nvPr/>
        </p:nvSpPr>
        <p:spPr>
          <a:xfrm>
            <a:off x="6057900" y="1866900"/>
            <a:ext cx="2381250" cy="0"/>
          </a:xfrm>
          <a:prstGeom prst="line">
            <a:avLst/>
          </a:prstGeom>
          <a:noFill/>
          <a:ln w="19050">
            <a:solidFill>
              <a:srgbClr val="C62828"/>
            </a:solidFill>
          </a:ln>
        </p:spPr>
        <p:txBody>
          <a:bodyPr/>
          <a:lstStyle/>
          <a:p>
            <a:endParaRPr lang="en-US"/>
          </a:p>
        </p:txBody>
      </p:sp>
      <p:sp>
        <p:nvSpPr>
          <p:cNvPr id="26" name="A forecast you can audit">
            <a:extLst>
              <a:ext uri="{FF2B5EF4-FFF2-40B4-BE49-F238E27FC236}">
                <a16:creationId xmlns:a16="http://schemas.microsoft.com/office/drawing/2014/main" id="{E82E80C2-00A1-4598-98F3-4480DC1E02CB}"/>
              </a:ext>
            </a:extLst>
          </p:cNvPr>
          <p:cNvSpPr>
            <a:spLocks noGrp="1"/>
          </p:cNvSpPr>
          <p:nvPr/>
        </p:nvSpPr>
        <p:spPr>
          <a:xfrm>
            <a:off x="6057900" y="1981200"/>
            <a:ext cx="2381250" cy="219075"/>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A forecast you can audit</a:t>
            </a:r>
          </a:p>
        </p:txBody>
      </p:sp>
      <p:sp>
        <p:nvSpPr>
          <p:cNvPr id="27" name="Existing and new kept apart">
            <a:extLst>
              <a:ext uri="{FF2B5EF4-FFF2-40B4-BE49-F238E27FC236}">
                <a16:creationId xmlns:a16="http://schemas.microsoft.com/office/drawing/2014/main" id="{6BD020D8-BBF5-4EA7-821C-3A8458BA6DB2}"/>
              </a:ext>
            </a:extLst>
          </p:cNvPr>
          <p:cNvSpPr>
            <a:spLocks noGrp="1"/>
          </p:cNvSpPr>
          <p:nvPr/>
        </p:nvSpPr>
        <p:spPr>
          <a:xfrm>
            <a:off x="6057900" y="25336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Existing and new kept apart</a:t>
            </a:r>
          </a:p>
        </p:txBody>
      </p:sp>
      <p:sp>
        <p:nvSpPr>
          <p:cNvPr id="28" name="Firm, confirmed, assumed apart">
            <a:extLst>
              <a:ext uri="{FF2B5EF4-FFF2-40B4-BE49-F238E27FC236}">
                <a16:creationId xmlns:a16="http://schemas.microsoft.com/office/drawing/2014/main" id="{270AEA34-B3BA-46CA-8F38-78F3272402AC}"/>
              </a:ext>
            </a:extLst>
          </p:cNvPr>
          <p:cNvSpPr>
            <a:spLocks noGrp="1"/>
          </p:cNvSpPr>
          <p:nvPr/>
        </p:nvSpPr>
        <p:spPr>
          <a:xfrm>
            <a:off x="6057900" y="28003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Firm, confirmed, assumed apart</a:t>
            </a:r>
          </a:p>
        </p:txBody>
      </p:sp>
      <p:sp>
        <p:nvSpPr>
          <p:cNvPr id="29" name="Next-quarter accounts agreed">
            <a:extLst>
              <a:ext uri="{FF2B5EF4-FFF2-40B4-BE49-F238E27FC236}">
                <a16:creationId xmlns:a16="http://schemas.microsoft.com/office/drawing/2014/main" id="{EBE02843-4E31-4ABC-9467-455D05BDC20C}"/>
              </a:ext>
            </a:extLst>
          </p:cNvPr>
          <p:cNvSpPr>
            <a:spLocks noGrp="1"/>
          </p:cNvSpPr>
          <p:nvPr/>
        </p:nvSpPr>
        <p:spPr>
          <a:xfrm>
            <a:off x="6057900" y="3067050"/>
            <a:ext cx="2381250" cy="200025"/>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Next-quarter accounts agreed</a:t>
            </a:r>
          </a:p>
        </p:txBody>
      </p:sp>
      <p:sp>
        <p:nvSpPr>
          <p:cNvPr id="31" name="Straight Connector 30">
            <a:extLst>
              <a:ext uri="{FF2B5EF4-FFF2-40B4-BE49-F238E27FC236}">
                <a16:creationId xmlns:a16="http://schemas.microsoft.com/office/drawing/2014/main" id="{56A92A04-A547-49CB-A941-F15AF2809D44}"/>
              </a:ext>
            </a:extLst>
          </p:cNvPr>
          <p:cNvSpPr>
            <a:spLocks noGrp="1"/>
          </p:cNvSpPr>
          <p:nvPr/>
        </p:nvSpPr>
        <p:spPr>
          <a:xfrm>
            <a:off x="609600" y="4114800"/>
            <a:ext cx="7924800" cy="0"/>
          </a:xfrm>
          <a:prstGeom prst="line">
            <a:avLst/>
          </a:prstGeom>
          <a:noFill/>
          <a:ln w="9525">
            <a:solidFill>
              <a:srgbClr val="DADCE0"/>
            </a:solidFill>
          </a:ln>
        </p:spPr>
        <p:txBody>
          <a:bodyPr/>
          <a:lstStyle/>
          <a:p>
            <a:endParaRPr lang="en-US"/>
          </a:p>
        </p:txBody>
      </p:sp>
      <p:sp>
        <p:nvSpPr>
          <p:cNvPr id="32" name="90-day output">
            <a:extLst>
              <a:ext uri="{FF2B5EF4-FFF2-40B4-BE49-F238E27FC236}">
                <a16:creationId xmlns:a16="http://schemas.microsoft.com/office/drawing/2014/main" id="{EA258A35-5ABC-4248-BA13-CC21B2EE1D45}"/>
              </a:ext>
            </a:extLst>
          </p:cNvPr>
          <p:cNvSpPr>
            <a:spLocks noGrp="1"/>
          </p:cNvSpPr>
          <p:nvPr/>
        </p:nvSpPr>
        <p:spPr>
          <a:xfrm>
            <a:off x="609600" y="4267200"/>
            <a:ext cx="1524000" cy="228600"/>
          </a:xfrm>
          <a:prstGeom prst="rect">
            <a:avLst/>
          </a:prstGeom>
          <a:noFill/>
          <a:ln w="0">
            <a:noFill/>
          </a:ln>
        </p:spPr>
        <p:txBody>
          <a:bodyPr lIns="0" tIns="0" rIns="0" bIns="0" anchor="t">
            <a:noAutofit/>
          </a:bodyPr>
          <a:lstStyle/>
          <a:p>
            <a:pPr>
              <a:defRPr sz="1350" b="1">
                <a:solidFill>
                  <a:srgbClr val="C62828"/>
                </a:solidFill>
                <a:latin typeface="Arial"/>
                <a:ea typeface="Arial"/>
                <a:cs typeface="Arial"/>
              </a:defRPr>
            </a:pPr>
            <a:r>
              <a:rPr sz="1350" b="1">
                <a:solidFill>
                  <a:srgbClr val="C62828"/>
                </a:solidFill>
                <a:latin typeface="Arial"/>
                <a:ea typeface="Arial"/>
                <a:cs typeface="Arial"/>
              </a:rPr>
              <a:t>90-day output</a:t>
            </a:r>
          </a:p>
        </p:txBody>
      </p:sp>
      <p:sp>
        <p:nvSpPr>
          <p:cNvPr id="33" name="A forecast you can audit line by line, and a plan for n">
            <a:extLst>
              <a:ext uri="{FF2B5EF4-FFF2-40B4-BE49-F238E27FC236}">
                <a16:creationId xmlns:a16="http://schemas.microsoft.com/office/drawing/2014/main" id="{FDC3D719-19A8-4E55-A0C1-459F4A59620D}"/>
              </a:ext>
            </a:extLst>
          </p:cNvPr>
          <p:cNvSpPr>
            <a:spLocks noGrp="1"/>
          </p:cNvSpPr>
          <p:nvPr/>
        </p:nvSpPr>
        <p:spPr>
          <a:xfrm>
            <a:off x="2133600" y="4267200"/>
            <a:ext cx="6400800" cy="228600"/>
          </a:xfrm>
          <a:prstGeom prst="rect">
            <a:avLst/>
          </a:prstGeom>
          <a:noFill/>
          <a:ln w="0">
            <a:noFill/>
          </a:ln>
        </p:spPr>
        <p:txBody>
          <a:bodyPr lIns="0" tIns="0" rIns="0" bIns="0" anchor="t">
            <a:noAutofit/>
          </a:bodyPr>
          <a:lstStyle/>
          <a:p>
            <a:pPr>
              <a:defRPr sz="1350" b="0">
                <a:solidFill>
                  <a:srgbClr val="202124"/>
                </a:solidFill>
                <a:latin typeface="Arial"/>
                <a:ea typeface="Arial"/>
                <a:cs typeface="Arial"/>
              </a:defRPr>
            </a:pPr>
            <a:r>
              <a:rPr sz="1350" b="0">
                <a:solidFill>
                  <a:srgbClr val="202124"/>
                </a:solidFill>
                <a:latin typeface="Arial"/>
                <a:ea typeface="Arial"/>
                <a:cs typeface="Arial"/>
              </a:rPr>
              <a:t>A forecast you can audit line by line, and a plan for next quarter.</a:t>
            </a:r>
          </a:p>
        </p:txBody>
      </p:sp>
    </p:spTree>
    <p:extLst>
      <p:ext uri="{BB962C8B-B14F-4D97-AF65-F5344CB8AC3E}">
        <p14:creationId xmlns:p14="http://schemas.microsoft.com/office/powerpoint/2010/main" val="6701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ection-label">
            <a:extLst>
              <a:ext uri="{FF2B5EF4-FFF2-40B4-BE49-F238E27FC236}">
                <a16:creationId xmlns:a16="http://schemas.microsoft.com/office/drawing/2014/main" id="{F1631E03-3B51-4254-BF2E-43DE459A04F1}"/>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Scope</a:t>
            </a:r>
          </a:p>
        </p:txBody>
      </p:sp>
      <p:sp>
        <p:nvSpPr>
          <p:cNvPr id="2" name="page-number">
            <a:extLst>
              <a:ext uri="{FF2B5EF4-FFF2-40B4-BE49-F238E27FC236}">
                <a16:creationId xmlns:a16="http://schemas.microsoft.com/office/drawing/2014/main" id="{8685FF08-624B-4BF7-8F32-AC5B02BC40DF}"/>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05</a:t>
            </a:r>
          </a:p>
        </p:txBody>
      </p:sp>
      <p:sp>
        <p:nvSpPr>
          <p:cNvPr id="3" name="slide-title">
            <a:extLst>
              <a:ext uri="{FF2B5EF4-FFF2-40B4-BE49-F238E27FC236}">
                <a16:creationId xmlns:a16="http://schemas.microsoft.com/office/drawing/2014/main" id="{8CC5516E-1B49-4E6E-894F-072FEC943A4C}"/>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Own Southern Europe;</a:t>
            </a:r>
          </a:p>
          <a:p>
            <a:pPr>
              <a:defRPr sz="2325" b="1">
                <a:solidFill>
                  <a:srgbClr val="202124"/>
                </a:solidFill>
                <a:latin typeface="Arial"/>
                <a:ea typeface="Arial"/>
                <a:cs typeface="Arial"/>
              </a:defRPr>
            </a:pPr>
            <a:r>
              <a:rPr sz="2325" b="1">
                <a:solidFill>
                  <a:srgbClr val="202124"/>
                </a:solidFill>
                <a:latin typeface="Arial"/>
                <a:ea typeface="Arial"/>
                <a:cs typeface="Arial"/>
              </a:rPr>
              <a:t>hunt priority OEM accounts across Europe</a:t>
            </a:r>
          </a:p>
        </p:txBody>
      </p:sp>
      <p:sp>
        <p:nvSpPr>
          <p:cNvPr id="4" name="CORE">
            <a:extLst>
              <a:ext uri="{FF2B5EF4-FFF2-40B4-BE49-F238E27FC236}">
                <a16:creationId xmlns:a16="http://schemas.microsoft.com/office/drawing/2014/main" id="{E02D568B-9525-4BF6-ADAD-B5E8B3381845}"/>
              </a:ext>
            </a:extLst>
          </p:cNvPr>
          <p:cNvSpPr>
            <a:spLocks noGrp="1"/>
          </p:cNvSpPr>
          <p:nvPr/>
        </p:nvSpPr>
        <p:spPr>
          <a:xfrm>
            <a:off x="609600" y="172402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CORE</a:t>
            </a:r>
          </a:p>
        </p:txBody>
      </p:sp>
      <p:sp>
        <p:nvSpPr>
          <p:cNvPr id="5" name="France  ·  Italy  ·  Spain  ·  Portugal">
            <a:extLst>
              <a:ext uri="{FF2B5EF4-FFF2-40B4-BE49-F238E27FC236}">
                <a16:creationId xmlns:a16="http://schemas.microsoft.com/office/drawing/2014/main" id="{05C0159A-CDC9-437F-9BBC-288F4F49DA19}"/>
              </a:ext>
            </a:extLst>
          </p:cNvPr>
          <p:cNvSpPr>
            <a:spLocks noGrp="1"/>
          </p:cNvSpPr>
          <p:nvPr/>
        </p:nvSpPr>
        <p:spPr>
          <a:xfrm>
            <a:off x="2381250" y="1676400"/>
            <a:ext cx="6153150" cy="285750"/>
          </a:xfrm>
          <a:prstGeom prst="rect">
            <a:avLst/>
          </a:prstGeom>
          <a:noFill/>
          <a:ln w="0">
            <a:noFill/>
          </a:ln>
        </p:spPr>
        <p:txBody>
          <a:bodyPr lIns="0" tIns="0" rIns="0" bIns="0" anchor="t">
            <a:noAutofit/>
          </a:bodyPr>
          <a:lstStyle/>
          <a:p>
            <a:pPr>
              <a:defRPr sz="1800" b="1">
                <a:solidFill>
                  <a:srgbClr val="202124"/>
                </a:solidFill>
                <a:latin typeface="Arial"/>
                <a:ea typeface="Arial"/>
                <a:cs typeface="Arial"/>
              </a:defRPr>
            </a:pPr>
            <a:r>
              <a:rPr sz="1800" b="1">
                <a:solidFill>
                  <a:srgbClr val="202124"/>
                </a:solidFill>
                <a:latin typeface="Arial"/>
                <a:ea typeface="Arial"/>
                <a:cs typeface="Arial"/>
              </a:rPr>
              <a:t>France  ·  Italy  ·  Spain  ·  Portugal</a:t>
            </a:r>
          </a:p>
        </p:txBody>
      </p:sp>
      <p:sp>
        <p:nvSpPr>
          <p:cNvPr id="6" name="Straight Connector 5">
            <a:extLst>
              <a:ext uri="{FF2B5EF4-FFF2-40B4-BE49-F238E27FC236}">
                <a16:creationId xmlns:a16="http://schemas.microsoft.com/office/drawing/2014/main" id="{1846A91B-9312-4326-8E41-E1FF0716E925}"/>
              </a:ext>
            </a:extLst>
          </p:cNvPr>
          <p:cNvSpPr>
            <a:spLocks noGrp="1"/>
          </p:cNvSpPr>
          <p:nvPr/>
        </p:nvSpPr>
        <p:spPr>
          <a:xfrm>
            <a:off x="609600" y="2095500"/>
            <a:ext cx="7924800" cy="0"/>
          </a:xfrm>
          <a:prstGeom prst="line">
            <a:avLst/>
          </a:prstGeom>
          <a:noFill/>
          <a:ln w="9525">
            <a:solidFill>
              <a:srgbClr val="DADCE0"/>
            </a:solidFill>
          </a:ln>
        </p:spPr>
        <p:txBody>
          <a:bodyPr/>
          <a:lstStyle/>
          <a:p>
            <a:endParaRPr lang="en-US"/>
          </a:p>
        </p:txBody>
      </p:sp>
      <p:sp>
        <p:nvSpPr>
          <p:cNvPr id="7" name="WHY">
            <a:extLst>
              <a:ext uri="{FF2B5EF4-FFF2-40B4-BE49-F238E27FC236}">
                <a16:creationId xmlns:a16="http://schemas.microsoft.com/office/drawing/2014/main" id="{C4EE170B-C889-40C1-A270-DF9094E616EF}"/>
              </a:ext>
            </a:extLst>
          </p:cNvPr>
          <p:cNvSpPr>
            <a:spLocks noGrp="1"/>
          </p:cNvSpPr>
          <p:nvPr/>
        </p:nvSpPr>
        <p:spPr>
          <a:xfrm>
            <a:off x="609600" y="227647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WHY</a:t>
            </a:r>
          </a:p>
        </p:txBody>
      </p:sp>
      <p:sp>
        <p:nvSpPr>
          <p:cNvPr id="8" name="OEMs with funded programmes to qualify. France leads on">
            <a:extLst>
              <a:ext uri="{FF2B5EF4-FFF2-40B4-BE49-F238E27FC236}">
                <a16:creationId xmlns:a16="http://schemas.microsoft.com/office/drawing/2014/main" id="{91439D93-262A-4601-87BA-97203F8F671C}"/>
              </a:ext>
            </a:extLst>
          </p:cNvPr>
          <p:cNvSpPr>
            <a:spLocks noGrp="1"/>
          </p:cNvSpPr>
          <p:nvPr/>
        </p:nvSpPr>
        <p:spPr>
          <a:xfrm>
            <a:off x="2381250" y="2228850"/>
            <a:ext cx="6153150" cy="438150"/>
          </a:xfrm>
          <a:prstGeom prst="rect">
            <a:avLst/>
          </a:prstGeom>
          <a:noFill/>
          <a:ln w="0">
            <a:noFill/>
          </a:ln>
        </p:spPr>
        <p:txBody>
          <a:bodyPr lIns="0" tIns="0" rIns="0" bIns="0" anchor="t">
            <a:noAutofit/>
          </a:bodyPr>
          <a:lstStyle/>
          <a:p>
            <a:pPr>
              <a:defRPr sz="1425" b="0">
                <a:solidFill>
                  <a:srgbClr val="202124"/>
                </a:solidFill>
                <a:latin typeface="Arial"/>
                <a:ea typeface="Arial"/>
                <a:cs typeface="Arial"/>
              </a:defRPr>
            </a:pPr>
            <a:r>
              <a:rPr sz="1425" b="0">
                <a:solidFill>
                  <a:srgbClr val="202124"/>
                </a:solidFill>
                <a:latin typeface="Arial"/>
                <a:ea typeface="Arial"/>
                <a:cs typeface="Arial"/>
              </a:rPr>
              <a:t>OEMs with funded programmes to qualify. France leads on</a:t>
            </a:r>
          </a:p>
          <a:p>
            <a:pPr>
              <a:defRPr sz="1425" b="0">
                <a:solidFill>
                  <a:srgbClr val="202124"/>
                </a:solidFill>
                <a:latin typeface="Arial"/>
                <a:ea typeface="Arial"/>
                <a:cs typeface="Arial"/>
              </a:defRPr>
            </a:pPr>
            <a:r>
              <a:rPr sz="1425" b="0">
                <a:solidFill>
                  <a:srgbClr val="202124"/>
                </a:solidFill>
                <a:latin typeface="Arial"/>
                <a:ea typeface="Arial"/>
                <a:cs typeface="Arial"/>
              </a:rPr>
              <a:t>timing; my languages help only in Spain and Portugal.</a:t>
            </a:r>
          </a:p>
        </p:txBody>
      </p:sp>
      <p:sp>
        <p:nvSpPr>
          <p:cNvPr id="9" name="Straight Connector 8">
            <a:extLst>
              <a:ext uri="{FF2B5EF4-FFF2-40B4-BE49-F238E27FC236}">
                <a16:creationId xmlns:a16="http://schemas.microsoft.com/office/drawing/2014/main" id="{84E0856D-9762-4D4B-809D-A9D1DD5F3560}"/>
              </a:ext>
            </a:extLst>
          </p:cNvPr>
          <p:cNvSpPr>
            <a:spLocks noGrp="1"/>
          </p:cNvSpPr>
          <p:nvPr/>
        </p:nvSpPr>
        <p:spPr>
          <a:xfrm>
            <a:off x="609600" y="2800350"/>
            <a:ext cx="7924800" cy="0"/>
          </a:xfrm>
          <a:prstGeom prst="line">
            <a:avLst/>
          </a:prstGeom>
          <a:noFill/>
          <a:ln w="9525">
            <a:solidFill>
              <a:srgbClr val="DADCE0"/>
            </a:solidFill>
          </a:ln>
        </p:spPr>
        <p:txBody>
          <a:bodyPr/>
          <a:lstStyle/>
          <a:p>
            <a:endParaRPr lang="en-US"/>
          </a:p>
        </p:txBody>
      </p:sp>
      <p:sp>
        <p:nvSpPr>
          <p:cNvPr id="10" name="EXCEPTIONS">
            <a:extLst>
              <a:ext uri="{FF2B5EF4-FFF2-40B4-BE49-F238E27FC236}">
                <a16:creationId xmlns:a16="http://schemas.microsoft.com/office/drawing/2014/main" id="{2B639DC5-0001-4044-946A-39B116EC8733}"/>
              </a:ext>
            </a:extLst>
          </p:cNvPr>
          <p:cNvSpPr>
            <a:spLocks noGrp="1"/>
          </p:cNvSpPr>
          <p:nvPr/>
        </p:nvSpPr>
        <p:spPr>
          <a:xfrm>
            <a:off x="609600" y="2981325"/>
            <a:ext cx="1619250" cy="152400"/>
          </a:xfrm>
          <a:prstGeom prst="rect">
            <a:avLst/>
          </a:prstGeom>
          <a:noFill/>
          <a:ln w="0">
            <a:noFill/>
          </a:ln>
        </p:spPr>
        <p:txBody>
          <a:bodyPr lIns="0" tIns="0" rIns="0" bIns="0" anchor="t">
            <a:noAutofit/>
          </a:bodyPr>
          <a:lstStyle/>
          <a:p>
            <a:pPr>
              <a:defRPr sz="900" b="1">
                <a:solidFill>
                  <a:srgbClr val="62666A"/>
                </a:solidFill>
                <a:latin typeface="Arial"/>
                <a:ea typeface="Arial"/>
                <a:cs typeface="Arial"/>
              </a:defRPr>
            </a:pPr>
            <a:r>
              <a:rPr sz="900" b="1">
                <a:solidFill>
                  <a:srgbClr val="62666A"/>
                </a:solidFill>
                <a:latin typeface="Arial"/>
                <a:ea typeface="Arial"/>
                <a:cs typeface="Arial"/>
              </a:rPr>
              <a:t>ACROSS EUROPE</a:t>
            </a:r>
          </a:p>
        </p:txBody>
      </p:sp>
      <p:sp>
        <p:nvSpPr>
          <p:cNvPr id="11" name="Named accounts elsewhere only where I add access&#10;or con">
            <a:extLst>
              <a:ext uri="{FF2B5EF4-FFF2-40B4-BE49-F238E27FC236}">
                <a16:creationId xmlns:a16="http://schemas.microsoft.com/office/drawing/2014/main" id="{897F8DC6-A27C-453B-951A-A120734D7CCC}"/>
              </a:ext>
            </a:extLst>
          </p:cNvPr>
          <p:cNvSpPr>
            <a:spLocks noGrp="1"/>
          </p:cNvSpPr>
          <p:nvPr/>
        </p:nvSpPr>
        <p:spPr>
          <a:xfrm>
            <a:off x="2381250" y="2933700"/>
            <a:ext cx="6153150" cy="438150"/>
          </a:xfrm>
          <a:prstGeom prst="rect">
            <a:avLst/>
          </a:prstGeom>
          <a:noFill/>
          <a:ln w="0">
            <a:noFill/>
          </a:ln>
        </p:spPr>
        <p:txBody>
          <a:bodyPr lIns="0" tIns="0" rIns="0" bIns="0" anchor="t">
            <a:noAutofit/>
          </a:bodyPr>
          <a:lstStyle/>
          <a:p>
            <a:pPr>
              <a:defRPr sz="1425" b="0">
                <a:solidFill>
                  <a:srgbClr val="202124"/>
                </a:solidFill>
                <a:latin typeface="Arial"/>
                <a:ea typeface="Arial"/>
                <a:cs typeface="Arial"/>
              </a:defRPr>
            </a:pPr>
            <a:r>
              <a:rPr sz="1425" b="0">
                <a:solidFill>
                  <a:srgbClr val="202124"/>
                </a:solidFill>
                <a:latin typeface="Arial"/>
                <a:ea typeface="Arial"/>
                <a:cs typeface="Arial"/>
              </a:rPr>
              <a:t>Priority drone OEM accounts anywhere, where I add access.</a:t>
            </a:r>
          </a:p>
          <a:p>
            <a:pPr>
              <a:defRPr sz="1425" b="0">
                <a:solidFill>
                  <a:srgbClr val="202124"/>
                </a:solidFill>
                <a:latin typeface="Arial"/>
                <a:ea typeface="Arial"/>
                <a:cs typeface="Arial"/>
              </a:defRPr>
            </a:pPr>
            <a:r>
              <a:rPr sz="1425" b="0">
                <a:solidFill>
                  <a:srgbClr val="202124"/>
                </a:solidFill>
                <a:latin typeface="Arial"/>
                <a:ea typeface="Arial"/>
                <a:cs typeface="Arial"/>
              </a:rPr>
              <a:t>Germany as Andy decides, one owner per customer.</a:t>
            </a:r>
          </a:p>
        </p:txBody>
      </p:sp>
      <p:sp>
        <p:nvSpPr>
          <p:cNvPr id="12" name="Straight Connector 11">
            <a:extLst>
              <a:ext uri="{FF2B5EF4-FFF2-40B4-BE49-F238E27FC236}">
                <a16:creationId xmlns:a16="http://schemas.microsoft.com/office/drawing/2014/main" id="{8DF0F6FD-1853-4C46-A962-54AF965D1CBD}"/>
              </a:ext>
            </a:extLst>
          </p:cNvPr>
          <p:cNvSpPr>
            <a:spLocks noGrp="1"/>
          </p:cNvSpPr>
          <p:nvPr/>
        </p:nvSpPr>
        <p:spPr>
          <a:xfrm>
            <a:off x="609600" y="3505200"/>
            <a:ext cx="7924800" cy="0"/>
          </a:xfrm>
          <a:prstGeom prst="line">
            <a:avLst/>
          </a:prstGeom>
          <a:noFill/>
          <a:ln w="9525">
            <a:solidFill>
              <a:srgbClr val="DADCE0"/>
            </a:solidFill>
          </a:ln>
        </p:spPr>
        <p:txBody>
          <a:bodyPr/>
          <a:lstStyle/>
          <a:p>
            <a:endParaRPr lang="en-US"/>
          </a:p>
        </p:txBody>
      </p:sp>
      <p:sp>
        <p:nvSpPr>
          <p:cNvPr id="13" name="RULE">
            <a:extLst>
              <a:ext uri="{FF2B5EF4-FFF2-40B4-BE49-F238E27FC236}">
                <a16:creationId xmlns:a16="http://schemas.microsoft.com/office/drawing/2014/main" id="{BB9A1971-E607-4925-B16D-23C1053B5930}"/>
              </a:ext>
            </a:extLst>
          </p:cNvPr>
          <p:cNvSpPr>
            <a:spLocks noGrp="1"/>
          </p:cNvSpPr>
          <p:nvPr/>
        </p:nvSpPr>
        <p:spPr>
          <a:xfrm>
            <a:off x="609600" y="3686175"/>
            <a:ext cx="1619250" cy="152400"/>
          </a:xfrm>
          <a:prstGeom prst="rect">
            <a:avLst/>
          </a:prstGeom>
          <a:noFill/>
          <a:ln w="0">
            <a:noFill/>
          </a:ln>
        </p:spPr>
        <p:txBody>
          <a:bodyPr lIns="0" tIns="0" rIns="0" bIns="0" anchor="t">
            <a:noAutofit/>
          </a:bodyPr>
          <a:lstStyle/>
          <a:p>
            <a:pPr>
              <a:defRPr sz="900" b="1">
                <a:solidFill>
                  <a:srgbClr val="C62828"/>
                </a:solidFill>
                <a:latin typeface="Arial"/>
                <a:ea typeface="Arial"/>
                <a:cs typeface="Arial"/>
              </a:defRPr>
            </a:pPr>
            <a:r>
              <a:rPr sz="900" b="1">
                <a:solidFill>
                  <a:srgbClr val="C62828"/>
                </a:solidFill>
                <a:latin typeface="Arial"/>
                <a:ea typeface="Arial"/>
                <a:cs typeface="Arial"/>
              </a:rPr>
              <a:t>RULE</a:t>
            </a:r>
          </a:p>
        </p:txBody>
      </p:sp>
      <p:sp>
        <p:nvSpPr>
          <p:cNvPr id="14" name="One agreed owner per customer. Ownership and credit&#10;set">
            <a:extLst>
              <a:ext uri="{FF2B5EF4-FFF2-40B4-BE49-F238E27FC236}">
                <a16:creationId xmlns:a16="http://schemas.microsoft.com/office/drawing/2014/main" id="{3D42C9E8-6699-4B62-8281-F5CF331BED36}"/>
              </a:ext>
            </a:extLst>
          </p:cNvPr>
          <p:cNvSpPr>
            <a:spLocks noGrp="1"/>
          </p:cNvSpPr>
          <p:nvPr/>
        </p:nvSpPr>
        <p:spPr>
          <a:xfrm>
            <a:off x="2381250" y="3638550"/>
            <a:ext cx="6153150" cy="438150"/>
          </a:xfrm>
          <a:prstGeom prst="rect">
            <a:avLst/>
          </a:prstGeom>
          <a:noFill/>
          <a:ln w="0">
            <a:noFill/>
          </a:ln>
        </p:spPr>
        <p:txBody>
          <a:bodyPr lIns="0" tIns="0" rIns="0" bIns="0" anchor="t">
            <a:noAutofit/>
          </a:bodyPr>
          <a:lstStyle/>
          <a:p>
            <a:pPr>
              <a:defRPr sz="1425" b="1">
                <a:solidFill>
                  <a:srgbClr val="202124"/>
                </a:solidFill>
                <a:latin typeface="Arial"/>
                <a:ea typeface="Arial"/>
                <a:cs typeface="Arial"/>
              </a:defRPr>
            </a:pPr>
            <a:r>
              <a:rPr sz="1425" b="1">
                <a:solidFill>
                  <a:srgbClr val="202124"/>
                </a:solidFill>
                <a:latin typeface="Arial"/>
                <a:ea typeface="Arial"/>
                <a:cs typeface="Arial"/>
              </a:rPr>
              <a:t>One agreed owner per customer. Ownership and credit</a:t>
            </a:r>
          </a:p>
          <a:p>
            <a:pPr>
              <a:defRPr sz="1425" b="1">
                <a:solidFill>
                  <a:srgbClr val="202124"/>
                </a:solidFill>
                <a:latin typeface="Arial"/>
                <a:ea typeface="Arial"/>
                <a:cs typeface="Arial"/>
              </a:defRPr>
            </a:pPr>
            <a:r>
              <a:rPr sz="1425" b="1">
                <a:solidFill>
                  <a:srgbClr val="202124"/>
                </a:solidFill>
                <a:latin typeface="Arial"/>
                <a:ea typeface="Arial"/>
                <a:cs typeface="Arial"/>
              </a:rPr>
              <a:t>settled before I engage.</a:t>
            </a:r>
          </a:p>
        </p:txBody>
      </p:sp>
      <p:sp>
        <p:nvSpPr>
          <p:cNvPr id="15" name="source-footnote">
            <a:extLst>
              <a:ext uri="{FF2B5EF4-FFF2-40B4-BE49-F238E27FC236}">
                <a16:creationId xmlns:a16="http://schemas.microsoft.com/office/drawing/2014/main" id="{9D60D64E-7C8E-4DEB-B15F-0278BFF3F6DE}"/>
              </a:ext>
            </a:extLst>
          </p:cNvPr>
          <p:cNvSpPr>
            <a:spLocks noGrp="1"/>
          </p:cNvSpPr>
          <p:nvPr/>
        </p:nvSpPr>
        <p:spPr>
          <a:xfrm>
            <a:off x="609600" y="4762500"/>
            <a:ext cx="79248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A proposal, not a condition: confirmed against the inherited book, year-one target and Sales Engineering support.</a:t>
            </a:r>
          </a:p>
        </p:txBody>
      </p:sp>
    </p:spTree>
    <p:extLst>
      <p:ext uri="{BB962C8B-B14F-4D97-AF65-F5344CB8AC3E}">
        <p14:creationId xmlns:p14="http://schemas.microsoft.com/office/powerpoint/2010/main" val="137883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ection-label">
            <a:extLst>
              <a:ext uri="{FF2B5EF4-FFF2-40B4-BE49-F238E27FC236}">
                <a16:creationId xmlns:a16="http://schemas.microsoft.com/office/drawing/2014/main" id="{7D6E3380-3634-46CF-B756-7EC97C22C69A}"/>
              </a:ext>
            </a:extLst>
          </p:cNvPr>
          <p:cNvSpPr>
            <a:spLocks noGrp="1"/>
          </p:cNvSpPr>
          <p:nvPr/>
        </p:nvSpPr>
        <p:spPr>
          <a:xfrm>
            <a:off x="609600" y="304800"/>
            <a:ext cx="619125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Discussion</a:t>
            </a:r>
          </a:p>
        </p:txBody>
      </p:sp>
      <p:sp>
        <p:nvSpPr>
          <p:cNvPr id="2" name="page-number">
            <a:extLst>
              <a:ext uri="{FF2B5EF4-FFF2-40B4-BE49-F238E27FC236}">
                <a16:creationId xmlns:a16="http://schemas.microsoft.com/office/drawing/2014/main" id="{5552CB3D-D42D-4512-8F84-389BD62259B6}"/>
              </a:ext>
            </a:extLst>
          </p:cNvPr>
          <p:cNvSpPr>
            <a:spLocks noGrp="1"/>
          </p:cNvSpPr>
          <p:nvPr/>
        </p:nvSpPr>
        <p:spPr>
          <a:xfrm>
            <a:off x="8305800" y="304800"/>
            <a:ext cx="228600" cy="152400"/>
          </a:xfrm>
          <a:prstGeom prst="rect">
            <a:avLst/>
          </a:prstGeom>
          <a:noFill/>
          <a:ln w="0">
            <a:noFill/>
          </a:ln>
        </p:spPr>
        <p:txBody>
          <a:bodyPr lIns="0" tIns="0" rIns="0" bIns="0" anchor="t">
            <a:noAutofit/>
          </a:bodyPr>
          <a:lstStyle/>
          <a:p>
            <a:pPr>
              <a:defRPr sz="900" b="0">
                <a:solidFill>
                  <a:srgbClr val="62666A"/>
                </a:solidFill>
                <a:latin typeface="Arial"/>
                <a:ea typeface="Arial"/>
                <a:cs typeface="Arial"/>
              </a:defRPr>
            </a:pPr>
            <a:r>
              <a:rPr sz="900" b="0">
                <a:solidFill>
                  <a:srgbClr val="62666A"/>
                </a:solidFill>
                <a:latin typeface="Arial"/>
                <a:ea typeface="Arial"/>
                <a:cs typeface="Arial"/>
              </a:rPr>
              <a:t>13</a:t>
            </a:r>
          </a:p>
        </p:txBody>
      </p:sp>
      <p:sp>
        <p:nvSpPr>
          <p:cNvPr id="3" name="slide-title">
            <a:extLst>
              <a:ext uri="{FF2B5EF4-FFF2-40B4-BE49-F238E27FC236}">
                <a16:creationId xmlns:a16="http://schemas.microsoft.com/office/drawing/2014/main" id="{645A3A64-9600-4303-BB7C-57AACFBB323D}"/>
              </a:ext>
            </a:extLst>
          </p:cNvPr>
          <p:cNvSpPr>
            <a:spLocks noGrp="1"/>
          </p:cNvSpPr>
          <p:nvPr/>
        </p:nvSpPr>
        <p:spPr>
          <a:xfrm>
            <a:off x="609600" y="666750"/>
            <a:ext cx="7924800" cy="742950"/>
          </a:xfrm>
          <a:prstGeom prst="rect">
            <a:avLst/>
          </a:prstGeom>
          <a:noFill/>
          <a:ln w="0">
            <a:noFill/>
          </a:ln>
        </p:spPr>
        <p:txBody>
          <a:bodyPr lIns="0" tIns="0" rIns="0" bIns="0" anchor="t">
            <a:noAutofit/>
          </a:bodyPr>
          <a:lstStyle/>
          <a:p>
            <a:pPr>
              <a:defRPr sz="2325" b="1">
                <a:solidFill>
                  <a:srgbClr val="202124"/>
                </a:solidFill>
                <a:latin typeface="Arial"/>
                <a:ea typeface="Arial"/>
                <a:cs typeface="Arial"/>
              </a:defRPr>
            </a:pPr>
            <a:r>
              <a:rPr sz="2325" b="1">
                <a:solidFill>
                  <a:srgbClr val="202124"/>
                </a:solidFill>
                <a:latin typeface="Arial"/>
                <a:ea typeface="Arial"/>
                <a:cs typeface="Arial"/>
              </a:rPr>
              <a:t>What you could hold me to across several markets</a:t>
            </a:r>
          </a:p>
        </p:txBody>
      </p:sp>
      <p:sp>
        <p:nvSpPr>
          <p:cNvPr id="4" name="Day 30">
            <a:extLst>
              <a:ext uri="{FF2B5EF4-FFF2-40B4-BE49-F238E27FC236}">
                <a16:creationId xmlns:a16="http://schemas.microsoft.com/office/drawing/2014/main" id="{F59F1D70-C039-4858-A849-0C90296AA875}"/>
              </a:ext>
            </a:extLst>
          </p:cNvPr>
          <p:cNvSpPr>
            <a:spLocks noGrp="1"/>
          </p:cNvSpPr>
          <p:nvPr/>
        </p:nvSpPr>
        <p:spPr>
          <a:xfrm>
            <a:off x="609600" y="16002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30</a:t>
            </a:r>
          </a:p>
        </p:txBody>
      </p:sp>
      <p:sp>
        <p:nvSpPr>
          <p:cNvPr id="5" name="Every priority has an owner, a customer action and a da">
            <a:extLst>
              <a:ext uri="{FF2B5EF4-FFF2-40B4-BE49-F238E27FC236}">
                <a16:creationId xmlns:a16="http://schemas.microsoft.com/office/drawing/2014/main" id="{283CCE52-7B71-43B6-8FCD-F5B80488CEAA}"/>
              </a:ext>
            </a:extLst>
          </p:cNvPr>
          <p:cNvSpPr>
            <a:spLocks noGrp="1"/>
          </p:cNvSpPr>
          <p:nvPr/>
        </p:nvSpPr>
        <p:spPr>
          <a:xfrm>
            <a:off x="2381250" y="1581150"/>
            <a:ext cx="6153150" cy="2286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Every priority has an owner, a customer action and a date.</a:t>
            </a:r>
          </a:p>
        </p:txBody>
      </p:sp>
      <p:sp>
        <p:nvSpPr>
          <p:cNvPr id="6" name="Straight Connector 5">
            <a:extLst>
              <a:ext uri="{FF2B5EF4-FFF2-40B4-BE49-F238E27FC236}">
                <a16:creationId xmlns:a16="http://schemas.microsoft.com/office/drawing/2014/main" id="{B47198ED-56E5-470F-8515-CFB8ACF53997}"/>
              </a:ext>
            </a:extLst>
          </p:cNvPr>
          <p:cNvSpPr>
            <a:spLocks noGrp="1"/>
          </p:cNvSpPr>
          <p:nvPr/>
        </p:nvSpPr>
        <p:spPr>
          <a:xfrm>
            <a:off x="609600" y="1943100"/>
            <a:ext cx="7924800" cy="0"/>
          </a:xfrm>
          <a:prstGeom prst="line">
            <a:avLst/>
          </a:prstGeom>
          <a:noFill/>
          <a:ln w="9525">
            <a:solidFill>
              <a:srgbClr val="DADCE0"/>
            </a:solidFill>
          </a:ln>
        </p:spPr>
        <p:txBody>
          <a:bodyPr/>
          <a:lstStyle/>
          <a:p>
            <a:endParaRPr lang="en-US"/>
          </a:p>
        </p:txBody>
      </p:sp>
      <p:sp>
        <p:nvSpPr>
          <p:cNvPr id="7" name="Day 60">
            <a:extLst>
              <a:ext uri="{FF2B5EF4-FFF2-40B4-BE49-F238E27FC236}">
                <a16:creationId xmlns:a16="http://schemas.microsoft.com/office/drawing/2014/main" id="{AAEB1E6B-A76F-4C0E-AF76-BC15320672F6}"/>
              </a:ext>
            </a:extLst>
          </p:cNvPr>
          <p:cNvSpPr>
            <a:spLocks noGrp="1"/>
          </p:cNvSpPr>
          <p:nvPr/>
        </p:nvSpPr>
        <p:spPr>
          <a:xfrm>
            <a:off x="609600" y="20955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60</a:t>
            </a:r>
          </a:p>
        </p:txBody>
      </p:sp>
      <p:sp>
        <p:nvSpPr>
          <p:cNvPr id="8" name="A customer commitment behind every evaluation&#10;I ask eng">
            <a:extLst>
              <a:ext uri="{FF2B5EF4-FFF2-40B4-BE49-F238E27FC236}">
                <a16:creationId xmlns:a16="http://schemas.microsoft.com/office/drawing/2014/main" id="{848F45D4-876A-4997-B1E1-67AD3405093D}"/>
              </a:ext>
            </a:extLst>
          </p:cNvPr>
          <p:cNvSpPr>
            <a:spLocks noGrp="1"/>
          </p:cNvSpPr>
          <p:nvPr/>
        </p:nvSpPr>
        <p:spPr>
          <a:xfrm>
            <a:off x="2381250" y="2076450"/>
            <a:ext cx="6153150" cy="4572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A customer commitment behind every evaluation</a:t>
            </a:r>
          </a:p>
          <a:p>
            <a:pPr>
              <a:defRPr sz="1500" b="0">
                <a:solidFill>
                  <a:srgbClr val="202124"/>
                </a:solidFill>
                <a:latin typeface="Arial"/>
                <a:ea typeface="Arial"/>
                <a:cs typeface="Arial"/>
              </a:defRPr>
            </a:pPr>
            <a:r>
              <a:rPr sz="1500" b="0">
                <a:solidFill>
                  <a:srgbClr val="202124"/>
                </a:solidFill>
                <a:latin typeface="Arial"/>
                <a:ea typeface="Arial"/>
                <a:cs typeface="Arial"/>
              </a:rPr>
              <a:t>I ask engineering to support.</a:t>
            </a:r>
          </a:p>
        </p:txBody>
      </p:sp>
      <p:sp>
        <p:nvSpPr>
          <p:cNvPr id="9" name="Straight Connector 8">
            <a:extLst>
              <a:ext uri="{FF2B5EF4-FFF2-40B4-BE49-F238E27FC236}">
                <a16:creationId xmlns:a16="http://schemas.microsoft.com/office/drawing/2014/main" id="{474AB4ED-38A0-438F-920A-ED8D905E9A97}"/>
              </a:ext>
            </a:extLst>
          </p:cNvPr>
          <p:cNvSpPr>
            <a:spLocks noGrp="1"/>
          </p:cNvSpPr>
          <p:nvPr/>
        </p:nvSpPr>
        <p:spPr>
          <a:xfrm>
            <a:off x="609600" y="2667000"/>
            <a:ext cx="7924800" cy="0"/>
          </a:xfrm>
          <a:prstGeom prst="line">
            <a:avLst/>
          </a:prstGeom>
          <a:noFill/>
          <a:ln w="9525">
            <a:solidFill>
              <a:srgbClr val="DADCE0"/>
            </a:solidFill>
          </a:ln>
        </p:spPr>
        <p:txBody>
          <a:bodyPr/>
          <a:lstStyle/>
          <a:p>
            <a:endParaRPr lang="en-US"/>
          </a:p>
        </p:txBody>
      </p:sp>
      <p:sp>
        <p:nvSpPr>
          <p:cNvPr id="10" name="Day 90">
            <a:extLst>
              <a:ext uri="{FF2B5EF4-FFF2-40B4-BE49-F238E27FC236}">
                <a16:creationId xmlns:a16="http://schemas.microsoft.com/office/drawing/2014/main" id="{830FA64F-C066-4A75-8146-31C31DD67F5E}"/>
              </a:ext>
            </a:extLst>
          </p:cNvPr>
          <p:cNvSpPr>
            <a:spLocks noGrp="1"/>
          </p:cNvSpPr>
          <p:nvPr/>
        </p:nvSpPr>
        <p:spPr>
          <a:xfrm>
            <a:off x="609600" y="28194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Day 90</a:t>
            </a:r>
          </a:p>
        </p:txBody>
      </p:sp>
      <p:sp>
        <p:nvSpPr>
          <p:cNvPr id="11" name="Any forecast line traced to its customer evidence;&#10;stop">
            <a:extLst>
              <a:ext uri="{FF2B5EF4-FFF2-40B4-BE49-F238E27FC236}">
                <a16:creationId xmlns:a16="http://schemas.microsoft.com/office/drawing/2014/main" id="{B0FA59CF-E1F5-448E-AE24-7A9F245F84C6}"/>
              </a:ext>
            </a:extLst>
          </p:cNvPr>
          <p:cNvSpPr>
            <a:spLocks noGrp="1"/>
          </p:cNvSpPr>
          <p:nvPr/>
        </p:nvSpPr>
        <p:spPr>
          <a:xfrm>
            <a:off x="2381250" y="2800350"/>
            <a:ext cx="6153150" cy="4572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Any forecast line traced to its customer evidence;</a:t>
            </a:r>
          </a:p>
          <a:p>
            <a:pPr>
              <a:defRPr sz="1500" b="0">
                <a:solidFill>
                  <a:srgbClr val="202124"/>
                </a:solidFill>
                <a:latin typeface="Arial"/>
                <a:ea typeface="Arial"/>
                <a:cs typeface="Arial"/>
              </a:defRPr>
            </a:pPr>
            <a:r>
              <a:rPr sz="1500" b="0">
                <a:solidFill>
                  <a:srgbClr val="202124"/>
                </a:solidFill>
                <a:latin typeface="Arial"/>
                <a:ea typeface="Arial"/>
                <a:cs typeface="Arial"/>
              </a:rPr>
              <a:t>stopped deals recorded with the reason.</a:t>
            </a:r>
          </a:p>
        </p:txBody>
      </p:sp>
      <p:sp>
        <p:nvSpPr>
          <p:cNvPr id="12" name="Straight Connector 11">
            <a:extLst>
              <a:ext uri="{FF2B5EF4-FFF2-40B4-BE49-F238E27FC236}">
                <a16:creationId xmlns:a16="http://schemas.microsoft.com/office/drawing/2014/main" id="{03404783-7AEE-46A5-B564-A1BEDFB05E7A}"/>
              </a:ext>
            </a:extLst>
          </p:cNvPr>
          <p:cNvSpPr>
            <a:spLocks noGrp="1"/>
          </p:cNvSpPr>
          <p:nvPr/>
        </p:nvSpPr>
        <p:spPr>
          <a:xfrm>
            <a:off x="609600" y="3390900"/>
            <a:ext cx="7924800" cy="0"/>
          </a:xfrm>
          <a:prstGeom prst="line">
            <a:avLst/>
          </a:prstGeom>
          <a:noFill/>
          <a:ln w="9525">
            <a:solidFill>
              <a:srgbClr val="DADCE0"/>
            </a:solidFill>
          </a:ln>
        </p:spPr>
        <p:txBody>
          <a:bodyPr/>
          <a:lstStyle/>
          <a:p>
            <a:endParaRPr lang="en-US"/>
          </a:p>
        </p:txBody>
      </p:sp>
      <p:sp>
        <p:nvSpPr>
          <p:cNvPr id="13" name="Every review">
            <a:extLst>
              <a:ext uri="{FF2B5EF4-FFF2-40B4-BE49-F238E27FC236}">
                <a16:creationId xmlns:a16="http://schemas.microsoft.com/office/drawing/2014/main" id="{2B702219-A2C9-46DC-936A-6E71585CD4C6}"/>
              </a:ext>
            </a:extLst>
          </p:cNvPr>
          <p:cNvSpPr>
            <a:spLocks noGrp="1"/>
          </p:cNvSpPr>
          <p:nvPr/>
        </p:nvSpPr>
        <p:spPr>
          <a:xfrm>
            <a:off x="609600" y="3543300"/>
            <a:ext cx="1619250" cy="209550"/>
          </a:xfrm>
          <a:prstGeom prst="rect">
            <a:avLst/>
          </a:prstGeom>
          <a:noFill/>
          <a:ln w="0">
            <a:noFill/>
          </a:ln>
        </p:spPr>
        <p:txBody>
          <a:bodyPr lIns="0" tIns="0" rIns="0" bIns="0" anchor="t">
            <a:noAutofit/>
          </a:bodyPr>
          <a:lstStyle/>
          <a:p>
            <a:pPr>
              <a:defRPr sz="1275" b="1">
                <a:solidFill>
                  <a:srgbClr val="C62828"/>
                </a:solidFill>
                <a:latin typeface="Arial"/>
                <a:ea typeface="Arial"/>
                <a:cs typeface="Arial"/>
              </a:defRPr>
            </a:pPr>
            <a:r>
              <a:rPr sz="1275" b="1">
                <a:solidFill>
                  <a:srgbClr val="C62828"/>
                </a:solidFill>
                <a:latin typeface="Arial"/>
                <a:ea typeface="Arial"/>
                <a:cs typeface="Arial"/>
              </a:rPr>
              <a:t>Every review</a:t>
            </a:r>
          </a:p>
        </p:txBody>
      </p:sp>
      <p:sp>
        <p:nvSpPr>
          <p:cNvPr id="14" name="One owner and one plan for each cross-border customer.">
            <a:extLst>
              <a:ext uri="{FF2B5EF4-FFF2-40B4-BE49-F238E27FC236}">
                <a16:creationId xmlns:a16="http://schemas.microsoft.com/office/drawing/2014/main" id="{A88A9E3A-2887-4E3D-88A1-B8D955DE02F6}"/>
              </a:ext>
            </a:extLst>
          </p:cNvPr>
          <p:cNvSpPr>
            <a:spLocks noGrp="1"/>
          </p:cNvSpPr>
          <p:nvPr/>
        </p:nvSpPr>
        <p:spPr>
          <a:xfrm>
            <a:off x="2381250" y="3524250"/>
            <a:ext cx="6153150" cy="228600"/>
          </a:xfrm>
          <a:prstGeom prst="rect">
            <a:avLst/>
          </a:prstGeom>
          <a:noFill/>
          <a:ln w="0">
            <a:noFill/>
          </a:ln>
        </p:spPr>
        <p:txBody>
          <a:bodyPr lIns="0" tIns="0" rIns="0" bIns="0" anchor="t">
            <a:noAutofit/>
          </a:bodyPr>
          <a:lstStyle/>
          <a:p>
            <a:pPr>
              <a:defRPr sz="1500" b="0">
                <a:solidFill>
                  <a:srgbClr val="202124"/>
                </a:solidFill>
                <a:latin typeface="Arial"/>
                <a:ea typeface="Arial"/>
                <a:cs typeface="Arial"/>
              </a:defRPr>
            </a:pPr>
            <a:r>
              <a:rPr sz="1500" b="0">
                <a:solidFill>
                  <a:srgbClr val="202124"/>
                </a:solidFill>
                <a:latin typeface="Arial"/>
                <a:ea typeface="Arial"/>
                <a:cs typeface="Arial"/>
              </a:rPr>
              <a:t>One owner and one plan for each cross-border customer.</a:t>
            </a:r>
          </a:p>
        </p:txBody>
      </p:sp>
      <p:sp>
        <p:nvSpPr>
          <p:cNvPr id="15" name="escalate">
            <a:extLst>
              <a:ext uri="{FF2B5EF4-FFF2-40B4-BE49-F238E27FC236}">
                <a16:creationId xmlns:a16="http://schemas.microsoft.com/office/drawing/2014/main" id="{0B4E834A-89EA-4487-AAB5-1106EB319640}"/>
              </a:ext>
            </a:extLst>
          </p:cNvPr>
          <p:cNvSpPr>
            <a:spLocks noGrp="1"/>
          </p:cNvSpPr>
          <p:nvPr/>
        </p:nvSpPr>
        <p:spPr>
          <a:xfrm>
            <a:off x="609600" y="4076700"/>
            <a:ext cx="7924800" cy="209550"/>
          </a:xfrm>
          <a:prstGeom prst="rect">
            <a:avLst/>
          </a:prstGeom>
          <a:noFill/>
          <a:ln w="0">
            <a:noFill/>
          </a:ln>
        </p:spPr>
        <p:txBody>
          <a:bodyPr lIns="0" tIns="0" rIns="0" bIns="0" anchor="t">
            <a:noAutofit/>
          </a:bodyPr>
          <a:lstStyle/>
          <a:p>
            <a:pPr>
              <a:defRPr sz="1200" b="0">
                <a:solidFill>
                  <a:srgbClr val="62666A"/>
                </a:solidFill>
                <a:latin typeface="Arial"/>
                <a:ea typeface="Arial"/>
                <a:cs typeface="Arial"/>
              </a:defRPr>
            </a:pPr>
            <a:r>
              <a:rPr sz="1200" b="0">
                <a:solidFill>
                  <a:srgbClr val="62666A"/>
                </a:solidFill>
                <a:latin typeface="Arial"/>
                <a:ea typeface="Arial"/>
                <a:cs typeface="Arial"/>
              </a:rPr>
              <a:t>I escalate early, with a recommendation: terms, engineering capacity, partner agreements, ownership.</a:t>
            </a:r>
          </a:p>
        </p:txBody>
      </p:sp>
      <p:sp>
        <p:nvSpPr>
          <p:cNvPr id="16" name="closing-question">
            <a:extLst>
              <a:ext uri="{FF2B5EF4-FFF2-40B4-BE49-F238E27FC236}">
                <a16:creationId xmlns:a16="http://schemas.microsoft.com/office/drawing/2014/main" id="{88522595-7286-4535-A6B5-BEA37F512742}"/>
              </a:ext>
            </a:extLst>
          </p:cNvPr>
          <p:cNvSpPr>
            <a:spLocks noGrp="1"/>
          </p:cNvSpPr>
          <p:nvPr/>
        </p:nvSpPr>
        <p:spPr>
          <a:xfrm>
            <a:off x="609600" y="4457700"/>
            <a:ext cx="7924800" cy="285750"/>
          </a:xfrm>
          <a:prstGeom prst="rect">
            <a:avLst/>
          </a:prstGeom>
          <a:noFill/>
          <a:ln w="0">
            <a:noFill/>
          </a:ln>
        </p:spPr>
        <p:txBody>
          <a:bodyPr lIns="0" tIns="0" rIns="0" bIns="0" anchor="t">
            <a:noAutofit/>
          </a:bodyPr>
          <a:lstStyle/>
          <a:p>
            <a:pPr>
              <a:defRPr sz="1725" b="1">
                <a:solidFill>
                  <a:srgbClr val="C62828"/>
                </a:solidFill>
                <a:latin typeface="Arial"/>
                <a:ea typeface="Arial"/>
                <a:cs typeface="Arial"/>
              </a:defRPr>
            </a:pPr>
            <a:r>
              <a:rPr sz="1725" b="1">
                <a:solidFill>
                  <a:srgbClr val="C62828"/>
                </a:solidFill>
                <a:latin typeface="Arial"/>
                <a:ea typeface="Arial"/>
                <a:cs typeface="Arial"/>
              </a:rPr>
              <a:t>What would you need to see at day 90 to know this is working?</a:t>
            </a:r>
          </a:p>
        </p:txBody>
      </p:sp>
    </p:spTree>
    <p:extLst>
      <p:ext uri="{BB962C8B-B14F-4D97-AF65-F5344CB8AC3E}">
        <p14:creationId xmlns:p14="http://schemas.microsoft.com/office/powerpoint/2010/main" val="678376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6639</Words>
  <Application>Microsoft Office PowerPoint</Application>
  <DocSecurity>0</DocSecurity>
  <PresentationFormat>On-screen Show (16:9)</PresentationFormat>
  <Paragraphs>467</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SERGIO EDUARDO BENAVIDEZ VERA</cp:lastModifiedBy>
  <cp:revision>1</cp:revision>
  <dcterms:created xsi:type="dcterms:W3CDTF">2026-09-28T19:59:49Z</dcterms:created>
  <dcterms:modified xsi:type="dcterms:W3CDTF">2026-09-28T22:41:08Z</dcterms:modified>
</cp:coreProperties>
</file>